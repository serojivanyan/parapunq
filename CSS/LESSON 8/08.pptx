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7" r:id="rId2"/>
    <p:sldId id="275" r:id="rId3"/>
    <p:sldId id="276" r:id="rId4"/>
    <p:sldId id="273" r:id="rId5"/>
    <p:sldId id="261" r:id="rId6"/>
    <p:sldId id="262" r:id="rId7"/>
    <p:sldId id="272" r:id="rId8"/>
    <p:sldId id="277" r:id="rId9"/>
    <p:sldId id="260" r:id="rId10"/>
    <p:sldId id="278" r:id="rId11"/>
    <p:sldId id="279" r:id="rId12"/>
    <p:sldId id="280" r:id="rId13"/>
    <p:sldId id="263" r:id="rId14"/>
    <p:sldId id="281" r:id="rId15"/>
    <p:sldId id="25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7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cssref/pr_border-left.asp" TargetMode="External"/><Relationship Id="rId13" Type="http://schemas.openxmlformats.org/officeDocument/2006/relationships/hyperlink" Target="http://www.w3schools.com/cssref/pr_border-right_color.asp" TargetMode="External"/><Relationship Id="rId18" Type="http://schemas.openxmlformats.org/officeDocument/2006/relationships/hyperlink" Target="http://www.w3schools.com/cssref/pr_border-top_color.asp" TargetMode="External"/><Relationship Id="rId3" Type="http://schemas.openxmlformats.org/officeDocument/2006/relationships/hyperlink" Target="http://www.w3schools.com/cssref/pr_border-bottom.asp" TargetMode="External"/><Relationship Id="rId21" Type="http://schemas.openxmlformats.org/officeDocument/2006/relationships/hyperlink" Target="http://www.w3schools.com/cssref/pr_border-width.asp" TargetMode="External"/><Relationship Id="rId7" Type="http://schemas.openxmlformats.org/officeDocument/2006/relationships/hyperlink" Target="http://www.w3schools.com/cssref/pr_border-color.asp" TargetMode="External"/><Relationship Id="rId12" Type="http://schemas.openxmlformats.org/officeDocument/2006/relationships/hyperlink" Target="http://www.w3schools.com/cssref/pr_border-right.asp" TargetMode="External"/><Relationship Id="rId17" Type="http://schemas.openxmlformats.org/officeDocument/2006/relationships/hyperlink" Target="http://www.w3schools.com/cssref/pr_border-top.asp" TargetMode="External"/><Relationship Id="rId2" Type="http://schemas.openxmlformats.org/officeDocument/2006/relationships/hyperlink" Target="http://www.w3schools.com/cssref/pr_border.asp" TargetMode="External"/><Relationship Id="rId16" Type="http://schemas.openxmlformats.org/officeDocument/2006/relationships/hyperlink" Target="http://www.w3schools.com/cssref/pr_border-style.asp" TargetMode="External"/><Relationship Id="rId20" Type="http://schemas.openxmlformats.org/officeDocument/2006/relationships/hyperlink" Target="http://www.w3schools.com/cssref/pr_border-top_width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cssref/pr_border-bottom_width.asp" TargetMode="External"/><Relationship Id="rId11" Type="http://schemas.openxmlformats.org/officeDocument/2006/relationships/hyperlink" Target="http://www.w3schools.com/cssref/pr_border-left_width.asp" TargetMode="External"/><Relationship Id="rId5" Type="http://schemas.openxmlformats.org/officeDocument/2006/relationships/hyperlink" Target="http://www.w3schools.com/cssref/pr_border-bottom_style.asp" TargetMode="External"/><Relationship Id="rId15" Type="http://schemas.openxmlformats.org/officeDocument/2006/relationships/hyperlink" Target="http://www.w3schools.com/cssref/pr_border-right_width.asp" TargetMode="External"/><Relationship Id="rId10" Type="http://schemas.openxmlformats.org/officeDocument/2006/relationships/hyperlink" Target="http://www.w3schools.com/cssref/pr_border-left_style.asp" TargetMode="External"/><Relationship Id="rId19" Type="http://schemas.openxmlformats.org/officeDocument/2006/relationships/hyperlink" Target="http://www.w3schools.com/cssref/pr_border-top_style.asp" TargetMode="External"/><Relationship Id="rId4" Type="http://schemas.openxmlformats.org/officeDocument/2006/relationships/hyperlink" Target="http://www.w3schools.com/cssref/pr_border-bottom_color.asp" TargetMode="External"/><Relationship Id="rId9" Type="http://schemas.openxmlformats.org/officeDocument/2006/relationships/hyperlink" Target="http://www.w3schools.com/cssref/pr_border-left_color.asp" TargetMode="External"/><Relationship Id="rId14" Type="http://schemas.openxmlformats.org/officeDocument/2006/relationships/hyperlink" Target="http://www.w3schools.com/cssref/pr_border-right_style.as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8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Margin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899592" y="1268760"/>
            <a:ext cx="7344816" cy="92333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margin clears an area around an element (outside the border). The margin does not have a background color, and is completely transparent.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Araik\Desktop\CSSBoxModelGrayYel425x28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636912"/>
            <a:ext cx="5112568" cy="3368280"/>
          </a:xfrm>
          <a:prstGeom prst="rect">
            <a:avLst/>
          </a:prstGeom>
          <a:noFill/>
          <a:effectLst>
            <a:glow rad="101600">
              <a:srgbClr val="00206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Margin</a:t>
            </a:r>
            <a:endParaRPr lang="en-US" sz="4800" dirty="0" smtClean="0"/>
          </a:p>
        </p:txBody>
      </p:sp>
      <p:pic>
        <p:nvPicPr>
          <p:cNvPr id="205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84784"/>
            <a:ext cx="2447925" cy="154305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2051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3861048"/>
            <a:ext cx="7107238" cy="2057400"/>
          </a:xfrm>
          <a:prstGeom prst="rect">
            <a:avLst/>
          </a:prstGeom>
          <a:noFill/>
          <a:effectLst>
            <a:glow rad="101600">
              <a:srgbClr val="92D050">
                <a:alpha val="60000"/>
              </a:srgbClr>
            </a:glow>
          </a:effectLst>
        </p:spPr>
      </p:pic>
      <p:sp>
        <p:nvSpPr>
          <p:cNvPr id="19" name="TextBox 18"/>
          <p:cNvSpPr txBox="1"/>
          <p:nvPr/>
        </p:nvSpPr>
        <p:spPr>
          <a:xfrm>
            <a:off x="539552" y="328498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552" y="10527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Margin</a:t>
            </a:r>
            <a:endParaRPr lang="en-US" sz="4800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2987824" y="1628800"/>
            <a:ext cx="4176464" cy="5078313"/>
          </a:xfrm>
          <a:prstGeom prst="rect">
            <a:avLst/>
          </a:prstGeom>
          <a:effectLst>
            <a:glow rad="101600">
              <a:srgbClr val="00B050">
                <a:alpha val="6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margin:25px 50px 75px 100px;</a:t>
            </a:r>
          </a:p>
          <a:p>
            <a:pPr lvl="1"/>
            <a:r>
              <a:rPr lang="en-US" b="1" dirty="0" smtClean="0"/>
              <a:t>top margin is 25px</a:t>
            </a:r>
          </a:p>
          <a:p>
            <a:pPr lvl="1"/>
            <a:r>
              <a:rPr lang="en-US" b="1" dirty="0" smtClean="0"/>
              <a:t>right margin is 50px</a:t>
            </a:r>
          </a:p>
          <a:p>
            <a:pPr lvl="1"/>
            <a:r>
              <a:rPr lang="en-US" b="1" dirty="0" smtClean="0"/>
              <a:t>bottom margin is 75px</a:t>
            </a:r>
          </a:p>
          <a:p>
            <a:pPr lvl="1"/>
            <a:r>
              <a:rPr lang="en-US" b="1" dirty="0" smtClean="0"/>
              <a:t>left margin is 100px</a:t>
            </a:r>
            <a:endParaRPr lang="hy-AM" b="1" dirty="0" smtClean="0"/>
          </a:p>
          <a:p>
            <a:pPr lvl="1"/>
            <a:endParaRPr lang="en-US" b="1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margin:25px 50px 75px;</a:t>
            </a:r>
          </a:p>
          <a:p>
            <a:pPr lvl="1"/>
            <a:r>
              <a:rPr lang="en-US" b="1" dirty="0" smtClean="0"/>
              <a:t>top margin is 25px</a:t>
            </a:r>
          </a:p>
          <a:p>
            <a:pPr lvl="1"/>
            <a:r>
              <a:rPr lang="en-US" b="1" dirty="0" smtClean="0"/>
              <a:t>right and left margins are 50px</a:t>
            </a:r>
          </a:p>
          <a:p>
            <a:pPr lvl="1"/>
            <a:r>
              <a:rPr lang="en-US" b="1" dirty="0" smtClean="0"/>
              <a:t>bottom margin is 75px</a:t>
            </a:r>
            <a:endParaRPr lang="hy-AM" b="1" dirty="0" smtClean="0"/>
          </a:p>
          <a:p>
            <a:pPr lvl="1"/>
            <a:endParaRPr lang="en-US" b="1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margin:25px 50px;</a:t>
            </a:r>
          </a:p>
          <a:p>
            <a:pPr lvl="1"/>
            <a:r>
              <a:rPr lang="en-US" b="1" dirty="0" smtClean="0"/>
              <a:t>top and bottom margins are 25px</a:t>
            </a:r>
          </a:p>
          <a:p>
            <a:pPr lvl="1"/>
            <a:r>
              <a:rPr lang="en-US" b="1" dirty="0" smtClean="0">
                <a:solidFill>
                  <a:schemeClr val="tx1"/>
                </a:solidFill>
              </a:rPr>
              <a:t>right and left margins are 50px</a:t>
            </a:r>
          </a:p>
          <a:p>
            <a:endParaRPr lang="en-US" b="1" dirty="0" smtClean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margin:25px;</a:t>
            </a:r>
          </a:p>
          <a:p>
            <a:pPr lvl="1"/>
            <a:r>
              <a:rPr lang="en-US" b="1" dirty="0" smtClean="0"/>
              <a:t>all four margins are 25px</a:t>
            </a:r>
            <a:endParaRPr lang="en-US" b="1" dirty="0"/>
          </a:p>
        </p:txBody>
      </p:sp>
      <p:sp>
        <p:nvSpPr>
          <p:cNvPr id="24" name="Rectangle 23"/>
          <p:cNvSpPr/>
          <p:nvPr/>
        </p:nvSpPr>
        <p:spPr>
          <a:xfrm>
            <a:off x="683568" y="1196752"/>
            <a:ext cx="2560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shorthand property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pic>
        <p:nvPicPr>
          <p:cNvPr id="307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132856"/>
            <a:ext cx="6926263" cy="3419475"/>
          </a:xfrm>
          <a:prstGeom prst="rect">
            <a:avLst/>
          </a:prstGeom>
          <a:noFill/>
        </p:spPr>
      </p:pic>
      <p:sp>
        <p:nvSpPr>
          <p:cNvPr id="18" name="Rectangle 17"/>
          <p:cNvSpPr/>
          <p:nvPr/>
        </p:nvSpPr>
        <p:spPr>
          <a:xfrm>
            <a:off x="683568" y="1196752"/>
            <a:ext cx="235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Border-style </a:t>
            </a:r>
            <a:r>
              <a:rPr lang="en-US" b="1" dirty="0" smtClean="0">
                <a:solidFill>
                  <a:schemeClr val="accent2"/>
                </a:solidFill>
              </a:rPr>
              <a:t>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07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980728"/>
            <a:ext cx="2533650" cy="92392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563888" y="1124744"/>
            <a:ext cx="3884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Border-width, Border-color </a:t>
            </a:r>
            <a:r>
              <a:rPr lang="en-US" b="1" dirty="0" smtClean="0">
                <a:solidFill>
                  <a:schemeClr val="accent2"/>
                </a:solidFill>
              </a:rPr>
              <a:t>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077072"/>
            <a:ext cx="6249988" cy="187642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pic>
        <p:nvPicPr>
          <p:cNvPr id="10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988840"/>
            <a:ext cx="2486025" cy="102870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sp>
        <p:nvSpPr>
          <p:cNvPr id="11" name="TextBox 10"/>
          <p:cNvSpPr txBox="1"/>
          <p:nvPr/>
        </p:nvSpPr>
        <p:spPr>
          <a:xfrm>
            <a:off x="467544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6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3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1988840"/>
            <a:ext cx="3629025" cy="56197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4" name="Left-Right-Up Arrow 13"/>
          <p:cNvSpPr/>
          <p:nvPr/>
        </p:nvSpPr>
        <p:spPr>
          <a:xfrm rot="3109063">
            <a:off x="3645827" y="2837132"/>
            <a:ext cx="916241" cy="836777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004048" y="3068960"/>
            <a:ext cx="3574184" cy="36933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border-width :</a:t>
            </a:r>
            <a:r>
              <a:rPr lang="en-US" b="1" dirty="0" smtClean="0">
                <a:solidFill>
                  <a:schemeClr val="accent2"/>
                </a:solidFill>
              </a:rPr>
              <a:t>thin,</a:t>
            </a:r>
            <a:r>
              <a:rPr lang="hy-AM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medium, thick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3563888" y="1124744"/>
            <a:ext cx="1483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Border-color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09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077072"/>
            <a:ext cx="6249988" cy="187642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sp>
        <p:nvSpPr>
          <p:cNvPr id="18" name="TextBox 17"/>
          <p:cNvSpPr txBox="1"/>
          <p:nvPr/>
        </p:nvSpPr>
        <p:spPr>
          <a:xfrm>
            <a:off x="467544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536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3" name="Left-Right-Up Arrow 22"/>
          <p:cNvSpPr/>
          <p:nvPr/>
        </p:nvSpPr>
        <p:spPr>
          <a:xfrm rot="3109063">
            <a:off x="3645827" y="2837132"/>
            <a:ext cx="916241" cy="836777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2" name="Picture 6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988840"/>
            <a:ext cx="2438400" cy="133350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4103" name="Picture 7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2060848"/>
            <a:ext cx="3648075" cy="60007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63688" y="1052736"/>
          <a:ext cx="7128792" cy="539071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82197"/>
                <a:gridCol w="5346595"/>
              </a:tblGrid>
              <a:tr h="111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8832" marR="8832" marT="8832" marB="8832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8832" marR="8832" marT="8832" marB="8832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hlinkClick r:id="rId2"/>
                        </a:rPr>
                        <a:t>border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all the border properties in one declaration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3"/>
                        </a:rPr>
                        <a:t>border-bottom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all the bottom border properties in one declaration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4"/>
                        </a:rPr>
                        <a:t>border-bottom-color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color of the bottom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5"/>
                        </a:rPr>
                        <a:t>border-bottom-style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the style of the bottom border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3227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6"/>
                        </a:rPr>
                        <a:t>border-bottom-width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the width of the bottom border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1356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7"/>
                        </a:rPr>
                        <a:t>border-color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color of the four borders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8"/>
                        </a:rPr>
                        <a:t>border-left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all the left border properties in one declaration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9"/>
                        </a:rPr>
                        <a:t>border-left-color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color of the left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0"/>
                        </a:rPr>
                        <a:t>border-left-style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the style of the left border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1"/>
                        </a:rPr>
                        <a:t>border-left-width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width of the left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2"/>
                        </a:rPr>
                        <a:t>border-right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all the right border properties in one declaration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3"/>
                        </a:rPr>
                        <a:t>border-right-color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color of the right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4"/>
                        </a:rPr>
                        <a:t>border-right-style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style of the right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5"/>
                        </a:rPr>
                        <a:t>border-right-width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width of the right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1356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6"/>
                        </a:rPr>
                        <a:t>border-style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style of the four borders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7"/>
                        </a:rPr>
                        <a:t>border-top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all the top border properties in one declaration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8"/>
                        </a:rPr>
                        <a:t>border-top-color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color of the top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19"/>
                        </a:rPr>
                        <a:t>border-top-style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the style of the top border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229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>
                          <a:hlinkClick r:id="rId20"/>
                        </a:rPr>
                        <a:t>border-top-width</a:t>
                      </a:r>
                      <a:endParaRPr lang="en-US" sz="1400" b="1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/>
                        <a:t>Sets the width of the top border</a:t>
                      </a:r>
                      <a:endParaRPr lang="en-US" sz="1400" b="1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  <a:tr h="1356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hlinkClick r:id="rId21"/>
                        </a:rPr>
                        <a:t>border-width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4720" marR="14720" marT="20609" marB="20609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/>
                        <a:t>Sets the width of the four borders</a:t>
                      </a:r>
                      <a:endParaRPr lang="en-US" sz="1400" b="1" dirty="0">
                        <a:latin typeface="verdana"/>
                      </a:endParaRPr>
                    </a:p>
                  </a:txBody>
                  <a:tcPr marL="14720" marR="14720" marT="20609" marB="20609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283968" y="548680"/>
            <a:ext cx="2622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Border - Individual sides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35896" y="1124744"/>
            <a:ext cx="2622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Border - Individual sides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pic>
        <p:nvPicPr>
          <p:cNvPr id="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077072"/>
            <a:ext cx="6249988" cy="187642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sp>
        <p:nvSpPr>
          <p:cNvPr id="11" name="TextBox 10"/>
          <p:cNvSpPr txBox="1"/>
          <p:nvPr/>
        </p:nvSpPr>
        <p:spPr>
          <a:xfrm>
            <a:off x="467544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6" y="15567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512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1844824"/>
            <a:ext cx="3152775" cy="1562100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Border</a:t>
            </a:r>
            <a:endParaRPr lang="en-US" sz="4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139952" y="1484784"/>
            <a:ext cx="4464496" cy="4801314"/>
          </a:xfrm>
          <a:prstGeom prst="rect">
            <a:avLst/>
          </a:prstGeom>
          <a:effectLst>
            <a:glow rad="101600">
              <a:srgbClr val="00B050">
                <a:alpha val="6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border-</a:t>
            </a:r>
            <a:r>
              <a:rPr lang="en-US" b="1" dirty="0" err="1" smtClean="0">
                <a:solidFill>
                  <a:srgbClr val="00B050"/>
                </a:solidFill>
              </a:rPr>
              <a:t>style:dotted</a:t>
            </a:r>
            <a:r>
              <a:rPr lang="en-US" b="1" dirty="0" smtClean="0">
                <a:solidFill>
                  <a:srgbClr val="00B050"/>
                </a:solidFill>
              </a:rPr>
              <a:t> solid double dashed;</a:t>
            </a:r>
          </a:p>
          <a:p>
            <a:pPr lvl="1"/>
            <a:r>
              <a:rPr lang="en-US" b="1" dirty="0" smtClean="0"/>
              <a:t>top border is dotted</a:t>
            </a:r>
          </a:p>
          <a:p>
            <a:pPr lvl="1"/>
            <a:r>
              <a:rPr lang="en-US" b="1" dirty="0" smtClean="0"/>
              <a:t>right border is solid</a:t>
            </a:r>
          </a:p>
          <a:p>
            <a:pPr lvl="1"/>
            <a:r>
              <a:rPr lang="en-US" b="1" dirty="0" smtClean="0"/>
              <a:t>bottom border is double</a:t>
            </a:r>
          </a:p>
          <a:p>
            <a:pPr lvl="1"/>
            <a:r>
              <a:rPr lang="en-US" b="1" dirty="0" smtClean="0"/>
              <a:t>left border is dashed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border-</a:t>
            </a:r>
            <a:r>
              <a:rPr lang="en-US" b="1" dirty="0" err="1" smtClean="0">
                <a:solidFill>
                  <a:srgbClr val="00B050"/>
                </a:solidFill>
              </a:rPr>
              <a:t>style:dotted</a:t>
            </a:r>
            <a:r>
              <a:rPr lang="en-US" b="1" dirty="0" smtClean="0">
                <a:solidFill>
                  <a:srgbClr val="00B050"/>
                </a:solidFill>
              </a:rPr>
              <a:t> solid double;</a:t>
            </a:r>
          </a:p>
          <a:p>
            <a:pPr lvl="1"/>
            <a:r>
              <a:rPr lang="en-US" b="1" dirty="0" smtClean="0"/>
              <a:t>top border is dotted</a:t>
            </a:r>
          </a:p>
          <a:p>
            <a:pPr lvl="1"/>
            <a:r>
              <a:rPr lang="en-US" b="1" dirty="0" smtClean="0"/>
              <a:t>right and left borders are solid</a:t>
            </a:r>
          </a:p>
          <a:p>
            <a:pPr lvl="1"/>
            <a:r>
              <a:rPr lang="en-US" b="1" dirty="0" smtClean="0"/>
              <a:t>bottom border is double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border-</a:t>
            </a:r>
            <a:r>
              <a:rPr lang="en-US" b="1" dirty="0" err="1" smtClean="0">
                <a:solidFill>
                  <a:srgbClr val="00B050"/>
                </a:solidFill>
              </a:rPr>
              <a:t>style:dotted</a:t>
            </a:r>
            <a:r>
              <a:rPr lang="en-US" b="1" dirty="0" smtClean="0">
                <a:solidFill>
                  <a:srgbClr val="00B050"/>
                </a:solidFill>
              </a:rPr>
              <a:t> solid;</a:t>
            </a:r>
          </a:p>
          <a:p>
            <a:pPr lvl="1"/>
            <a:r>
              <a:rPr lang="en-US" b="1" dirty="0" smtClean="0"/>
              <a:t>top and bottom borders are dotted</a:t>
            </a:r>
          </a:p>
          <a:p>
            <a:pPr lvl="1"/>
            <a:r>
              <a:rPr lang="en-US" b="1" dirty="0" smtClean="0"/>
              <a:t>right and left borders are solid</a:t>
            </a:r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border-</a:t>
            </a:r>
            <a:r>
              <a:rPr lang="en-US" b="1" dirty="0" err="1" smtClean="0">
                <a:solidFill>
                  <a:srgbClr val="00B050"/>
                </a:solidFill>
              </a:rPr>
              <a:t>style:dotted</a:t>
            </a:r>
            <a:r>
              <a:rPr lang="en-US" b="1" dirty="0" smtClean="0">
                <a:solidFill>
                  <a:srgbClr val="00B050"/>
                </a:solidFill>
              </a:rPr>
              <a:t>;</a:t>
            </a:r>
          </a:p>
          <a:p>
            <a:pPr lvl="1"/>
            <a:r>
              <a:rPr lang="en-US" b="1" dirty="0" smtClean="0"/>
              <a:t>all four borders are dotted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683568" y="1196752"/>
            <a:ext cx="2560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shorthand property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576" y="3933056"/>
            <a:ext cx="2261966" cy="36933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border:</a:t>
            </a:r>
            <a:r>
              <a:rPr lang="en-US" b="1" dirty="0" smtClean="0">
                <a:solidFill>
                  <a:srgbClr val="00B0F0"/>
                </a:solidFill>
              </a:rPr>
              <a:t>5px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solid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red</a:t>
            </a:r>
            <a:r>
              <a:rPr lang="en-US" b="1" dirty="0" smtClean="0">
                <a:solidFill>
                  <a:schemeClr val="accent2"/>
                </a:solidFill>
              </a:rPr>
              <a:t>;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5536" y="2420888"/>
            <a:ext cx="2664296" cy="923330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B0F0"/>
                </a:solidFill>
              </a:rPr>
              <a:t>border-width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</a:rPr>
              <a:t>border-style (required)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00B050"/>
                </a:solidFill>
              </a:rPr>
              <a:t>border-color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Outline</a:t>
            </a:r>
            <a:endParaRPr lang="en-US" sz="4800" dirty="0" smtClean="0"/>
          </a:p>
        </p:txBody>
      </p:sp>
      <p:pic>
        <p:nvPicPr>
          <p:cNvPr id="2560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28800"/>
            <a:ext cx="3009900" cy="1266825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1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717032"/>
            <a:ext cx="6249988" cy="1876425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  <p:sp>
        <p:nvSpPr>
          <p:cNvPr id="12" name="TextBox 11"/>
          <p:cNvSpPr txBox="1"/>
          <p:nvPr/>
        </p:nvSpPr>
        <p:spPr>
          <a:xfrm>
            <a:off x="467544" y="30596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10434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25603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1628800"/>
            <a:ext cx="3048000" cy="904875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sp>
        <p:nvSpPr>
          <p:cNvPr id="15" name="Left-Right-Up Arrow 14"/>
          <p:cNvSpPr/>
          <p:nvPr/>
        </p:nvSpPr>
        <p:spPr>
          <a:xfrm rot="3109063">
            <a:off x="4581931" y="2549228"/>
            <a:ext cx="916241" cy="836777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Some tricks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66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1638300" cy="1657350"/>
          </a:xfrm>
          <a:prstGeom prst="rect">
            <a:avLst/>
          </a:prstGeom>
          <a:noFill/>
          <a:effectLst>
            <a:glow rad="101600">
              <a:srgbClr val="FFFF00">
                <a:alpha val="60000"/>
              </a:srgbClr>
            </a:glow>
          </a:effectLst>
        </p:spPr>
      </p:pic>
      <p:pic>
        <p:nvPicPr>
          <p:cNvPr id="26628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412776"/>
            <a:ext cx="2543175" cy="153352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3" name="Left Arrow 12"/>
          <p:cNvSpPr/>
          <p:nvPr/>
        </p:nvSpPr>
        <p:spPr>
          <a:xfrm>
            <a:off x="2843808" y="206084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 r="29630"/>
          <a:stretch>
            <a:fillRect/>
          </a:stretch>
        </p:blipFill>
        <p:spPr bwMode="auto">
          <a:xfrm>
            <a:off x="683568" y="3645024"/>
            <a:ext cx="1224136" cy="202516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pic>
        <p:nvPicPr>
          <p:cNvPr id="15" name="Picture 2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39952" y="3933056"/>
            <a:ext cx="3409950" cy="1752600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</p:pic>
      <p:sp>
        <p:nvSpPr>
          <p:cNvPr id="16" name="Left Arrow 15"/>
          <p:cNvSpPr/>
          <p:nvPr/>
        </p:nvSpPr>
        <p:spPr>
          <a:xfrm>
            <a:off x="2699792" y="450912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11560" y="260648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Some tricks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195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r="9191"/>
          <a:stretch>
            <a:fillRect/>
          </a:stretch>
        </p:blipFill>
        <p:spPr bwMode="auto">
          <a:xfrm>
            <a:off x="539552" y="1412776"/>
            <a:ext cx="1800200" cy="165618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8196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196752"/>
            <a:ext cx="3524250" cy="213360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sp>
        <p:nvSpPr>
          <p:cNvPr id="9" name="Left Arrow 8"/>
          <p:cNvSpPr/>
          <p:nvPr/>
        </p:nvSpPr>
        <p:spPr>
          <a:xfrm>
            <a:off x="2555776" y="215228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8" name="Picture 6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077072"/>
            <a:ext cx="2088232" cy="127230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pic>
        <p:nvPicPr>
          <p:cNvPr id="8199" name="Picture 7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48286" y="3573016"/>
            <a:ext cx="3448050" cy="1981200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sp>
        <p:nvSpPr>
          <p:cNvPr id="13" name="Left Arrow 12"/>
          <p:cNvSpPr/>
          <p:nvPr/>
        </p:nvSpPr>
        <p:spPr>
          <a:xfrm>
            <a:off x="2699792" y="436510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Some tricks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9" name="Picture 5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68760"/>
            <a:ext cx="1771650" cy="33051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2765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620688"/>
            <a:ext cx="3438525" cy="4467225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2765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5085184"/>
            <a:ext cx="3667125" cy="88582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sp>
        <p:nvSpPr>
          <p:cNvPr id="16" name="Left-Right-Up Arrow 15"/>
          <p:cNvSpPr/>
          <p:nvPr/>
        </p:nvSpPr>
        <p:spPr>
          <a:xfrm rot="18140776">
            <a:off x="3051055" y="3067150"/>
            <a:ext cx="725973" cy="1666834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t="1210" r="7171"/>
          <a:stretch>
            <a:fillRect/>
          </a:stretch>
        </p:blipFill>
        <p:spPr bwMode="auto">
          <a:xfrm>
            <a:off x="2915816" y="476672"/>
            <a:ext cx="4104456" cy="58788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2600</TotalTime>
  <Words>399</Words>
  <Application>Microsoft Office PowerPoint</Application>
  <PresentationFormat>Экран (4:3)</PresentationFormat>
  <Paragraphs>115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177</cp:revision>
  <dcterms:created xsi:type="dcterms:W3CDTF">2013-08-16T08:22:25Z</dcterms:created>
  <dcterms:modified xsi:type="dcterms:W3CDTF">2014-11-28T05:33:11Z</dcterms:modified>
</cp:coreProperties>
</file>