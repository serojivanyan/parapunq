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7" r:id="rId2"/>
    <p:sldId id="275" r:id="rId3"/>
    <p:sldId id="276" r:id="rId4"/>
    <p:sldId id="273" r:id="rId5"/>
    <p:sldId id="261" r:id="rId6"/>
    <p:sldId id="262" r:id="rId7"/>
    <p:sldId id="277" r:id="rId8"/>
    <p:sldId id="280" r:id="rId9"/>
    <p:sldId id="281" r:id="rId10"/>
    <p:sldId id="282" r:id="rId11"/>
    <p:sldId id="283" r:id="rId12"/>
    <p:sldId id="2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1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7/12/2016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pr_pos_left.asp" TargetMode="External"/><Relationship Id="rId7" Type="http://schemas.openxmlformats.org/officeDocument/2006/relationships/hyperlink" Target="http://www.w3schools.com/cssref/pr_pos_z-index.asp" TargetMode="External"/><Relationship Id="rId2" Type="http://schemas.openxmlformats.org/officeDocument/2006/relationships/hyperlink" Target="http://www.w3schools.com/cssref/pr_pos_bottom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cssref/pr_pos_top.asp" TargetMode="External"/><Relationship Id="rId5" Type="http://schemas.openxmlformats.org/officeDocument/2006/relationships/hyperlink" Target="http://www.w3schools.com/cssref/pr_pos_right.asp" TargetMode="External"/><Relationship Id="rId4" Type="http://schemas.openxmlformats.org/officeDocument/2006/relationships/hyperlink" Target="http://www.w3schools.com/cssref/pr_class_position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w3schools.com/cssref/pr_class_cursor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10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Positioning</a:t>
            </a:r>
            <a:endParaRPr lang="en-US" sz="48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75656" y="1268760"/>
          <a:ext cx="5760639" cy="479644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15958"/>
                <a:gridCol w="2607447"/>
                <a:gridCol w="1637234"/>
              </a:tblGrid>
              <a:tr h="16039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Property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7482" marR="7482" marT="7482" marB="748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2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7482" marR="7482" marT="7482" marB="748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Values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7482" marR="7482" marT="7482" marB="7482"/>
                </a:tc>
              </a:tr>
              <a:tr h="621340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 smtClean="0">
                          <a:hlinkClick r:id="rId2"/>
                        </a:rPr>
                        <a:t>Bottom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bottom margin edge for a positioned box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auto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</a:tr>
              <a:tr h="621340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 smtClean="0">
                          <a:hlinkClick r:id="rId3"/>
                        </a:rPr>
                        <a:t>Left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left margin edge for a positioned box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auto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</a:tr>
              <a:tr h="769599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hlinkClick r:id="rId4"/>
                        </a:rPr>
                        <a:t>position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Specifies the type of positioning for an element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absolute</a:t>
                      </a:r>
                      <a:br>
                        <a:rPr lang="en-US" sz="1200" b="1"/>
                      </a:br>
                      <a:r>
                        <a:rPr lang="en-US" sz="1200" b="1"/>
                        <a:t>fixed</a:t>
                      </a:r>
                      <a:br>
                        <a:rPr lang="en-US" sz="1200" b="1"/>
                      </a:br>
                      <a:r>
                        <a:rPr lang="en-US" sz="1200" b="1"/>
                        <a:t>relative</a:t>
                      </a:r>
                      <a:br>
                        <a:rPr lang="en-US" sz="1200" b="1"/>
                      </a:br>
                      <a:r>
                        <a:rPr lang="en-US" sz="1200" b="1"/>
                        <a:t>static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</a:tr>
              <a:tr h="621340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5"/>
                        </a:rPr>
                        <a:t>right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right margin edge for a positioned box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auto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</a:tr>
              <a:tr h="621340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6"/>
                        </a:rPr>
                        <a:t>top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Sets the top margin edge for a positioned box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auto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</a:tr>
              <a:tr h="473081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7"/>
                        </a:rPr>
                        <a:t>z-index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Sets the stack order of an element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12469" marR="12469" marT="17457" marB="1745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number</a:t>
                      </a:r>
                      <a:br>
                        <a:rPr lang="en-US" sz="1200" b="1" dirty="0"/>
                      </a:br>
                      <a:r>
                        <a:rPr lang="en-US" sz="1200" b="1" dirty="0"/>
                        <a:t>auto</a:t>
                      </a:r>
                      <a:br>
                        <a:rPr lang="en-US" sz="1200" b="1" dirty="0"/>
                      </a:br>
                      <a:r>
                        <a:rPr lang="en-US" sz="1200" b="1" dirty="0"/>
                        <a:t>inherit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12469" marR="12469" marT="17457" marB="1745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Positioning</a:t>
            </a:r>
            <a:endParaRPr lang="en-US" sz="48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1691680" y="1260049"/>
            <a:ext cx="3219536" cy="58477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accent2"/>
                </a:solidFill>
              </a:rPr>
              <a:t>Static Positioning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5576" y="2564904"/>
            <a:ext cx="7632848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HTML elements are positioned static by default. A static positioned element is always positioned according to the normal flow of the page.</a:t>
            </a:r>
            <a:endParaRPr lang="hy-AM" b="1" dirty="0" smtClean="0">
              <a:solidFill>
                <a:schemeClr val="accent2"/>
              </a:solidFill>
            </a:endParaRPr>
          </a:p>
          <a:p>
            <a:endParaRPr lang="en-US" b="1" dirty="0" smtClean="0">
              <a:solidFill>
                <a:schemeClr val="accent2"/>
              </a:solidFill>
            </a:endParaRPr>
          </a:p>
          <a:p>
            <a:r>
              <a:rPr lang="en-US" b="1" dirty="0" smtClean="0">
                <a:solidFill>
                  <a:schemeClr val="accent2"/>
                </a:solidFill>
              </a:rPr>
              <a:t>Static positioned elements are not affected by the top, bottom, left, and right properties.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Positioning</a:t>
            </a:r>
            <a:endParaRPr lang="en-US" sz="4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1691680" y="1260049"/>
            <a:ext cx="3212931" cy="58477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y-AM" sz="3200" b="1" dirty="0" smtClean="0">
                <a:solidFill>
                  <a:schemeClr val="accent2"/>
                </a:solidFill>
              </a:rPr>
              <a:t>Fixed</a:t>
            </a:r>
            <a:r>
              <a:rPr lang="en-US" sz="3200" b="1" dirty="0" smtClean="0">
                <a:solidFill>
                  <a:schemeClr val="accent2"/>
                </a:solidFill>
              </a:rPr>
              <a:t> Positioning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1560" y="2060848"/>
            <a:ext cx="763284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An element with fixed position is positioned relative to the browser window.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921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429000"/>
            <a:ext cx="1685925" cy="1295400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sp>
        <p:nvSpPr>
          <p:cNvPr id="16" name="TextBox 15"/>
          <p:cNvSpPr txBox="1"/>
          <p:nvPr/>
        </p:nvSpPr>
        <p:spPr>
          <a:xfrm>
            <a:off x="2195736" y="48691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Left-Right-Up Arrow 17"/>
          <p:cNvSpPr/>
          <p:nvPr/>
        </p:nvSpPr>
        <p:spPr>
          <a:xfrm rot="2991417">
            <a:off x="2890649" y="4074143"/>
            <a:ext cx="1024114" cy="59854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t="9219"/>
          <a:stretch>
            <a:fillRect/>
          </a:stretch>
        </p:blipFill>
        <p:spPr bwMode="auto">
          <a:xfrm>
            <a:off x="2051720" y="5373216"/>
            <a:ext cx="3990975" cy="709042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pic>
        <p:nvPicPr>
          <p:cNvPr id="9221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2924944"/>
            <a:ext cx="4076700" cy="1114425"/>
          </a:xfrm>
          <a:prstGeom prst="rect">
            <a:avLst/>
          </a:prstGeom>
          <a:noFill/>
          <a:effectLst>
            <a:glow rad="228600">
              <a:srgbClr val="FFC000">
                <a:alpha val="4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Positioning</a:t>
            </a:r>
            <a:endParaRPr lang="en-US" sz="48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1691680" y="1124744"/>
            <a:ext cx="3663567" cy="58477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y-AM" sz="3200" b="1" dirty="0" smtClean="0">
                <a:solidFill>
                  <a:schemeClr val="accent2"/>
                </a:solidFill>
              </a:rPr>
              <a:t>Relative</a:t>
            </a:r>
            <a:r>
              <a:rPr lang="en-US" sz="3200" b="1" dirty="0" smtClean="0">
                <a:solidFill>
                  <a:schemeClr val="accent2"/>
                </a:solidFill>
              </a:rPr>
              <a:t> Positioning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1560" y="1916832"/>
            <a:ext cx="763284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 relative positioned element is positioned relative to its normal position.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0152" y="48691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7544" y="242088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Left-Right-Up Arrow 18"/>
          <p:cNvSpPr/>
          <p:nvPr/>
        </p:nvSpPr>
        <p:spPr>
          <a:xfrm rot="2991417">
            <a:off x="2751254" y="4060687"/>
            <a:ext cx="1466989" cy="81647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3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804517"/>
            <a:ext cx="2000250" cy="2352675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pic>
        <p:nvPicPr>
          <p:cNvPr id="8194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5373216"/>
            <a:ext cx="8383587" cy="75247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pic>
        <p:nvPicPr>
          <p:cNvPr id="8195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2852936"/>
            <a:ext cx="4328542" cy="1085168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Positioning</a:t>
            </a:r>
            <a:endParaRPr lang="en-US" sz="4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1691680" y="1124744"/>
            <a:ext cx="3811877" cy="58477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y-AM" sz="3200" b="1" dirty="0" smtClean="0">
                <a:solidFill>
                  <a:schemeClr val="accent2"/>
                </a:solidFill>
              </a:rPr>
              <a:t>Absolute</a:t>
            </a:r>
            <a:r>
              <a:rPr lang="en-US" sz="3200" b="1" dirty="0" smtClean="0">
                <a:solidFill>
                  <a:schemeClr val="accent2"/>
                </a:solidFill>
              </a:rPr>
              <a:t> Positioning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5536" y="2060848"/>
            <a:ext cx="806489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An absolute position element is positioned relative to the first parent element that has a position other than static. If no such element is found, the containing block is &lt;html&gt;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50758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536" y="30689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1" name="Left-Right-Up Arrow 20"/>
          <p:cNvSpPr/>
          <p:nvPr/>
        </p:nvSpPr>
        <p:spPr>
          <a:xfrm rot="3644250">
            <a:off x="2392950" y="4364263"/>
            <a:ext cx="1466989" cy="81647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645024"/>
            <a:ext cx="1866900" cy="1266825"/>
          </a:xfrm>
          <a:prstGeom prst="rect">
            <a:avLst/>
          </a:prstGeom>
          <a:noFill/>
          <a:effectLst>
            <a:glow rad="101600">
              <a:srgbClr val="002060">
                <a:alpha val="60000"/>
              </a:srgbClr>
            </a:glow>
          </a:effectLst>
        </p:spPr>
      </p:pic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b="20422"/>
          <a:stretch>
            <a:fillRect/>
          </a:stretch>
        </p:blipFill>
        <p:spPr bwMode="auto">
          <a:xfrm>
            <a:off x="755576" y="5589240"/>
            <a:ext cx="5381626" cy="432048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pic>
        <p:nvPicPr>
          <p:cNvPr id="717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 b="10288"/>
          <a:stretch>
            <a:fillRect/>
          </a:stretch>
        </p:blipFill>
        <p:spPr bwMode="auto">
          <a:xfrm>
            <a:off x="3707904" y="3356992"/>
            <a:ext cx="4499620" cy="1473252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Cursor</a:t>
            </a:r>
            <a:endParaRPr lang="en-US" sz="4800" dirty="0" smtClean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71800" y="1268760"/>
          <a:ext cx="5826465" cy="433026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42155"/>
                <a:gridCol w="1942155"/>
                <a:gridCol w="1942155"/>
              </a:tblGrid>
              <a:tr h="4330266">
                <a:tc>
                  <a:txBody>
                    <a:bodyPr/>
                    <a:lstStyle/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endParaRPr lang="hy-AM" sz="1600" b="1" dirty="0" smtClean="0">
                        <a:hlinkClick r:id="rId2"/>
                      </a:endParaRPr>
                    </a:p>
                    <a:p>
                      <a:pPr fontAlgn="t"/>
                      <a:r>
                        <a:rPr lang="en-US" sz="1600" b="1" dirty="0" smtClean="0">
                          <a:hlinkClick r:id="rId2"/>
                        </a:rPr>
                        <a:t>cursor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0349" marR="40349" marT="56489" marB="56489"/>
                </a:tc>
                <a:tc>
                  <a:txBody>
                    <a:bodyPr/>
                    <a:lstStyle/>
                    <a:p>
                      <a:pPr fontAlgn="t"/>
                      <a:endParaRPr lang="hy-AM" sz="1600" b="1" dirty="0" smtClean="0"/>
                    </a:p>
                    <a:p>
                      <a:pPr fontAlgn="t"/>
                      <a:endParaRPr lang="hy-AM" sz="1600" b="1" dirty="0" smtClean="0"/>
                    </a:p>
                    <a:p>
                      <a:pPr fontAlgn="t"/>
                      <a:endParaRPr lang="hy-AM" sz="1600" b="1" dirty="0" smtClean="0"/>
                    </a:p>
                    <a:p>
                      <a:pPr fontAlgn="t"/>
                      <a:endParaRPr lang="hy-AM" sz="1600" b="1" dirty="0" smtClean="0"/>
                    </a:p>
                    <a:p>
                      <a:pPr fontAlgn="t"/>
                      <a:endParaRPr lang="hy-AM" sz="1600" b="1" dirty="0" smtClean="0"/>
                    </a:p>
                    <a:p>
                      <a:pPr fontAlgn="t"/>
                      <a:endParaRPr lang="hy-AM" sz="1600" b="1" dirty="0" smtClean="0"/>
                    </a:p>
                    <a:p>
                      <a:pPr fontAlgn="t"/>
                      <a:r>
                        <a:rPr lang="en-US" sz="1600" b="1" dirty="0" smtClean="0"/>
                        <a:t>Specifies </a:t>
                      </a:r>
                      <a:r>
                        <a:rPr lang="en-US" sz="1600" b="1" dirty="0"/>
                        <a:t>the type of cursor to be displayed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0349" marR="40349" marT="56489" marB="5648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smtClean="0"/>
                        <a:t>auto</a:t>
                      </a:r>
                      <a:r>
                        <a:rPr lang="en-US" sz="1600" b="1" dirty="0"/>
                        <a:t/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crosshair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default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pointer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move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e-resize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ne-resize</a:t>
                      </a:r>
                      <a:br>
                        <a:rPr lang="en-US" sz="1600" b="1" dirty="0"/>
                      </a:br>
                      <a:r>
                        <a:rPr lang="en-US" sz="1600" b="1" dirty="0" err="1"/>
                        <a:t>nw</a:t>
                      </a:r>
                      <a:r>
                        <a:rPr lang="en-US" sz="1600" b="1" dirty="0"/>
                        <a:t>-resize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n-resize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se-resize</a:t>
                      </a:r>
                      <a:br>
                        <a:rPr lang="en-US" sz="1600" b="1" dirty="0"/>
                      </a:br>
                      <a:r>
                        <a:rPr lang="en-US" sz="1600" b="1" dirty="0" err="1"/>
                        <a:t>sw</a:t>
                      </a:r>
                      <a:r>
                        <a:rPr lang="en-US" sz="1600" b="1" dirty="0"/>
                        <a:t>-resize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s-resize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w-resize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text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wait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help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0349" marR="40349" marT="56489" marB="56489"/>
                </a:tc>
              </a:tr>
            </a:tbl>
          </a:graphicData>
        </a:graphic>
      </p:graphicFrame>
      <p:pic>
        <p:nvPicPr>
          <p:cNvPr id="5121" name="Picture 1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852936"/>
            <a:ext cx="2076450" cy="27622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122" name="Picture 2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293096"/>
            <a:ext cx="2190750" cy="51435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4" name="TextBox 23"/>
          <p:cNvSpPr txBox="1"/>
          <p:nvPr/>
        </p:nvSpPr>
        <p:spPr>
          <a:xfrm>
            <a:off x="395536" y="357301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7544" y="213285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Dropdown Menu</a:t>
            </a:r>
            <a:endParaRPr lang="en-US" sz="4800" dirty="0" smtClean="0"/>
          </a:p>
        </p:txBody>
      </p:sp>
      <p:pic>
        <p:nvPicPr>
          <p:cNvPr id="409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5472608" cy="3628832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44615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132856"/>
            <a:ext cx="4991101" cy="362902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" name="TextBox 2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Dropdown Menu</a:t>
            </a:r>
            <a:endParaRPr lang="en-US" sz="4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403648" y="134076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74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Dropdown Menu</a:t>
            </a:r>
            <a:endParaRPr lang="en-US" sz="4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11560" y="11247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2662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1196752"/>
            <a:ext cx="3295375" cy="5332391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8" name="TextBox 7"/>
          <p:cNvSpPr txBox="1"/>
          <p:nvPr/>
        </p:nvSpPr>
        <p:spPr>
          <a:xfrm>
            <a:off x="539552" y="1700808"/>
            <a:ext cx="158417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sz="3600" b="1" dirty="0" smtClean="0">
                <a:solidFill>
                  <a:schemeClr val="accent2"/>
                </a:solidFill>
              </a:rPr>
              <a:t>Step 1: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267744" y="1916832"/>
            <a:ext cx="7200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Dropdown Menu</a:t>
            </a:r>
            <a:endParaRPr lang="en-US" sz="48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11560" y="11247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3848" y="1268760"/>
            <a:ext cx="158417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y-AM" sz="3600" b="1" dirty="0" smtClean="0">
                <a:solidFill>
                  <a:schemeClr val="accent2"/>
                </a:solidFill>
              </a:rPr>
              <a:t>Step 2: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pic>
        <p:nvPicPr>
          <p:cNvPr id="2765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49355"/>
          <a:stretch>
            <a:fillRect/>
          </a:stretch>
        </p:blipFill>
        <p:spPr bwMode="auto">
          <a:xfrm>
            <a:off x="539552" y="2564904"/>
            <a:ext cx="3384994" cy="3384268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7651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587790"/>
            <a:ext cx="3577977" cy="3433498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2" name="Down Arrow 11"/>
          <p:cNvSpPr/>
          <p:nvPr/>
        </p:nvSpPr>
        <p:spPr>
          <a:xfrm rot="18913034">
            <a:off x="5020971" y="1710000"/>
            <a:ext cx="359627" cy="8095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 rot="2530928">
            <a:off x="2618988" y="1717432"/>
            <a:ext cx="359627" cy="8095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</a:t>
            </a:r>
            <a:r>
              <a:rPr lang="en-US" sz="4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1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6" name="Picture 2" descr="C:\Users\Comp\Desktop\less11\11\02\Games Site Templa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64" y="428604"/>
            <a:ext cx="5286412" cy="62240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3362</TotalTime>
  <Words>232</Words>
  <Application>Microsoft Office PowerPoint</Application>
  <PresentationFormat>Экран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225</cp:revision>
  <dcterms:created xsi:type="dcterms:W3CDTF">2013-08-16T08:22:25Z</dcterms:created>
  <dcterms:modified xsi:type="dcterms:W3CDTF">2016-07-12T14:49:43Z</dcterms:modified>
</cp:coreProperties>
</file>