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44" r:id="rId1"/>
  </p:sldMasterIdLst>
  <p:notesMasterIdLst>
    <p:notesMasterId r:id="rId14"/>
  </p:notesMasterIdLst>
  <p:sldIdLst>
    <p:sldId id="257" r:id="rId2"/>
    <p:sldId id="287" r:id="rId3"/>
    <p:sldId id="275" r:id="rId4"/>
    <p:sldId id="276" r:id="rId5"/>
    <p:sldId id="261" r:id="rId6"/>
    <p:sldId id="273" r:id="rId7"/>
    <p:sldId id="262" r:id="rId8"/>
    <p:sldId id="272" r:id="rId9"/>
    <p:sldId id="285" r:id="rId10"/>
    <p:sldId id="288" r:id="rId11"/>
    <p:sldId id="258" r:id="rId12"/>
    <p:sldId id="28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8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717" autoAdjust="0"/>
  </p:normalViewPr>
  <p:slideViewPr>
    <p:cSldViewPr>
      <p:cViewPr varScale="1">
        <p:scale>
          <a:sx n="70" d="100"/>
          <a:sy n="70" d="100"/>
        </p:scale>
        <p:origin x="-138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9A533B-BB62-4DA6-BFAC-31FCF3044E77}" type="datetimeFigureOut">
              <a:rPr lang="en-US" smtClean="0"/>
              <a:pPr/>
              <a:t>10/26/2016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4AA493-8083-4A0A-9DB8-8876B538388F}" type="slidenum">
              <a:rPr lang="en-US" smtClean="0"/>
              <a:pPr/>
              <a:t>‹#›</a:t>
            </a:fld>
            <a:endParaRPr lang="en-US"/>
          </a:p>
        </p:txBody>
      </p:sp>
    </p:spTree>
    <p:extLst>
      <p:ext uri="{BB962C8B-B14F-4D97-AF65-F5344CB8AC3E}">
        <p14:creationId xmlns:p14="http://schemas.microsoft.com/office/powerpoint/2010/main" val="299343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859E707-2A3A-45FE-B56F-C51718F36AA8}"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859E707-2A3A-45FE-B56F-C51718F36AA8}"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9E707-2A3A-45FE-B56F-C51718F36AA8}"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59E707-2A3A-45FE-B56F-C51718F36AA8}"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9E707-2A3A-45FE-B56F-C51718F36AA8}"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859E707-2A3A-45FE-B56F-C51718F36AA8}"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10/26/2016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32B6477-8826-47CB-B9F3-3F88F5668FA1}" type="datetimeFigureOut">
              <a:rPr lang="en-US" smtClean="0"/>
              <a:pPr/>
              <a:t>10/26/2016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859E707-2A3A-45FE-B56F-C51718F36A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www.w3schools.com/cssref/sel_visited.asp" TargetMode="External"/><Relationship Id="rId2" Type="http://schemas.openxmlformats.org/officeDocument/2006/relationships/hyperlink" Target="http://www.w3schools.com/cssref/sel_link.asp" TargetMode="External"/><Relationship Id="rId1" Type="http://schemas.openxmlformats.org/officeDocument/2006/relationships/slideLayout" Target="../slideLayouts/slideLayout7.xml"/><Relationship Id="rId5" Type="http://schemas.openxmlformats.org/officeDocument/2006/relationships/hyperlink" Target="http://www.w3schools.com/cssref/sel_firstline.asp" TargetMode="External"/><Relationship Id="rId4" Type="http://schemas.openxmlformats.org/officeDocument/2006/relationships/hyperlink" Target="http://www.w3schools.com/cssref/sel_firstletter.asp"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www.w3schools.com/cssref/sel_firstline.asp" TargetMode="External"/><Relationship Id="rId3" Type="http://schemas.openxmlformats.org/officeDocument/2006/relationships/hyperlink" Target="http://www.w3schools.com/cssref/sel_visited.asp" TargetMode="External"/><Relationship Id="rId7" Type="http://schemas.openxmlformats.org/officeDocument/2006/relationships/hyperlink" Target="http://www.w3schools.com/cssref/sel_firstletter.asp" TargetMode="External"/><Relationship Id="rId12" Type="http://schemas.openxmlformats.org/officeDocument/2006/relationships/hyperlink" Target="http://www.w3schools.com/cssref/sel_lang.asp" TargetMode="External"/><Relationship Id="rId2" Type="http://schemas.openxmlformats.org/officeDocument/2006/relationships/hyperlink" Target="http://www.w3schools.com/cssref/sel_link.asp" TargetMode="External"/><Relationship Id="rId1" Type="http://schemas.openxmlformats.org/officeDocument/2006/relationships/slideLayout" Target="../slideLayouts/slideLayout2.xml"/><Relationship Id="rId6" Type="http://schemas.openxmlformats.org/officeDocument/2006/relationships/hyperlink" Target="http://www.w3schools.com/cssref/sel_focus.asp" TargetMode="External"/><Relationship Id="rId11" Type="http://schemas.openxmlformats.org/officeDocument/2006/relationships/hyperlink" Target="http://www.w3schools.com/cssref/sel_after.asp" TargetMode="External"/><Relationship Id="rId5" Type="http://schemas.openxmlformats.org/officeDocument/2006/relationships/hyperlink" Target="http://www.w3schools.com/cssref/sel_hover.asp" TargetMode="External"/><Relationship Id="rId10" Type="http://schemas.openxmlformats.org/officeDocument/2006/relationships/hyperlink" Target="http://www.w3schools.com/cssref/sel_before.asp" TargetMode="External"/><Relationship Id="rId4" Type="http://schemas.openxmlformats.org/officeDocument/2006/relationships/hyperlink" Target="http://www.w3schools.com/cssref/sel_active.asp" TargetMode="External"/><Relationship Id="rId9" Type="http://schemas.openxmlformats.org/officeDocument/2006/relationships/hyperlink" Target="http://www.w3schools.com/cssref/sel_firstchild.asp"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www.w3schools.com/cssref/css_colors_legal.asp"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11560" y="1484784"/>
            <a:ext cx="4608512" cy="2369880"/>
          </a:xfrm>
          <a:prstGeom prst="rect">
            <a:avLst/>
          </a:prstGeom>
          <a:noFill/>
        </p:spPr>
        <p:txBody>
          <a:bodyPr wrap="square" rtlCol="0">
            <a:spAutoFit/>
          </a:bodyPr>
          <a:lstStyle/>
          <a:p>
            <a:r>
              <a:rPr lang="hy-AM" sz="120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CSS</a:t>
            </a:r>
          </a:p>
          <a:p>
            <a:r>
              <a:rPr lang="hy-AM" sz="2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Lesson 12</a:t>
            </a:r>
            <a:endParaRPr lang="en-US" sz="2800" b="1" dirty="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endParaRPr>
          </a:p>
        </p:txBody>
      </p:sp>
      <p:pic>
        <p:nvPicPr>
          <p:cNvPr id="1027" name="Picture 3" descr="C:\Users\Araik\Desktop\images.jpg"/>
          <p:cNvPicPr>
            <a:picLocks noChangeAspect="1" noChangeArrowheads="1"/>
          </p:cNvPicPr>
          <p:nvPr/>
        </p:nvPicPr>
        <p:blipFill>
          <a:blip r:embed="rId2" cstate="print"/>
          <a:srcRect/>
          <a:stretch>
            <a:fillRect/>
          </a:stretch>
        </p:blipFill>
        <p:spPr bwMode="auto">
          <a:xfrm>
            <a:off x="4283968" y="836712"/>
            <a:ext cx="3556595" cy="355659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9592" y="2996952"/>
            <a:ext cx="6768752" cy="646331"/>
          </a:xfrm>
          <a:prstGeom prst="rect">
            <a:avLst/>
          </a:prstGeom>
          <a:effectLst>
            <a:glow rad="228600">
              <a:schemeClr val="accent3">
                <a:satMod val="175000"/>
                <a:alpha val="40000"/>
              </a:schemeClr>
            </a:glow>
            <a:outerShdw blurRad="38100" dist="25400" dir="5400000" algn="t" rotWithShape="0">
              <a:srgbClr val="000000">
                <a:alpha val="50000"/>
              </a:srgbClr>
            </a:outerShdw>
          </a:effectLst>
        </p:spPr>
        <p:style>
          <a:lnRef idx="3">
            <a:schemeClr val="lt1"/>
          </a:lnRef>
          <a:fillRef idx="1">
            <a:schemeClr val="accent3"/>
          </a:fillRef>
          <a:effectRef idx="1">
            <a:schemeClr val="accent3"/>
          </a:effectRef>
          <a:fontRef idx="minor">
            <a:schemeClr val="lt1"/>
          </a:fontRef>
        </p:style>
        <p:txBody>
          <a:bodyPr wrap="square">
            <a:spAutoFit/>
          </a:bodyPr>
          <a:lstStyle/>
          <a:p>
            <a:pPr fontAlgn="base"/>
            <a:r>
              <a:rPr lang="en-US" sz="3600" b="1" dirty="0" smtClean="0">
                <a:solidFill>
                  <a:schemeClr val="accent2"/>
                </a:solidFill>
              </a:rPr>
              <a:t>Pseudo class</a:t>
            </a:r>
            <a:r>
              <a:rPr lang="hy-AM" sz="3600" b="1" dirty="0" smtClean="0">
                <a:solidFill>
                  <a:schemeClr val="accent2"/>
                </a:solidFill>
              </a:rPr>
              <a:t>          </a:t>
            </a:r>
            <a:r>
              <a:rPr lang="en-US" sz="3600" b="1" dirty="0" smtClean="0">
                <a:solidFill>
                  <a:schemeClr val="accent2"/>
                </a:solidFill>
              </a:rPr>
              <a:t>Pseudo element</a:t>
            </a:r>
            <a:endParaRPr lang="en-US" sz="3600" b="1" dirty="0">
              <a:solidFill>
                <a:schemeClr val="accent2"/>
              </a:solidFill>
            </a:endParaRPr>
          </a:p>
        </p:txBody>
      </p:sp>
      <p:sp>
        <p:nvSpPr>
          <p:cNvPr id="3" name="TextBox 2"/>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Pseudo Classes/Elements</a:t>
            </a:r>
            <a:endParaRPr lang="en-US" sz="4800" dirty="0" smtClean="0"/>
          </a:p>
        </p:txBody>
      </p:sp>
      <p:sp>
        <p:nvSpPr>
          <p:cNvPr id="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7" name="TextBox 6"/>
          <p:cNvSpPr txBox="1"/>
          <p:nvPr/>
        </p:nvSpPr>
        <p:spPr>
          <a:xfrm>
            <a:off x="1475656" y="1700808"/>
            <a:ext cx="5688632" cy="523220"/>
          </a:xfrm>
          <a:prstGeom prst="rect">
            <a:avLst/>
          </a:prstGeom>
          <a:effectLst>
            <a:glow rad="1397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b="1" dirty="0" smtClean="0">
                <a:solidFill>
                  <a:schemeClr val="accent2"/>
                </a:solidFill>
              </a:rPr>
              <a:t>What do the following mean in CSS?</a:t>
            </a:r>
          </a:p>
        </p:txBody>
      </p:sp>
      <p:graphicFrame>
        <p:nvGraphicFramePr>
          <p:cNvPr id="8" name="Table 7"/>
          <p:cNvGraphicFramePr>
            <a:graphicFrameLocks noGrp="1"/>
          </p:cNvGraphicFramePr>
          <p:nvPr/>
        </p:nvGraphicFramePr>
        <p:xfrm>
          <a:off x="1475656" y="4581128"/>
          <a:ext cx="1224136" cy="1525750"/>
        </p:xfrm>
        <a:graphic>
          <a:graphicData uri="http://schemas.openxmlformats.org/drawingml/2006/table">
            <a:tbl>
              <a:tblPr>
                <a:tableStyleId>{69C7853C-536D-4A76-A0AE-DD22124D55A5}</a:tableStyleId>
              </a:tblPr>
              <a:tblGrid>
                <a:gridCol w="1224136"/>
              </a:tblGrid>
              <a:tr h="581853">
                <a:tc>
                  <a:txBody>
                    <a:bodyPr/>
                    <a:lstStyle/>
                    <a:p>
                      <a:pPr fontAlgn="t"/>
                      <a:r>
                        <a:rPr lang="en-US" sz="1600" b="1" dirty="0">
                          <a:hlinkClick r:id="rId2"/>
                        </a:rPr>
                        <a:t>:link</a:t>
                      </a:r>
                      <a:endParaRPr lang="en-US" sz="1600" b="1" dirty="0">
                        <a:latin typeface="verdana"/>
                      </a:endParaRPr>
                    </a:p>
                  </a:txBody>
                  <a:tcPr marL="42216" marR="42216" marT="59102" marB="59102"/>
                </a:tc>
              </a:tr>
              <a:tr h="581853">
                <a:tc>
                  <a:txBody>
                    <a:bodyPr/>
                    <a:lstStyle/>
                    <a:p>
                      <a:pPr fontAlgn="t"/>
                      <a:r>
                        <a:rPr lang="en-US" sz="1600" b="1">
                          <a:hlinkClick r:id="rId3"/>
                        </a:rPr>
                        <a:t>:visited</a:t>
                      </a:r>
                      <a:endParaRPr lang="en-US" sz="1600" b="1">
                        <a:latin typeface="verdana"/>
                      </a:endParaRPr>
                    </a:p>
                  </a:txBody>
                  <a:tcPr marL="42216" marR="42216" marT="59102" marB="59102"/>
                </a:tc>
              </a:tr>
              <a:tr h="348461">
                <a:tc>
                  <a:txBody>
                    <a:bodyPr/>
                    <a:lstStyle/>
                    <a:p>
                      <a:pPr fontAlgn="t"/>
                      <a:r>
                        <a:rPr lang="hy-AM" sz="1600" b="1" dirty="0" smtClean="0">
                          <a:latin typeface="+mn-lt"/>
                        </a:rPr>
                        <a:t>...</a:t>
                      </a:r>
                      <a:endParaRPr lang="en-US" sz="1600" b="1" dirty="0">
                        <a:latin typeface="verdana"/>
                      </a:endParaRPr>
                    </a:p>
                  </a:txBody>
                  <a:tcPr marL="42216" marR="42216" marT="59102" marB="59102"/>
                </a:tc>
              </a:tr>
            </a:tbl>
          </a:graphicData>
        </a:graphic>
      </p:graphicFrame>
      <p:graphicFrame>
        <p:nvGraphicFramePr>
          <p:cNvPr id="10" name="Table 9"/>
          <p:cNvGraphicFramePr>
            <a:graphicFrameLocks noGrp="1"/>
          </p:cNvGraphicFramePr>
          <p:nvPr/>
        </p:nvGraphicFramePr>
        <p:xfrm>
          <a:off x="5148064" y="4581128"/>
          <a:ext cx="1152128" cy="1512168"/>
        </p:xfrm>
        <a:graphic>
          <a:graphicData uri="http://schemas.openxmlformats.org/drawingml/2006/table">
            <a:tbl>
              <a:tblPr>
                <a:tableStyleId>{69C7853C-536D-4A76-A0AE-DD22124D55A5}</a:tableStyleId>
              </a:tblPr>
              <a:tblGrid>
                <a:gridCol w="1152128"/>
              </a:tblGrid>
              <a:tr h="622172">
                <a:tc>
                  <a:txBody>
                    <a:bodyPr/>
                    <a:lstStyle/>
                    <a:p>
                      <a:pPr fontAlgn="t"/>
                      <a:r>
                        <a:rPr lang="en-US" sz="1600" b="1" dirty="0">
                          <a:hlinkClick r:id="rId4"/>
                        </a:rPr>
                        <a:t>:first-letter</a:t>
                      </a:r>
                      <a:endParaRPr lang="en-US" sz="1600" b="1" dirty="0">
                        <a:latin typeface="verdana"/>
                      </a:endParaRPr>
                    </a:p>
                  </a:txBody>
                  <a:tcPr marL="42216" marR="42216" marT="59102" marB="59102"/>
                </a:tc>
              </a:tr>
              <a:tr h="510378">
                <a:tc>
                  <a:txBody>
                    <a:bodyPr/>
                    <a:lstStyle/>
                    <a:p>
                      <a:pPr fontAlgn="t"/>
                      <a:r>
                        <a:rPr lang="en-US" sz="1600" b="1" dirty="0">
                          <a:hlinkClick r:id="rId5"/>
                        </a:rPr>
                        <a:t>:first-line</a:t>
                      </a:r>
                      <a:endParaRPr lang="en-US" sz="1600" b="1" dirty="0">
                        <a:latin typeface="verdana"/>
                      </a:endParaRPr>
                    </a:p>
                  </a:txBody>
                  <a:tcPr marL="42216" marR="42216" marT="59102" marB="59102"/>
                </a:tc>
              </a:tr>
              <a:tr h="379618">
                <a:tc>
                  <a:txBody>
                    <a:bodyPr/>
                    <a:lstStyle/>
                    <a:p>
                      <a:pPr fontAlgn="t"/>
                      <a:r>
                        <a:rPr lang="hy-AM" sz="1600" b="1" dirty="0" smtClean="0"/>
                        <a:t>...</a:t>
                      </a:r>
                      <a:endParaRPr lang="en-US" sz="1600" b="1" dirty="0">
                        <a:latin typeface="verdana"/>
                      </a:endParaRPr>
                    </a:p>
                  </a:txBody>
                  <a:tcPr marL="42216" marR="42216" marT="59102" marB="59102"/>
                </a:tc>
              </a:tr>
            </a:tbl>
          </a:graphicData>
        </a:graphic>
      </p:graphicFrame>
      <p:sp>
        <p:nvSpPr>
          <p:cNvPr id="12" name="Down Arrow 11"/>
          <p:cNvSpPr/>
          <p:nvPr/>
        </p:nvSpPr>
        <p:spPr>
          <a:xfrm>
            <a:off x="2051720" y="3789040"/>
            <a:ext cx="360040"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5580112" y="3861048"/>
            <a:ext cx="360040"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Pseudo Classes/Elements</a:t>
            </a:r>
            <a:endParaRPr lang="en-US" sz="4800" dirty="0" smtClean="0"/>
          </a:p>
        </p:txBody>
      </p:sp>
      <p:sp>
        <p:nvSpPr>
          <p:cNvPr id="143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graphicFrame>
        <p:nvGraphicFramePr>
          <p:cNvPr id="6" name="Table 5"/>
          <p:cNvGraphicFramePr>
            <a:graphicFrameLocks noGrp="1"/>
          </p:cNvGraphicFramePr>
          <p:nvPr/>
        </p:nvGraphicFramePr>
        <p:xfrm>
          <a:off x="971599" y="1292874"/>
          <a:ext cx="6624737" cy="4185642"/>
        </p:xfrm>
        <a:graphic>
          <a:graphicData uri="http://schemas.openxmlformats.org/drawingml/2006/table">
            <a:tbl>
              <a:tblPr>
                <a:tableStyleId>{35758FB7-9AC5-4552-8A53-C91805E547FA}</a:tableStyleId>
              </a:tblPr>
              <a:tblGrid>
                <a:gridCol w="1324947"/>
                <a:gridCol w="1126206"/>
                <a:gridCol w="4173584"/>
              </a:tblGrid>
              <a:tr h="199982">
                <a:tc>
                  <a:txBody>
                    <a:bodyPr/>
                    <a:lstStyle/>
                    <a:p>
                      <a:pPr algn="l" fontAlgn="t"/>
                      <a:r>
                        <a:rPr lang="en-US" sz="1200" b="1" dirty="0"/>
                        <a:t>Selector</a:t>
                      </a:r>
                      <a:endParaRPr lang="en-US" sz="1200" b="1" dirty="0">
                        <a:solidFill>
                          <a:srgbClr val="FFFFFF"/>
                        </a:solidFill>
                        <a:latin typeface="verdana"/>
                      </a:endParaRPr>
                    </a:p>
                  </a:txBody>
                  <a:tcPr marL="17240" marR="17240" marT="17240" marB="17240"/>
                </a:tc>
                <a:tc>
                  <a:txBody>
                    <a:bodyPr/>
                    <a:lstStyle/>
                    <a:p>
                      <a:pPr algn="l" fontAlgn="t"/>
                      <a:r>
                        <a:rPr lang="en-US" sz="1200" b="1" dirty="0"/>
                        <a:t>Example</a:t>
                      </a:r>
                      <a:endParaRPr lang="en-US" sz="1200" b="1" dirty="0">
                        <a:solidFill>
                          <a:srgbClr val="FFFFFF"/>
                        </a:solidFill>
                        <a:latin typeface="verdana"/>
                      </a:endParaRPr>
                    </a:p>
                  </a:txBody>
                  <a:tcPr marL="17240" marR="17240" marT="17240" marB="17240"/>
                </a:tc>
                <a:tc>
                  <a:txBody>
                    <a:bodyPr/>
                    <a:lstStyle/>
                    <a:p>
                      <a:pPr algn="l" fontAlgn="t"/>
                      <a:r>
                        <a:rPr lang="en-US" sz="1200" b="1"/>
                        <a:t>Example description</a:t>
                      </a:r>
                      <a:endParaRPr lang="en-US" sz="1200" b="1">
                        <a:solidFill>
                          <a:srgbClr val="FFFFFF"/>
                        </a:solidFill>
                        <a:latin typeface="verdana"/>
                      </a:endParaRPr>
                    </a:p>
                  </a:txBody>
                  <a:tcPr marL="17240" marR="17240" marT="17240" marB="17240"/>
                </a:tc>
              </a:tr>
              <a:tr h="245955">
                <a:tc>
                  <a:txBody>
                    <a:bodyPr/>
                    <a:lstStyle/>
                    <a:p>
                      <a:pPr fontAlgn="t"/>
                      <a:r>
                        <a:rPr lang="en-US" sz="1200" b="1">
                          <a:hlinkClick r:id="rId2"/>
                        </a:rPr>
                        <a:t>:link</a:t>
                      </a:r>
                      <a:endParaRPr lang="en-US" sz="1200" b="1">
                        <a:latin typeface="verdana"/>
                      </a:endParaRPr>
                    </a:p>
                  </a:txBody>
                  <a:tcPr marL="28733" marR="28733" marT="40226" marB="40226"/>
                </a:tc>
                <a:tc>
                  <a:txBody>
                    <a:bodyPr/>
                    <a:lstStyle/>
                    <a:p>
                      <a:pPr fontAlgn="t"/>
                      <a:r>
                        <a:rPr lang="en-US" sz="1200" b="1"/>
                        <a:t>a:link</a:t>
                      </a:r>
                      <a:endParaRPr lang="en-US" sz="1200" b="1">
                        <a:latin typeface="verdana"/>
                      </a:endParaRPr>
                    </a:p>
                  </a:txBody>
                  <a:tcPr marL="28733" marR="28733" marT="40226" marB="40226"/>
                </a:tc>
                <a:tc>
                  <a:txBody>
                    <a:bodyPr/>
                    <a:lstStyle/>
                    <a:p>
                      <a:pPr fontAlgn="t"/>
                      <a:r>
                        <a:rPr lang="en-US" sz="1200" b="1"/>
                        <a:t>Selects all unvisited links</a:t>
                      </a:r>
                      <a:endParaRPr lang="en-US" sz="1200" b="1">
                        <a:latin typeface="verdana"/>
                      </a:endParaRPr>
                    </a:p>
                  </a:txBody>
                  <a:tcPr marL="28733" marR="28733" marT="40226" marB="40226"/>
                </a:tc>
              </a:tr>
              <a:tr h="245955">
                <a:tc>
                  <a:txBody>
                    <a:bodyPr/>
                    <a:lstStyle/>
                    <a:p>
                      <a:pPr fontAlgn="t"/>
                      <a:r>
                        <a:rPr lang="en-US" sz="1200" b="1">
                          <a:hlinkClick r:id="rId3"/>
                        </a:rPr>
                        <a:t>:visited</a:t>
                      </a:r>
                      <a:endParaRPr lang="en-US" sz="1200" b="1">
                        <a:latin typeface="verdana"/>
                      </a:endParaRPr>
                    </a:p>
                  </a:txBody>
                  <a:tcPr marL="28733" marR="28733" marT="40226" marB="40226"/>
                </a:tc>
                <a:tc>
                  <a:txBody>
                    <a:bodyPr/>
                    <a:lstStyle/>
                    <a:p>
                      <a:pPr fontAlgn="t"/>
                      <a:r>
                        <a:rPr lang="en-US" sz="1200" b="1"/>
                        <a:t>a:visited</a:t>
                      </a:r>
                      <a:endParaRPr lang="en-US" sz="1200" b="1">
                        <a:latin typeface="verdana"/>
                      </a:endParaRPr>
                    </a:p>
                  </a:txBody>
                  <a:tcPr marL="28733" marR="28733" marT="40226" marB="40226"/>
                </a:tc>
                <a:tc>
                  <a:txBody>
                    <a:bodyPr/>
                    <a:lstStyle/>
                    <a:p>
                      <a:pPr fontAlgn="t"/>
                      <a:r>
                        <a:rPr lang="en-US" sz="1200" b="1"/>
                        <a:t>Selects all visited links</a:t>
                      </a:r>
                      <a:endParaRPr lang="en-US" sz="1200" b="1">
                        <a:latin typeface="verdana"/>
                      </a:endParaRPr>
                    </a:p>
                  </a:txBody>
                  <a:tcPr marL="28733" marR="28733" marT="40226" marB="40226"/>
                </a:tc>
              </a:tr>
              <a:tr h="245955">
                <a:tc>
                  <a:txBody>
                    <a:bodyPr/>
                    <a:lstStyle/>
                    <a:p>
                      <a:pPr fontAlgn="t"/>
                      <a:r>
                        <a:rPr lang="en-US" sz="1200" b="1">
                          <a:hlinkClick r:id="rId4"/>
                        </a:rPr>
                        <a:t>:active</a:t>
                      </a:r>
                      <a:endParaRPr lang="en-US" sz="1200" b="1">
                        <a:latin typeface="verdana"/>
                      </a:endParaRPr>
                    </a:p>
                  </a:txBody>
                  <a:tcPr marL="28733" marR="28733" marT="40226" marB="40226"/>
                </a:tc>
                <a:tc>
                  <a:txBody>
                    <a:bodyPr/>
                    <a:lstStyle/>
                    <a:p>
                      <a:pPr fontAlgn="t"/>
                      <a:r>
                        <a:rPr lang="en-US" sz="1200" b="1"/>
                        <a:t>a:active</a:t>
                      </a:r>
                      <a:endParaRPr lang="en-US" sz="1200" b="1">
                        <a:latin typeface="verdana"/>
                      </a:endParaRPr>
                    </a:p>
                  </a:txBody>
                  <a:tcPr marL="28733" marR="28733" marT="40226" marB="40226"/>
                </a:tc>
                <a:tc>
                  <a:txBody>
                    <a:bodyPr/>
                    <a:lstStyle/>
                    <a:p>
                      <a:pPr fontAlgn="t"/>
                      <a:r>
                        <a:rPr lang="en-US" sz="1200" b="1"/>
                        <a:t>Selects the active link</a:t>
                      </a:r>
                      <a:endParaRPr lang="en-US" sz="1200" b="1">
                        <a:latin typeface="verdana"/>
                      </a:endParaRPr>
                    </a:p>
                  </a:txBody>
                  <a:tcPr marL="28733" marR="28733" marT="40226" marB="40226"/>
                </a:tc>
              </a:tr>
              <a:tr h="245955">
                <a:tc>
                  <a:txBody>
                    <a:bodyPr/>
                    <a:lstStyle/>
                    <a:p>
                      <a:pPr fontAlgn="t"/>
                      <a:r>
                        <a:rPr lang="en-US" sz="1200" b="1">
                          <a:hlinkClick r:id="rId5"/>
                        </a:rPr>
                        <a:t>:hover</a:t>
                      </a:r>
                      <a:endParaRPr lang="en-US" sz="1200" b="1">
                        <a:latin typeface="verdana"/>
                      </a:endParaRPr>
                    </a:p>
                  </a:txBody>
                  <a:tcPr marL="28733" marR="28733" marT="40226" marB="40226"/>
                </a:tc>
                <a:tc>
                  <a:txBody>
                    <a:bodyPr/>
                    <a:lstStyle/>
                    <a:p>
                      <a:pPr fontAlgn="t"/>
                      <a:r>
                        <a:rPr lang="en-US" sz="1200" b="1"/>
                        <a:t>a:hover</a:t>
                      </a:r>
                      <a:endParaRPr lang="en-US" sz="1200" b="1">
                        <a:latin typeface="verdana"/>
                      </a:endParaRPr>
                    </a:p>
                  </a:txBody>
                  <a:tcPr marL="28733" marR="28733" marT="40226" marB="40226"/>
                </a:tc>
                <a:tc>
                  <a:txBody>
                    <a:bodyPr/>
                    <a:lstStyle/>
                    <a:p>
                      <a:pPr fontAlgn="t"/>
                      <a:r>
                        <a:rPr lang="en-US" sz="1200" b="1"/>
                        <a:t>Selects links on mouse over</a:t>
                      </a:r>
                      <a:endParaRPr lang="en-US" sz="1200" b="1">
                        <a:latin typeface="verdana"/>
                      </a:endParaRPr>
                    </a:p>
                  </a:txBody>
                  <a:tcPr marL="28733" marR="28733" marT="40226" marB="40226"/>
                </a:tc>
              </a:tr>
              <a:tr h="411457">
                <a:tc>
                  <a:txBody>
                    <a:bodyPr/>
                    <a:lstStyle/>
                    <a:p>
                      <a:pPr fontAlgn="t"/>
                      <a:r>
                        <a:rPr lang="en-US" sz="1200" b="1" dirty="0">
                          <a:hlinkClick r:id="rId6"/>
                        </a:rPr>
                        <a:t>:focus</a:t>
                      </a:r>
                      <a:endParaRPr lang="en-US" sz="1200" b="1" dirty="0">
                        <a:latin typeface="verdana"/>
                      </a:endParaRPr>
                    </a:p>
                  </a:txBody>
                  <a:tcPr marL="28733" marR="28733" marT="40226" marB="40226"/>
                </a:tc>
                <a:tc>
                  <a:txBody>
                    <a:bodyPr/>
                    <a:lstStyle/>
                    <a:p>
                      <a:pPr fontAlgn="t"/>
                      <a:r>
                        <a:rPr lang="en-US" sz="1200" b="1"/>
                        <a:t>input:focus</a:t>
                      </a:r>
                      <a:endParaRPr lang="en-US" sz="1200" b="1">
                        <a:latin typeface="verdana"/>
                      </a:endParaRPr>
                    </a:p>
                  </a:txBody>
                  <a:tcPr marL="28733" marR="28733" marT="40226" marB="40226"/>
                </a:tc>
                <a:tc>
                  <a:txBody>
                    <a:bodyPr/>
                    <a:lstStyle/>
                    <a:p>
                      <a:pPr fontAlgn="t"/>
                      <a:r>
                        <a:rPr lang="en-US" sz="1200" b="1"/>
                        <a:t>Selects the input element which has focus</a:t>
                      </a:r>
                      <a:endParaRPr lang="en-US" sz="1200" b="1">
                        <a:latin typeface="verdana"/>
                      </a:endParaRPr>
                    </a:p>
                  </a:txBody>
                  <a:tcPr marL="28733" marR="28733" marT="40226" marB="40226"/>
                </a:tc>
              </a:tr>
              <a:tr h="411457">
                <a:tc>
                  <a:txBody>
                    <a:bodyPr/>
                    <a:lstStyle/>
                    <a:p>
                      <a:pPr fontAlgn="t"/>
                      <a:r>
                        <a:rPr lang="en-US" sz="1200" b="1">
                          <a:hlinkClick r:id="rId7"/>
                        </a:rPr>
                        <a:t>:first-letter</a:t>
                      </a:r>
                      <a:endParaRPr lang="en-US" sz="1200" b="1">
                        <a:latin typeface="verdana"/>
                      </a:endParaRPr>
                    </a:p>
                  </a:txBody>
                  <a:tcPr marL="28733" marR="28733" marT="40226" marB="40226"/>
                </a:tc>
                <a:tc>
                  <a:txBody>
                    <a:bodyPr/>
                    <a:lstStyle/>
                    <a:p>
                      <a:pPr fontAlgn="t"/>
                      <a:r>
                        <a:rPr lang="en-US" sz="1200" b="1"/>
                        <a:t>p:first-letter</a:t>
                      </a:r>
                      <a:endParaRPr lang="en-US" sz="1200" b="1">
                        <a:latin typeface="verdana"/>
                      </a:endParaRPr>
                    </a:p>
                  </a:txBody>
                  <a:tcPr marL="28733" marR="28733" marT="40226" marB="40226"/>
                </a:tc>
                <a:tc>
                  <a:txBody>
                    <a:bodyPr/>
                    <a:lstStyle/>
                    <a:p>
                      <a:pPr fontAlgn="t"/>
                      <a:r>
                        <a:rPr lang="en-US" sz="1200" b="1"/>
                        <a:t>Selects the first letter of every &lt;p&gt; element</a:t>
                      </a:r>
                      <a:endParaRPr lang="en-US" sz="1200" b="1">
                        <a:latin typeface="verdana"/>
                      </a:endParaRPr>
                    </a:p>
                  </a:txBody>
                  <a:tcPr marL="28733" marR="28733" marT="40226" marB="40226"/>
                </a:tc>
              </a:tr>
              <a:tr h="411457">
                <a:tc>
                  <a:txBody>
                    <a:bodyPr/>
                    <a:lstStyle/>
                    <a:p>
                      <a:pPr fontAlgn="t"/>
                      <a:r>
                        <a:rPr lang="en-US" sz="1200" b="1">
                          <a:hlinkClick r:id="rId8"/>
                        </a:rPr>
                        <a:t>:first-line</a:t>
                      </a:r>
                      <a:endParaRPr lang="en-US" sz="1200" b="1">
                        <a:latin typeface="verdana"/>
                      </a:endParaRPr>
                    </a:p>
                  </a:txBody>
                  <a:tcPr marL="28733" marR="28733" marT="40226" marB="40226"/>
                </a:tc>
                <a:tc>
                  <a:txBody>
                    <a:bodyPr/>
                    <a:lstStyle/>
                    <a:p>
                      <a:pPr fontAlgn="t"/>
                      <a:r>
                        <a:rPr lang="en-US" sz="1200" b="1"/>
                        <a:t>p:first-line</a:t>
                      </a:r>
                      <a:endParaRPr lang="en-US" sz="1200" b="1">
                        <a:latin typeface="verdana"/>
                      </a:endParaRPr>
                    </a:p>
                  </a:txBody>
                  <a:tcPr marL="28733" marR="28733" marT="40226" marB="40226"/>
                </a:tc>
                <a:tc>
                  <a:txBody>
                    <a:bodyPr/>
                    <a:lstStyle/>
                    <a:p>
                      <a:pPr fontAlgn="t"/>
                      <a:r>
                        <a:rPr lang="en-US" sz="1200" b="1"/>
                        <a:t>Selects the first line of every &lt;p&gt; element</a:t>
                      </a:r>
                      <a:endParaRPr lang="en-US" sz="1200" b="1">
                        <a:latin typeface="verdana"/>
                      </a:endParaRPr>
                    </a:p>
                  </a:txBody>
                  <a:tcPr marL="28733" marR="28733" marT="40226" marB="40226"/>
                </a:tc>
              </a:tr>
              <a:tr h="411457">
                <a:tc>
                  <a:txBody>
                    <a:bodyPr/>
                    <a:lstStyle/>
                    <a:p>
                      <a:pPr fontAlgn="t"/>
                      <a:r>
                        <a:rPr lang="en-US" sz="1200" b="1">
                          <a:hlinkClick r:id="rId9"/>
                        </a:rPr>
                        <a:t>:first-child</a:t>
                      </a:r>
                      <a:endParaRPr lang="en-US" sz="1200" b="1">
                        <a:latin typeface="verdana"/>
                      </a:endParaRPr>
                    </a:p>
                  </a:txBody>
                  <a:tcPr marL="28733" marR="28733" marT="40226" marB="40226"/>
                </a:tc>
                <a:tc>
                  <a:txBody>
                    <a:bodyPr/>
                    <a:lstStyle/>
                    <a:p>
                      <a:pPr fontAlgn="t"/>
                      <a:r>
                        <a:rPr lang="en-US" sz="1200" b="1"/>
                        <a:t>p:first-child</a:t>
                      </a:r>
                      <a:endParaRPr lang="en-US" sz="1200" b="1">
                        <a:latin typeface="verdana"/>
                      </a:endParaRPr>
                    </a:p>
                  </a:txBody>
                  <a:tcPr marL="28733" marR="28733" marT="40226" marB="40226"/>
                </a:tc>
                <a:tc>
                  <a:txBody>
                    <a:bodyPr/>
                    <a:lstStyle/>
                    <a:p>
                      <a:pPr fontAlgn="t"/>
                      <a:r>
                        <a:rPr lang="en-US" sz="1200" b="1"/>
                        <a:t>Selects every &lt;p&gt; elements that is the first child of its parent</a:t>
                      </a:r>
                      <a:endParaRPr lang="en-US" sz="1200" b="1">
                        <a:latin typeface="verdana"/>
                      </a:endParaRPr>
                    </a:p>
                  </a:txBody>
                  <a:tcPr marL="28733" marR="28733" marT="40226" marB="40226"/>
                </a:tc>
              </a:tr>
              <a:tr h="411457">
                <a:tc>
                  <a:txBody>
                    <a:bodyPr/>
                    <a:lstStyle/>
                    <a:p>
                      <a:pPr fontAlgn="t"/>
                      <a:r>
                        <a:rPr lang="en-US" sz="1200" b="1">
                          <a:hlinkClick r:id="rId10"/>
                        </a:rPr>
                        <a:t>:before</a:t>
                      </a:r>
                      <a:endParaRPr lang="en-US" sz="1200" b="1">
                        <a:latin typeface="verdana"/>
                      </a:endParaRPr>
                    </a:p>
                  </a:txBody>
                  <a:tcPr marL="28733" marR="28733" marT="40226" marB="40226"/>
                </a:tc>
                <a:tc>
                  <a:txBody>
                    <a:bodyPr/>
                    <a:lstStyle/>
                    <a:p>
                      <a:pPr fontAlgn="t"/>
                      <a:r>
                        <a:rPr lang="en-US" sz="1200" b="1"/>
                        <a:t>p:before</a:t>
                      </a:r>
                      <a:endParaRPr lang="en-US" sz="1200" b="1">
                        <a:latin typeface="verdana"/>
                      </a:endParaRPr>
                    </a:p>
                  </a:txBody>
                  <a:tcPr marL="28733" marR="28733" marT="40226" marB="40226"/>
                </a:tc>
                <a:tc>
                  <a:txBody>
                    <a:bodyPr/>
                    <a:lstStyle/>
                    <a:p>
                      <a:pPr fontAlgn="t"/>
                      <a:r>
                        <a:rPr lang="en-US" sz="1200" b="1" dirty="0"/>
                        <a:t>Insert content before every &lt;p&gt; element</a:t>
                      </a:r>
                      <a:endParaRPr lang="en-US" sz="1200" b="1" dirty="0">
                        <a:latin typeface="verdana"/>
                      </a:endParaRPr>
                    </a:p>
                  </a:txBody>
                  <a:tcPr marL="28733" marR="28733" marT="40226" marB="40226"/>
                </a:tc>
              </a:tr>
              <a:tr h="411457">
                <a:tc>
                  <a:txBody>
                    <a:bodyPr/>
                    <a:lstStyle/>
                    <a:p>
                      <a:pPr fontAlgn="t"/>
                      <a:r>
                        <a:rPr lang="en-US" sz="1200" b="1">
                          <a:hlinkClick r:id="rId11"/>
                        </a:rPr>
                        <a:t>:after</a:t>
                      </a:r>
                      <a:endParaRPr lang="en-US" sz="1200" b="1">
                        <a:latin typeface="verdana"/>
                      </a:endParaRPr>
                    </a:p>
                  </a:txBody>
                  <a:tcPr marL="28733" marR="28733" marT="40226" marB="40226"/>
                </a:tc>
                <a:tc>
                  <a:txBody>
                    <a:bodyPr/>
                    <a:lstStyle/>
                    <a:p>
                      <a:pPr fontAlgn="t"/>
                      <a:r>
                        <a:rPr lang="en-US" sz="1200" b="1"/>
                        <a:t>p:after</a:t>
                      </a:r>
                      <a:endParaRPr lang="en-US" sz="1200" b="1">
                        <a:latin typeface="verdana"/>
                      </a:endParaRPr>
                    </a:p>
                  </a:txBody>
                  <a:tcPr marL="28733" marR="28733" marT="40226" marB="40226"/>
                </a:tc>
                <a:tc>
                  <a:txBody>
                    <a:bodyPr/>
                    <a:lstStyle/>
                    <a:p>
                      <a:pPr fontAlgn="t"/>
                      <a:r>
                        <a:rPr lang="en-US" sz="1200" b="1"/>
                        <a:t>Insert content after every &lt;p&gt; element</a:t>
                      </a:r>
                      <a:endParaRPr lang="en-US" sz="1200" b="1">
                        <a:latin typeface="verdana"/>
                      </a:endParaRPr>
                    </a:p>
                  </a:txBody>
                  <a:tcPr marL="28733" marR="28733" marT="40226" marB="40226"/>
                </a:tc>
              </a:tr>
              <a:tr h="411457">
                <a:tc>
                  <a:txBody>
                    <a:bodyPr/>
                    <a:lstStyle/>
                    <a:p>
                      <a:pPr fontAlgn="t"/>
                      <a:r>
                        <a:rPr lang="en-US" sz="1200" b="1">
                          <a:hlinkClick r:id="rId12"/>
                        </a:rPr>
                        <a:t>:lang(language)</a:t>
                      </a:r>
                      <a:endParaRPr lang="en-US" sz="1200" b="1">
                        <a:latin typeface="verdana"/>
                      </a:endParaRPr>
                    </a:p>
                  </a:txBody>
                  <a:tcPr marL="28733" marR="28733" marT="40226" marB="40226"/>
                </a:tc>
                <a:tc>
                  <a:txBody>
                    <a:bodyPr/>
                    <a:lstStyle/>
                    <a:p>
                      <a:pPr fontAlgn="t"/>
                      <a:r>
                        <a:rPr lang="en-US" sz="1200" b="1"/>
                        <a:t>p:lang(it)</a:t>
                      </a:r>
                      <a:endParaRPr lang="en-US" sz="1200" b="1">
                        <a:latin typeface="verdana"/>
                      </a:endParaRPr>
                    </a:p>
                  </a:txBody>
                  <a:tcPr marL="28733" marR="28733" marT="40226" marB="40226"/>
                </a:tc>
                <a:tc>
                  <a:txBody>
                    <a:bodyPr/>
                    <a:lstStyle/>
                    <a:p>
                      <a:pPr fontAlgn="t"/>
                      <a:r>
                        <a:rPr lang="en-US" sz="1200" b="1" dirty="0"/>
                        <a:t>Selects every &lt;p&gt; element with a </a:t>
                      </a:r>
                      <a:r>
                        <a:rPr lang="en-US" sz="1200" b="1" dirty="0" err="1"/>
                        <a:t>lang</a:t>
                      </a:r>
                      <a:r>
                        <a:rPr lang="en-US" sz="1200" b="1" dirty="0"/>
                        <a:t> attribute value starting with "it"</a:t>
                      </a:r>
                      <a:endParaRPr lang="en-US" sz="1200" b="1" dirty="0">
                        <a:latin typeface="verdana"/>
                      </a:endParaRPr>
                    </a:p>
                  </a:txBody>
                  <a:tcPr marL="28733" marR="28733" marT="40226" marB="40226"/>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Pseudo Classes/Elements</a:t>
            </a:r>
            <a:endParaRPr lang="en-US" sz="4800" dirty="0" smtClean="0"/>
          </a:p>
        </p:txBody>
      </p:sp>
      <p:sp>
        <p:nvSpPr>
          <p:cNvPr id="13"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5" name="Rectangle 14"/>
          <p:cNvSpPr/>
          <p:nvPr/>
        </p:nvSpPr>
        <p:spPr>
          <a:xfrm>
            <a:off x="785786" y="1785926"/>
            <a:ext cx="6984776" cy="1477328"/>
          </a:xfrm>
          <a:prstGeom prst="rect">
            <a:avLst/>
          </a:prstGeom>
        </p:spPr>
        <p:txBody>
          <a:bodyPr wrap="square">
            <a:spAutoFit/>
          </a:bodyPr>
          <a:lstStyle/>
          <a:p>
            <a:r>
              <a:rPr lang="en-US" b="1" dirty="0" smtClean="0">
                <a:solidFill>
                  <a:schemeClr val="accent2"/>
                </a:solidFill>
              </a:rPr>
              <a:t>A PSEUDO-</a:t>
            </a:r>
            <a:r>
              <a:rPr lang="hy-AM" b="1" dirty="0" smtClean="0">
                <a:solidFill>
                  <a:schemeClr val="accent2"/>
                </a:solidFill>
              </a:rPr>
              <a:t>CLASS</a:t>
            </a:r>
            <a:r>
              <a:rPr lang="en-US" b="1" dirty="0" smtClean="0">
                <a:solidFill>
                  <a:schemeClr val="accent2"/>
                </a:solidFill>
              </a:rPr>
              <a:t> is way of selecting certain parts of a HTML document, based in principle not on the HTML document tree itself and its elements or on characteristics like name, attributes or contents, but on other phantom conditions like language encoding or the dynamic state of an element.</a:t>
            </a:r>
            <a:endParaRPr lang="en-US" b="1" dirty="0">
              <a:solidFill>
                <a:schemeClr val="accent2"/>
              </a:solidFill>
            </a:endParaRPr>
          </a:p>
        </p:txBody>
      </p:sp>
      <p:pic>
        <p:nvPicPr>
          <p:cNvPr id="1026" name="Picture 2" descr="C:\Users\Araik\Desktop\Untitled.png"/>
          <p:cNvPicPr>
            <a:picLocks noChangeAspect="1" noChangeArrowheads="1"/>
          </p:cNvPicPr>
          <p:nvPr/>
        </p:nvPicPr>
        <p:blipFill>
          <a:blip r:embed="rId2" cstate="print"/>
          <a:srcRect b="13952"/>
          <a:stretch>
            <a:fillRect/>
          </a:stretch>
        </p:blipFill>
        <p:spPr bwMode="auto">
          <a:xfrm>
            <a:off x="2928926" y="4214818"/>
            <a:ext cx="4743450" cy="1008112"/>
          </a:xfrm>
          <a:prstGeom prst="rect">
            <a:avLst/>
          </a:prstGeom>
          <a:noFill/>
          <a:effectLst>
            <a:glow rad="139700">
              <a:schemeClr val="accent2">
                <a:satMod val="175000"/>
                <a:alpha val="40000"/>
              </a:schemeClr>
            </a:glow>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1" name="TextBox 10"/>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Pseudo Classes/Elements</a:t>
            </a:r>
            <a:endParaRPr lang="en-US" sz="4800" dirty="0" smtClean="0"/>
          </a:p>
        </p:txBody>
      </p:sp>
      <p:sp>
        <p:nvSpPr>
          <p:cNvPr id="13"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8" name="TextBox 17"/>
          <p:cNvSpPr txBox="1"/>
          <p:nvPr/>
        </p:nvSpPr>
        <p:spPr>
          <a:xfrm>
            <a:off x="755576" y="1268760"/>
            <a:ext cx="100811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smtClean="0">
                <a:solidFill>
                  <a:schemeClr val="accent2"/>
                </a:solidFill>
              </a:rPr>
              <a:t>:f</a:t>
            </a:r>
            <a:r>
              <a:rPr lang="hy-AM" b="1" dirty="0" smtClean="0">
                <a:solidFill>
                  <a:schemeClr val="accent2"/>
                </a:solidFill>
              </a:rPr>
              <a:t>ocus</a:t>
            </a:r>
            <a:endParaRPr lang="en-US" b="1" dirty="0" smtClean="0">
              <a:solidFill>
                <a:schemeClr val="accent2"/>
              </a:solidFill>
              <a:latin typeface="verdana"/>
            </a:endParaRPr>
          </a:p>
        </p:txBody>
      </p:sp>
      <p:pic>
        <p:nvPicPr>
          <p:cNvPr id="2" name="Picture 1" descr="C:\Users\Araik\Desktop\Untitled.png"/>
          <p:cNvPicPr>
            <a:picLocks noChangeAspect="1" noChangeArrowheads="1"/>
          </p:cNvPicPr>
          <p:nvPr/>
        </p:nvPicPr>
        <p:blipFill>
          <a:blip r:embed="rId2" cstate="print"/>
          <a:srcRect/>
          <a:stretch>
            <a:fillRect/>
          </a:stretch>
        </p:blipFill>
        <p:spPr bwMode="auto">
          <a:xfrm>
            <a:off x="467544" y="2132856"/>
            <a:ext cx="5904656" cy="959847"/>
          </a:xfrm>
          <a:prstGeom prst="rect">
            <a:avLst/>
          </a:prstGeom>
          <a:noFill/>
          <a:effectLst>
            <a:glow rad="63500">
              <a:schemeClr val="accent1">
                <a:satMod val="175000"/>
                <a:alpha val="40000"/>
              </a:schemeClr>
            </a:glow>
          </a:effectLst>
        </p:spPr>
      </p:pic>
      <p:pic>
        <p:nvPicPr>
          <p:cNvPr id="3" name="Picture 2" descr="C:\Users\Araik\Desktop\Untitled.png"/>
          <p:cNvPicPr>
            <a:picLocks noChangeAspect="1" noChangeArrowheads="1"/>
          </p:cNvPicPr>
          <p:nvPr/>
        </p:nvPicPr>
        <p:blipFill>
          <a:blip r:embed="rId3" cstate="print"/>
          <a:srcRect/>
          <a:stretch>
            <a:fillRect/>
          </a:stretch>
        </p:blipFill>
        <p:spPr bwMode="auto">
          <a:xfrm>
            <a:off x="5436096" y="4077072"/>
            <a:ext cx="3524250" cy="266700"/>
          </a:xfrm>
          <a:prstGeom prst="rect">
            <a:avLst/>
          </a:prstGeom>
          <a:noFill/>
          <a:effectLst>
            <a:glow rad="63500">
              <a:schemeClr val="accent2">
                <a:satMod val="175000"/>
                <a:alpha val="40000"/>
              </a:schemeClr>
            </a:glow>
          </a:effectLst>
        </p:spPr>
      </p:pic>
      <p:sp>
        <p:nvSpPr>
          <p:cNvPr id="24" name="TextBox 23"/>
          <p:cNvSpPr txBox="1"/>
          <p:nvPr/>
        </p:nvSpPr>
        <p:spPr>
          <a:xfrm>
            <a:off x="2411760" y="1700808"/>
            <a:ext cx="1224136" cy="369332"/>
          </a:xfrm>
          <a:prstGeom prst="rect">
            <a:avLst/>
          </a:prstGeom>
          <a:noFill/>
        </p:spPr>
        <p:txBody>
          <a:bodyPr wrap="square" rtlCol="0">
            <a:spAutoFit/>
          </a:bodyPr>
          <a:lstStyle/>
          <a:p>
            <a:r>
              <a:rPr lang="hy-AM" b="1" dirty="0" smtClean="0">
                <a:solidFill>
                  <a:schemeClr val="accent2"/>
                </a:solidFill>
              </a:rPr>
              <a:t>doc.html</a:t>
            </a:r>
            <a:endParaRPr lang="en-US" b="1" dirty="0">
              <a:solidFill>
                <a:schemeClr val="accent2"/>
              </a:solidFill>
            </a:endParaRPr>
          </a:p>
        </p:txBody>
      </p:sp>
      <p:sp>
        <p:nvSpPr>
          <p:cNvPr id="25" name="TextBox 24"/>
          <p:cNvSpPr txBox="1"/>
          <p:nvPr/>
        </p:nvSpPr>
        <p:spPr>
          <a:xfrm>
            <a:off x="6372200" y="3429000"/>
            <a:ext cx="1224136" cy="369332"/>
          </a:xfrm>
          <a:prstGeom prst="rect">
            <a:avLst/>
          </a:prstGeom>
          <a:noFill/>
        </p:spPr>
        <p:txBody>
          <a:bodyPr wrap="square" rtlCol="0">
            <a:spAutoFit/>
          </a:bodyPr>
          <a:lstStyle/>
          <a:p>
            <a:r>
              <a:rPr lang="hy-AM" b="1" dirty="0" smtClean="0">
                <a:solidFill>
                  <a:schemeClr val="accent2"/>
                </a:solidFill>
              </a:rPr>
              <a:t>style.css</a:t>
            </a:r>
            <a:endParaRPr lang="en-US" b="1" dirty="0">
              <a:solidFill>
                <a:schemeClr val="accent2"/>
              </a:solidFill>
            </a:endParaRPr>
          </a:p>
        </p:txBody>
      </p:sp>
      <p:pic>
        <p:nvPicPr>
          <p:cNvPr id="11267" name="Picture 3" descr="C:\Users\Araik\Desktop\Untitled.png"/>
          <p:cNvPicPr>
            <a:picLocks noChangeAspect="1" noChangeArrowheads="1"/>
          </p:cNvPicPr>
          <p:nvPr/>
        </p:nvPicPr>
        <p:blipFill>
          <a:blip r:embed="rId4" cstate="print"/>
          <a:srcRect/>
          <a:stretch>
            <a:fillRect/>
          </a:stretch>
        </p:blipFill>
        <p:spPr bwMode="auto">
          <a:xfrm>
            <a:off x="1547664" y="4221088"/>
            <a:ext cx="3024336" cy="926056"/>
          </a:xfrm>
          <a:prstGeom prst="rect">
            <a:avLst/>
          </a:prstGeom>
          <a:noFill/>
          <a:effectLst>
            <a:glow rad="101600">
              <a:srgbClr val="FFFF00">
                <a:alpha val="60000"/>
              </a:srgbClr>
            </a:glow>
          </a:effectLst>
        </p:spPr>
      </p:pic>
      <p:sp>
        <p:nvSpPr>
          <p:cNvPr id="29" name="Left-Right-Up Arrow 28"/>
          <p:cNvSpPr/>
          <p:nvPr/>
        </p:nvSpPr>
        <p:spPr>
          <a:xfrm rot="13422340">
            <a:off x="4115088" y="3431674"/>
            <a:ext cx="1067951" cy="564754"/>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2" name="TextBox 11"/>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Pseudo Classes/Elements</a:t>
            </a:r>
            <a:endParaRPr lang="en-US" sz="4800" dirty="0" smtClean="0"/>
          </a:p>
        </p:txBody>
      </p:sp>
      <p:sp>
        <p:nvSpPr>
          <p:cNvPr id="14"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8" name="Rectangle 17"/>
          <p:cNvSpPr/>
          <p:nvPr/>
        </p:nvSpPr>
        <p:spPr>
          <a:xfrm>
            <a:off x="1214414" y="1714488"/>
            <a:ext cx="6696744" cy="1200329"/>
          </a:xfrm>
          <a:prstGeom prst="rect">
            <a:avLst/>
          </a:prstGeom>
        </p:spPr>
        <p:txBody>
          <a:bodyPr wrap="square">
            <a:spAutoFit/>
          </a:bodyPr>
          <a:lstStyle/>
          <a:p>
            <a:r>
              <a:rPr lang="en-US" b="1" dirty="0" smtClean="0">
                <a:solidFill>
                  <a:schemeClr val="accent2"/>
                </a:solidFill>
              </a:rPr>
              <a:t>PSEUDO-ELEMENTS are used to address sub-parts of elements. They allow you to set style on a part of an element's content beyond what is specified in the documents.</a:t>
            </a:r>
            <a:endParaRPr lang="en-US" b="1" dirty="0">
              <a:solidFill>
                <a:schemeClr val="accent2"/>
              </a:solidFill>
            </a:endParaRPr>
          </a:p>
        </p:txBody>
      </p:sp>
      <p:pic>
        <p:nvPicPr>
          <p:cNvPr id="2" name="Picture 1" descr="C:\Users\Araik\Desktop\Untitled.png"/>
          <p:cNvPicPr>
            <a:picLocks noChangeAspect="1" noChangeArrowheads="1"/>
          </p:cNvPicPr>
          <p:nvPr/>
        </p:nvPicPr>
        <p:blipFill>
          <a:blip r:embed="rId2" cstate="print"/>
          <a:srcRect/>
          <a:stretch>
            <a:fillRect/>
          </a:stretch>
        </p:blipFill>
        <p:spPr bwMode="auto">
          <a:xfrm>
            <a:off x="5072066" y="3286124"/>
            <a:ext cx="2757860" cy="2867735"/>
          </a:xfrm>
          <a:prstGeom prst="rect">
            <a:avLst/>
          </a:prstGeom>
          <a:noFill/>
          <a:effectLst>
            <a:glow rad="101600">
              <a:srgbClr val="00B050">
                <a:alpha val="60000"/>
              </a:srgbClr>
            </a:glow>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1" name="TextBox 10"/>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Pseudo Classes/Elements</a:t>
            </a:r>
            <a:endParaRPr lang="en-US" sz="4800" dirty="0" smtClean="0"/>
          </a:p>
        </p:txBody>
      </p:sp>
      <p:sp>
        <p:nvSpPr>
          <p:cNvPr id="13"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4" name="TextBox 13"/>
          <p:cNvSpPr txBox="1"/>
          <p:nvPr/>
        </p:nvSpPr>
        <p:spPr>
          <a:xfrm>
            <a:off x="755576" y="1268760"/>
            <a:ext cx="266429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smtClean="0">
                <a:solidFill>
                  <a:schemeClr val="accent2"/>
                </a:solidFill>
              </a:rPr>
              <a:t>:f</a:t>
            </a:r>
            <a:r>
              <a:rPr lang="hy-AM" b="1" dirty="0" smtClean="0">
                <a:solidFill>
                  <a:schemeClr val="accent2"/>
                </a:solidFill>
              </a:rPr>
              <a:t>irst-letter , first-line</a:t>
            </a:r>
            <a:endParaRPr lang="en-US" b="1" dirty="0" smtClean="0">
              <a:solidFill>
                <a:schemeClr val="accent2"/>
              </a:solidFill>
              <a:latin typeface="verdana"/>
            </a:endParaRPr>
          </a:p>
        </p:txBody>
      </p:sp>
      <p:sp>
        <p:nvSpPr>
          <p:cNvPr id="22" name="TextBox 21"/>
          <p:cNvSpPr txBox="1"/>
          <p:nvPr/>
        </p:nvSpPr>
        <p:spPr>
          <a:xfrm>
            <a:off x="251520" y="2996952"/>
            <a:ext cx="1224136" cy="369332"/>
          </a:xfrm>
          <a:prstGeom prst="rect">
            <a:avLst/>
          </a:prstGeom>
          <a:noFill/>
        </p:spPr>
        <p:txBody>
          <a:bodyPr wrap="square" rtlCol="0">
            <a:spAutoFit/>
          </a:bodyPr>
          <a:lstStyle/>
          <a:p>
            <a:r>
              <a:rPr lang="hy-AM" b="1" dirty="0" smtClean="0">
                <a:solidFill>
                  <a:schemeClr val="accent2"/>
                </a:solidFill>
              </a:rPr>
              <a:t>doc.html</a:t>
            </a:r>
            <a:endParaRPr lang="en-US" b="1" dirty="0">
              <a:solidFill>
                <a:schemeClr val="accent2"/>
              </a:solidFill>
            </a:endParaRPr>
          </a:p>
        </p:txBody>
      </p:sp>
      <p:sp>
        <p:nvSpPr>
          <p:cNvPr id="23" name="TextBox 22"/>
          <p:cNvSpPr txBox="1"/>
          <p:nvPr/>
        </p:nvSpPr>
        <p:spPr>
          <a:xfrm>
            <a:off x="539552" y="1844824"/>
            <a:ext cx="1224136" cy="369332"/>
          </a:xfrm>
          <a:prstGeom prst="rect">
            <a:avLst/>
          </a:prstGeom>
          <a:noFill/>
        </p:spPr>
        <p:txBody>
          <a:bodyPr wrap="square" rtlCol="0">
            <a:spAutoFit/>
          </a:bodyPr>
          <a:lstStyle/>
          <a:p>
            <a:r>
              <a:rPr lang="hy-AM" b="1" dirty="0" smtClean="0">
                <a:solidFill>
                  <a:schemeClr val="accent2"/>
                </a:solidFill>
              </a:rPr>
              <a:t>style.css</a:t>
            </a:r>
            <a:endParaRPr lang="en-US" b="1" dirty="0">
              <a:solidFill>
                <a:schemeClr val="accent2"/>
              </a:solidFill>
            </a:endParaRPr>
          </a:p>
        </p:txBody>
      </p:sp>
      <p:pic>
        <p:nvPicPr>
          <p:cNvPr id="2" name="Picture 1" descr="C:\Users\Araik\Desktop\Untitled.png"/>
          <p:cNvPicPr>
            <a:picLocks noChangeAspect="1" noChangeArrowheads="1"/>
          </p:cNvPicPr>
          <p:nvPr/>
        </p:nvPicPr>
        <p:blipFill>
          <a:blip r:embed="rId2" cstate="print"/>
          <a:srcRect/>
          <a:stretch>
            <a:fillRect/>
          </a:stretch>
        </p:blipFill>
        <p:spPr bwMode="auto">
          <a:xfrm>
            <a:off x="323528" y="3501008"/>
            <a:ext cx="3560837" cy="725922"/>
          </a:xfrm>
          <a:prstGeom prst="rect">
            <a:avLst/>
          </a:prstGeom>
          <a:noFill/>
          <a:effectLst>
            <a:glow rad="101600">
              <a:srgbClr val="7030A0">
                <a:alpha val="60000"/>
              </a:srgbClr>
            </a:glow>
          </a:effectLst>
        </p:spPr>
      </p:pic>
      <p:pic>
        <p:nvPicPr>
          <p:cNvPr id="10244" name="Picture 4" descr="C:\Users\Araik\Desktop\Untitled.png"/>
          <p:cNvPicPr>
            <a:picLocks noChangeAspect="1" noChangeArrowheads="1"/>
          </p:cNvPicPr>
          <p:nvPr/>
        </p:nvPicPr>
        <p:blipFill>
          <a:blip r:embed="rId3" cstate="print"/>
          <a:srcRect/>
          <a:stretch>
            <a:fillRect/>
          </a:stretch>
        </p:blipFill>
        <p:spPr bwMode="auto">
          <a:xfrm>
            <a:off x="1619672" y="2204864"/>
            <a:ext cx="1905000" cy="1038225"/>
          </a:xfrm>
          <a:prstGeom prst="rect">
            <a:avLst/>
          </a:prstGeom>
          <a:noFill/>
          <a:effectLst>
            <a:glow rad="101600">
              <a:srgbClr val="00B0F0">
                <a:alpha val="60000"/>
              </a:srgbClr>
            </a:glow>
          </a:effectLst>
        </p:spPr>
      </p:pic>
      <p:pic>
        <p:nvPicPr>
          <p:cNvPr id="4" name="Picture 5" descr="C:\Users\Araik\Desktop\Untitled.png"/>
          <p:cNvPicPr>
            <a:picLocks noChangeAspect="1" noChangeArrowheads="1"/>
          </p:cNvPicPr>
          <p:nvPr/>
        </p:nvPicPr>
        <p:blipFill>
          <a:blip r:embed="rId4" cstate="print"/>
          <a:srcRect/>
          <a:stretch>
            <a:fillRect/>
          </a:stretch>
        </p:blipFill>
        <p:spPr bwMode="auto">
          <a:xfrm>
            <a:off x="827584" y="4869160"/>
            <a:ext cx="2362200" cy="504825"/>
          </a:xfrm>
          <a:prstGeom prst="rect">
            <a:avLst/>
          </a:prstGeom>
          <a:noFill/>
          <a:effectLst>
            <a:glow rad="101600">
              <a:srgbClr val="00B0F0">
                <a:alpha val="60000"/>
              </a:srgbClr>
            </a:glow>
          </a:effectLst>
        </p:spPr>
      </p:pic>
      <p:pic>
        <p:nvPicPr>
          <p:cNvPr id="10246" name="Picture 6" descr="C:\Users\Araik\Desktop\Untitled.png"/>
          <p:cNvPicPr>
            <a:picLocks noChangeAspect="1" noChangeArrowheads="1"/>
          </p:cNvPicPr>
          <p:nvPr/>
        </p:nvPicPr>
        <p:blipFill>
          <a:blip r:embed="rId5" cstate="print"/>
          <a:srcRect b="15487"/>
          <a:stretch>
            <a:fillRect/>
          </a:stretch>
        </p:blipFill>
        <p:spPr bwMode="auto">
          <a:xfrm>
            <a:off x="5796135" y="4365104"/>
            <a:ext cx="1590457" cy="1008112"/>
          </a:xfrm>
          <a:prstGeom prst="rect">
            <a:avLst/>
          </a:prstGeom>
          <a:noFill/>
          <a:effectLst>
            <a:glow rad="101600">
              <a:schemeClr val="accent2">
                <a:satMod val="175000"/>
                <a:alpha val="40000"/>
              </a:schemeClr>
            </a:glow>
          </a:effectLst>
        </p:spPr>
      </p:pic>
      <p:sp>
        <p:nvSpPr>
          <p:cNvPr id="28" name="Right Arrow 27"/>
          <p:cNvSpPr/>
          <p:nvPr/>
        </p:nvSpPr>
        <p:spPr>
          <a:xfrm>
            <a:off x="3779912" y="5013176"/>
            <a:ext cx="1368152"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251520" y="4437112"/>
            <a:ext cx="1224136" cy="369332"/>
          </a:xfrm>
          <a:prstGeom prst="rect">
            <a:avLst/>
          </a:prstGeom>
          <a:noFill/>
        </p:spPr>
        <p:txBody>
          <a:bodyPr wrap="square" rtlCol="0">
            <a:spAutoFit/>
          </a:bodyPr>
          <a:lstStyle/>
          <a:p>
            <a:r>
              <a:rPr lang="hy-AM" b="1" dirty="0" smtClean="0">
                <a:solidFill>
                  <a:schemeClr val="accent2"/>
                </a:solidFill>
              </a:rPr>
              <a:t>style.css</a:t>
            </a:r>
            <a:endParaRPr lang="en-US" b="1" dirty="0">
              <a:solidFill>
                <a:schemeClr val="accent2"/>
              </a:solidFill>
            </a:endParaRPr>
          </a:p>
        </p:txBody>
      </p:sp>
      <p:pic>
        <p:nvPicPr>
          <p:cNvPr id="10247" name="Picture 7" descr="C:\Users\Araik\Desktop\Untitled.png"/>
          <p:cNvPicPr>
            <a:picLocks noChangeAspect="1" noChangeArrowheads="1"/>
          </p:cNvPicPr>
          <p:nvPr/>
        </p:nvPicPr>
        <p:blipFill>
          <a:blip r:embed="rId6" cstate="print"/>
          <a:srcRect/>
          <a:stretch>
            <a:fillRect/>
          </a:stretch>
        </p:blipFill>
        <p:spPr bwMode="auto">
          <a:xfrm>
            <a:off x="5724128" y="2060848"/>
            <a:ext cx="1440160" cy="1152128"/>
          </a:xfrm>
          <a:prstGeom prst="rect">
            <a:avLst/>
          </a:prstGeom>
          <a:noFill/>
          <a:effectLst>
            <a:glow rad="101600">
              <a:schemeClr val="accent2">
                <a:satMod val="175000"/>
                <a:alpha val="40000"/>
              </a:schemeClr>
            </a:glow>
          </a:effectLst>
        </p:spPr>
      </p:pic>
      <p:sp>
        <p:nvSpPr>
          <p:cNvPr id="31" name="Right Arrow 30"/>
          <p:cNvSpPr/>
          <p:nvPr/>
        </p:nvSpPr>
        <p:spPr>
          <a:xfrm>
            <a:off x="3923928" y="2564904"/>
            <a:ext cx="1368152"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Left-Up Arrow 31"/>
          <p:cNvSpPr/>
          <p:nvPr/>
        </p:nvSpPr>
        <p:spPr>
          <a:xfrm rot="7784136">
            <a:off x="4494308" y="3385388"/>
            <a:ext cx="903976" cy="971119"/>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Pseudo Classes/Elements</a:t>
            </a:r>
            <a:endParaRPr lang="en-US" sz="4800" dirty="0" smtClean="0"/>
          </a:p>
        </p:txBody>
      </p:sp>
      <p:sp>
        <p:nvSpPr>
          <p:cNvPr id="13"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4" name="TextBox 13"/>
          <p:cNvSpPr txBox="1"/>
          <p:nvPr/>
        </p:nvSpPr>
        <p:spPr>
          <a:xfrm>
            <a:off x="755576" y="1268760"/>
            <a:ext cx="266429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smtClean="0">
                <a:solidFill>
                  <a:schemeClr val="accent2"/>
                </a:solidFill>
              </a:rPr>
              <a:t>:</a:t>
            </a:r>
            <a:r>
              <a:rPr lang="hy-AM" b="1" dirty="0" smtClean="0">
                <a:solidFill>
                  <a:schemeClr val="accent2"/>
                </a:solidFill>
              </a:rPr>
              <a:t>before, after</a:t>
            </a:r>
            <a:endParaRPr lang="en-US" b="1" dirty="0" smtClean="0">
              <a:solidFill>
                <a:schemeClr val="accent2"/>
              </a:solidFill>
              <a:latin typeface="verdana"/>
            </a:endParaRPr>
          </a:p>
        </p:txBody>
      </p:sp>
      <p:sp>
        <p:nvSpPr>
          <p:cNvPr id="19" name="TextBox 18"/>
          <p:cNvSpPr txBox="1"/>
          <p:nvPr/>
        </p:nvSpPr>
        <p:spPr>
          <a:xfrm>
            <a:off x="251520" y="2996952"/>
            <a:ext cx="1224136" cy="369332"/>
          </a:xfrm>
          <a:prstGeom prst="rect">
            <a:avLst/>
          </a:prstGeom>
          <a:noFill/>
        </p:spPr>
        <p:txBody>
          <a:bodyPr wrap="square" rtlCol="0">
            <a:spAutoFit/>
          </a:bodyPr>
          <a:lstStyle/>
          <a:p>
            <a:r>
              <a:rPr lang="hy-AM" b="1" dirty="0" smtClean="0">
                <a:solidFill>
                  <a:schemeClr val="accent2"/>
                </a:solidFill>
              </a:rPr>
              <a:t>doc.html</a:t>
            </a:r>
            <a:endParaRPr lang="en-US" b="1" dirty="0">
              <a:solidFill>
                <a:schemeClr val="accent2"/>
              </a:solidFill>
            </a:endParaRPr>
          </a:p>
        </p:txBody>
      </p:sp>
      <p:sp>
        <p:nvSpPr>
          <p:cNvPr id="20" name="TextBox 19"/>
          <p:cNvSpPr txBox="1"/>
          <p:nvPr/>
        </p:nvSpPr>
        <p:spPr>
          <a:xfrm>
            <a:off x="539552" y="1844824"/>
            <a:ext cx="1224136" cy="369332"/>
          </a:xfrm>
          <a:prstGeom prst="rect">
            <a:avLst/>
          </a:prstGeom>
          <a:noFill/>
        </p:spPr>
        <p:txBody>
          <a:bodyPr wrap="square" rtlCol="0">
            <a:spAutoFit/>
          </a:bodyPr>
          <a:lstStyle/>
          <a:p>
            <a:r>
              <a:rPr lang="hy-AM" b="1" dirty="0" smtClean="0">
                <a:solidFill>
                  <a:schemeClr val="accent2"/>
                </a:solidFill>
              </a:rPr>
              <a:t>style.css</a:t>
            </a:r>
            <a:endParaRPr lang="en-US" b="1" dirty="0">
              <a:solidFill>
                <a:schemeClr val="accent2"/>
              </a:solidFill>
            </a:endParaRPr>
          </a:p>
        </p:txBody>
      </p:sp>
      <p:sp>
        <p:nvSpPr>
          <p:cNvPr id="26" name="Right Arrow 25"/>
          <p:cNvSpPr/>
          <p:nvPr/>
        </p:nvSpPr>
        <p:spPr>
          <a:xfrm>
            <a:off x="4283968" y="5085184"/>
            <a:ext cx="1368152"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251520" y="4437112"/>
            <a:ext cx="1224136" cy="369332"/>
          </a:xfrm>
          <a:prstGeom prst="rect">
            <a:avLst/>
          </a:prstGeom>
          <a:noFill/>
        </p:spPr>
        <p:txBody>
          <a:bodyPr wrap="square" rtlCol="0">
            <a:spAutoFit/>
          </a:bodyPr>
          <a:lstStyle/>
          <a:p>
            <a:r>
              <a:rPr lang="hy-AM" b="1" dirty="0" smtClean="0">
                <a:solidFill>
                  <a:schemeClr val="accent2"/>
                </a:solidFill>
              </a:rPr>
              <a:t>style.css</a:t>
            </a:r>
            <a:endParaRPr lang="en-US" b="1" dirty="0">
              <a:solidFill>
                <a:schemeClr val="accent2"/>
              </a:solidFill>
            </a:endParaRPr>
          </a:p>
        </p:txBody>
      </p:sp>
      <p:sp>
        <p:nvSpPr>
          <p:cNvPr id="29" name="Right Arrow 28"/>
          <p:cNvSpPr/>
          <p:nvPr/>
        </p:nvSpPr>
        <p:spPr>
          <a:xfrm>
            <a:off x="4211960" y="2564904"/>
            <a:ext cx="1368152"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eft-Up Arrow 29"/>
          <p:cNvSpPr/>
          <p:nvPr/>
        </p:nvSpPr>
        <p:spPr>
          <a:xfrm rot="7784136">
            <a:off x="4494308" y="3385388"/>
            <a:ext cx="903976" cy="971119"/>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Users\Araik\Desktop\Untitled.png"/>
          <p:cNvPicPr>
            <a:picLocks noChangeAspect="1" noChangeArrowheads="1"/>
          </p:cNvPicPr>
          <p:nvPr/>
        </p:nvPicPr>
        <p:blipFill>
          <a:blip r:embed="rId2" cstate="print"/>
          <a:srcRect/>
          <a:stretch>
            <a:fillRect/>
          </a:stretch>
        </p:blipFill>
        <p:spPr bwMode="auto">
          <a:xfrm>
            <a:off x="827584" y="3429000"/>
            <a:ext cx="2647950" cy="561975"/>
          </a:xfrm>
          <a:prstGeom prst="rect">
            <a:avLst/>
          </a:prstGeom>
          <a:noFill/>
          <a:effectLst>
            <a:glow rad="101600">
              <a:srgbClr val="00B050">
                <a:alpha val="60000"/>
              </a:srgbClr>
            </a:glow>
          </a:effectLst>
        </p:spPr>
      </p:pic>
      <p:pic>
        <p:nvPicPr>
          <p:cNvPr id="9218" name="Picture 2" descr="C:\Users\Araik\Desktop\Untitled.png"/>
          <p:cNvPicPr>
            <a:picLocks noChangeAspect="1" noChangeArrowheads="1"/>
          </p:cNvPicPr>
          <p:nvPr/>
        </p:nvPicPr>
        <p:blipFill>
          <a:blip r:embed="rId3" cstate="print"/>
          <a:srcRect/>
          <a:stretch>
            <a:fillRect/>
          </a:stretch>
        </p:blipFill>
        <p:spPr bwMode="auto">
          <a:xfrm>
            <a:off x="1637928" y="2060848"/>
            <a:ext cx="2286000" cy="971550"/>
          </a:xfrm>
          <a:prstGeom prst="rect">
            <a:avLst/>
          </a:prstGeom>
          <a:noFill/>
          <a:effectLst>
            <a:glow rad="101600">
              <a:srgbClr val="7030A0">
                <a:alpha val="60000"/>
              </a:srgbClr>
            </a:glow>
          </a:effectLst>
        </p:spPr>
      </p:pic>
      <p:pic>
        <p:nvPicPr>
          <p:cNvPr id="9219" name="Picture 3" descr="C:\Users\Araik\Desktop\Untitled.png"/>
          <p:cNvPicPr>
            <a:picLocks noChangeAspect="1" noChangeArrowheads="1"/>
          </p:cNvPicPr>
          <p:nvPr/>
        </p:nvPicPr>
        <p:blipFill>
          <a:blip r:embed="rId4" cstate="print"/>
          <a:srcRect/>
          <a:stretch>
            <a:fillRect/>
          </a:stretch>
        </p:blipFill>
        <p:spPr bwMode="auto">
          <a:xfrm>
            <a:off x="6156176" y="2060848"/>
            <a:ext cx="1972172" cy="864096"/>
          </a:xfrm>
          <a:prstGeom prst="rect">
            <a:avLst/>
          </a:prstGeom>
          <a:noFill/>
          <a:effectLst>
            <a:glow rad="101600">
              <a:schemeClr val="accent2">
                <a:satMod val="175000"/>
                <a:alpha val="40000"/>
              </a:schemeClr>
            </a:glow>
          </a:effectLst>
        </p:spPr>
      </p:pic>
      <p:pic>
        <p:nvPicPr>
          <p:cNvPr id="9220" name="Picture 4" descr="C:\Users\Araik\Desktop\Untitled.png"/>
          <p:cNvPicPr>
            <a:picLocks noChangeAspect="1" noChangeArrowheads="1"/>
          </p:cNvPicPr>
          <p:nvPr/>
        </p:nvPicPr>
        <p:blipFill>
          <a:blip r:embed="rId5" cstate="print"/>
          <a:srcRect/>
          <a:stretch>
            <a:fillRect/>
          </a:stretch>
        </p:blipFill>
        <p:spPr bwMode="auto">
          <a:xfrm>
            <a:off x="755576" y="4869160"/>
            <a:ext cx="2628900" cy="933450"/>
          </a:xfrm>
          <a:prstGeom prst="rect">
            <a:avLst/>
          </a:prstGeom>
          <a:noFill/>
          <a:effectLst>
            <a:glow rad="101600">
              <a:srgbClr val="7030A0">
                <a:alpha val="60000"/>
              </a:srgbClr>
            </a:glow>
          </a:effectLst>
        </p:spPr>
      </p:pic>
      <p:pic>
        <p:nvPicPr>
          <p:cNvPr id="9221" name="Picture 5" descr="C:\Users\Araik\Desktop\Untitled.png"/>
          <p:cNvPicPr>
            <a:picLocks noChangeAspect="1" noChangeArrowheads="1"/>
          </p:cNvPicPr>
          <p:nvPr/>
        </p:nvPicPr>
        <p:blipFill>
          <a:blip r:embed="rId6" cstate="print"/>
          <a:srcRect/>
          <a:stretch>
            <a:fillRect/>
          </a:stretch>
        </p:blipFill>
        <p:spPr bwMode="auto">
          <a:xfrm>
            <a:off x="6084168" y="4725144"/>
            <a:ext cx="2324100" cy="628650"/>
          </a:xfrm>
          <a:prstGeom prst="rect">
            <a:avLst/>
          </a:prstGeom>
          <a:noFill/>
          <a:effectLst>
            <a:glow rad="101600">
              <a:schemeClr val="accent2">
                <a:satMod val="175000"/>
                <a:alpha val="40000"/>
              </a:schemeClr>
            </a:glow>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5" name="TextBox 14"/>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Opacity</a:t>
            </a:r>
            <a:endParaRPr lang="en-US" sz="4800" dirty="0" smtClean="0"/>
          </a:p>
        </p:txBody>
      </p:sp>
      <p:sp>
        <p:nvSpPr>
          <p:cNvPr id="20"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22" name="Rectangle 21"/>
          <p:cNvSpPr/>
          <p:nvPr/>
        </p:nvSpPr>
        <p:spPr>
          <a:xfrm>
            <a:off x="539552" y="1268760"/>
            <a:ext cx="3816424" cy="923330"/>
          </a:xfrm>
          <a:prstGeom prst="rect">
            <a:avLst/>
          </a:prstGeom>
        </p:spPr>
        <p:txBody>
          <a:bodyPr wrap="square">
            <a:spAutoFit/>
          </a:bodyPr>
          <a:lstStyle/>
          <a:p>
            <a:r>
              <a:rPr lang="en-US" b="1" dirty="0" smtClean="0">
                <a:solidFill>
                  <a:schemeClr val="accent2"/>
                </a:solidFill>
              </a:rPr>
              <a:t>IE9, Firefox, Chrome, Opera,  Safari</a:t>
            </a:r>
            <a:endParaRPr lang="hy-AM" b="1" dirty="0" smtClean="0">
              <a:solidFill>
                <a:schemeClr val="accent2"/>
              </a:solidFill>
            </a:endParaRPr>
          </a:p>
          <a:p>
            <a:r>
              <a:rPr lang="en-US" b="1" dirty="0" smtClean="0">
                <a:solidFill>
                  <a:schemeClr val="accent2"/>
                </a:solidFill>
              </a:rPr>
              <a:t>  </a:t>
            </a:r>
          </a:p>
          <a:p>
            <a:r>
              <a:rPr lang="en-US" b="1" dirty="0" smtClean="0">
                <a:solidFill>
                  <a:schemeClr val="accent2"/>
                </a:solidFill>
              </a:rPr>
              <a:t>IE8 and earlier  </a:t>
            </a:r>
            <a:endParaRPr lang="en-US" b="1" dirty="0">
              <a:solidFill>
                <a:schemeClr val="accent2"/>
              </a:solidFill>
            </a:endParaRPr>
          </a:p>
        </p:txBody>
      </p:sp>
      <p:sp>
        <p:nvSpPr>
          <p:cNvPr id="24" name="Rectangle 23"/>
          <p:cNvSpPr/>
          <p:nvPr/>
        </p:nvSpPr>
        <p:spPr>
          <a:xfrm>
            <a:off x="5724128" y="1259468"/>
            <a:ext cx="918841" cy="369332"/>
          </a:xfrm>
          <a:prstGeom prst="rect">
            <a:avLst/>
          </a:prstGeom>
          <a:effectLst>
            <a:glow rad="101600">
              <a:srgbClr val="00B050">
                <a:alpha val="60000"/>
              </a:srgbClr>
            </a:glow>
          </a:effectLst>
        </p:spPr>
        <p:style>
          <a:lnRef idx="2">
            <a:schemeClr val="accent2"/>
          </a:lnRef>
          <a:fillRef idx="1">
            <a:schemeClr val="lt1"/>
          </a:fillRef>
          <a:effectRef idx="0">
            <a:schemeClr val="accent2"/>
          </a:effectRef>
          <a:fontRef idx="minor">
            <a:schemeClr val="dk1"/>
          </a:fontRef>
        </p:style>
        <p:txBody>
          <a:bodyPr wrap="none">
            <a:spAutoFit/>
          </a:bodyPr>
          <a:lstStyle/>
          <a:p>
            <a:r>
              <a:rPr lang="en-US" b="1" dirty="0" smtClean="0">
                <a:solidFill>
                  <a:srgbClr val="00B050"/>
                </a:solidFill>
              </a:rPr>
              <a:t>opacity</a:t>
            </a:r>
            <a:endParaRPr lang="en-US" dirty="0"/>
          </a:p>
        </p:txBody>
      </p:sp>
      <p:sp>
        <p:nvSpPr>
          <p:cNvPr id="25" name="Rectangle 24"/>
          <p:cNvSpPr/>
          <p:nvPr/>
        </p:nvSpPr>
        <p:spPr>
          <a:xfrm>
            <a:off x="5076056" y="1835532"/>
            <a:ext cx="2521652" cy="369332"/>
          </a:xfrm>
          <a:prstGeom prst="rect">
            <a:avLst/>
          </a:prstGeom>
          <a:effectLst>
            <a:glow rad="101600">
              <a:srgbClr val="00B050">
                <a:alpha val="60000"/>
              </a:srgbClr>
            </a:glow>
          </a:effectLst>
        </p:spPr>
        <p:style>
          <a:lnRef idx="2">
            <a:schemeClr val="accent2"/>
          </a:lnRef>
          <a:fillRef idx="1">
            <a:schemeClr val="lt1"/>
          </a:fillRef>
          <a:effectRef idx="0">
            <a:schemeClr val="accent2"/>
          </a:effectRef>
          <a:fontRef idx="minor">
            <a:schemeClr val="dk1"/>
          </a:fontRef>
        </p:style>
        <p:txBody>
          <a:bodyPr wrap="none">
            <a:spAutoFit/>
          </a:bodyPr>
          <a:lstStyle/>
          <a:p>
            <a:r>
              <a:rPr lang="en-US" b="1" dirty="0" err="1" smtClean="0">
                <a:solidFill>
                  <a:srgbClr val="00B050"/>
                </a:solidFill>
              </a:rPr>
              <a:t>filter:alpha</a:t>
            </a:r>
            <a:r>
              <a:rPr lang="en-US" b="1" dirty="0" smtClean="0">
                <a:solidFill>
                  <a:srgbClr val="00B050"/>
                </a:solidFill>
              </a:rPr>
              <a:t>(opacity=x)</a:t>
            </a:r>
            <a:r>
              <a:rPr lang="en-US" b="1" dirty="0" smtClean="0">
                <a:solidFill>
                  <a:schemeClr val="accent2"/>
                </a:solidFill>
              </a:rPr>
              <a:t>.</a:t>
            </a:r>
            <a:endParaRPr lang="en-US" b="1" dirty="0">
              <a:solidFill>
                <a:schemeClr val="accent2"/>
              </a:solidFill>
            </a:endParaRPr>
          </a:p>
        </p:txBody>
      </p:sp>
      <p:sp>
        <p:nvSpPr>
          <p:cNvPr id="27" name="Right Arrow 26"/>
          <p:cNvSpPr/>
          <p:nvPr/>
        </p:nvSpPr>
        <p:spPr>
          <a:xfrm>
            <a:off x="3851920" y="1916832"/>
            <a:ext cx="864096"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a:off x="4283968" y="1412776"/>
            <a:ext cx="864096"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5" name="Picture 1" descr="C:\Users\Araik\Desktop\Untitled.png"/>
          <p:cNvPicPr>
            <a:picLocks noChangeAspect="1" noChangeArrowheads="1"/>
          </p:cNvPicPr>
          <p:nvPr/>
        </p:nvPicPr>
        <p:blipFill>
          <a:blip r:embed="rId2" cstate="print"/>
          <a:srcRect/>
          <a:stretch>
            <a:fillRect/>
          </a:stretch>
        </p:blipFill>
        <p:spPr bwMode="auto">
          <a:xfrm>
            <a:off x="539552" y="2924944"/>
            <a:ext cx="4951630" cy="2318767"/>
          </a:xfrm>
          <a:prstGeom prst="rect">
            <a:avLst/>
          </a:prstGeom>
          <a:noFill/>
          <a:effectLst>
            <a:glow rad="63500">
              <a:schemeClr val="accent2">
                <a:satMod val="175000"/>
                <a:alpha val="40000"/>
              </a:schemeClr>
            </a:glow>
          </a:effectLst>
        </p:spPr>
      </p:pic>
      <p:pic>
        <p:nvPicPr>
          <p:cNvPr id="6146" name="Picture 2" descr="C:\Users\Araik\Desktop\Untitled.png"/>
          <p:cNvPicPr>
            <a:picLocks noChangeAspect="1" noChangeArrowheads="1"/>
          </p:cNvPicPr>
          <p:nvPr/>
        </p:nvPicPr>
        <p:blipFill>
          <a:blip r:embed="rId3" cstate="print"/>
          <a:srcRect/>
          <a:stretch>
            <a:fillRect/>
          </a:stretch>
        </p:blipFill>
        <p:spPr bwMode="auto">
          <a:xfrm>
            <a:off x="5796136" y="2852936"/>
            <a:ext cx="2667000" cy="2724150"/>
          </a:xfrm>
          <a:prstGeom prst="rect">
            <a:avLst/>
          </a:prstGeom>
          <a:noFill/>
          <a:effectLst>
            <a:glow rad="63500">
              <a:schemeClr val="accent1">
                <a:satMod val="175000"/>
                <a:alpha val="40000"/>
              </a:schemeClr>
            </a:glo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3" name="TextBox 2"/>
          <p:cNvSpPr txBox="1"/>
          <p:nvPr/>
        </p:nvSpPr>
        <p:spPr>
          <a:xfrm>
            <a:off x="683568" y="260648"/>
            <a:ext cx="820891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CSS  Box Shadow</a:t>
            </a:r>
            <a:endParaRPr lang="en-US" sz="4800" dirty="0" smtClean="0"/>
          </a:p>
        </p:txBody>
      </p:sp>
      <p:sp>
        <p:nvSpPr>
          <p:cNvPr id="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Arial" charset="0"/>
                <a:cs typeface="Arial" charset="0"/>
              </a:rPr>
              <a:t/>
            </a:r>
            <a:br>
              <a:rPr kumimoji="0" lang="ru-RU" sz="1800" b="0" i="0" u="none" strike="noStrike" cap="none" normalizeH="0" baseline="0" smtClean="0">
                <a:ln>
                  <a:noFill/>
                </a:ln>
                <a:solidFill>
                  <a:schemeClr val="tx1"/>
                </a:solidFill>
                <a:effectLst/>
                <a:latin typeface="Arial" charset="0"/>
                <a:cs typeface="Arial" charset="0"/>
              </a:rPr>
            </a:br>
            <a:endParaRPr kumimoji="0" lang="ru-RU" sz="18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a:xfrm>
            <a:off x="467544" y="1268760"/>
            <a:ext cx="7920880" cy="646331"/>
          </a:xfrm>
          <a:prstGeom prst="rect">
            <a:avLst/>
          </a:prstGeom>
        </p:spPr>
        <p:txBody>
          <a:bodyPr wrap="square">
            <a:spAutoFit/>
          </a:bodyPr>
          <a:lstStyle/>
          <a:p>
            <a:r>
              <a:rPr lang="en-US" b="1" dirty="0" smtClean="0">
                <a:solidFill>
                  <a:schemeClr val="accent2"/>
                </a:solidFill>
              </a:rPr>
              <a:t>The box-shadow property is supported in IE9+, Firefox 4, Chrome, Opera, and Safari 5.1.1.</a:t>
            </a:r>
            <a:endParaRPr lang="en-US" b="1" dirty="0">
              <a:solidFill>
                <a:schemeClr val="accent2"/>
              </a:solidFill>
            </a:endParaRPr>
          </a:p>
        </p:txBody>
      </p:sp>
      <p:graphicFrame>
        <p:nvGraphicFramePr>
          <p:cNvPr id="14" name="Table 13"/>
          <p:cNvGraphicFramePr>
            <a:graphicFrameLocks noGrp="1"/>
          </p:cNvGraphicFramePr>
          <p:nvPr/>
        </p:nvGraphicFramePr>
        <p:xfrm>
          <a:off x="1403648" y="1988841"/>
          <a:ext cx="6120680" cy="3192108"/>
        </p:xfrm>
        <a:graphic>
          <a:graphicData uri="http://schemas.openxmlformats.org/drawingml/2006/table">
            <a:tbl>
              <a:tblPr>
                <a:tableStyleId>{69C7853C-536D-4A76-A0AE-DD22124D55A5}</a:tableStyleId>
              </a:tblPr>
              <a:tblGrid>
                <a:gridCol w="3060340"/>
                <a:gridCol w="3060340"/>
              </a:tblGrid>
              <a:tr h="503558">
                <a:tc>
                  <a:txBody>
                    <a:bodyPr/>
                    <a:lstStyle/>
                    <a:p>
                      <a:pPr fontAlgn="t"/>
                      <a:r>
                        <a:rPr lang="en-US" sz="1400" b="1" dirty="0">
                          <a:solidFill>
                            <a:schemeClr val="accent2"/>
                          </a:solidFill>
                        </a:rPr>
                        <a:t>h-shadow</a:t>
                      </a:r>
                      <a:endParaRPr lang="en-US" sz="1400" b="1" dirty="0">
                        <a:solidFill>
                          <a:schemeClr val="accent2"/>
                        </a:solidFill>
                        <a:latin typeface="verdana"/>
                      </a:endParaRPr>
                    </a:p>
                  </a:txBody>
                  <a:tcPr marL="24400" marR="24400" marT="34159" marB="34159"/>
                </a:tc>
                <a:tc>
                  <a:txBody>
                    <a:bodyPr/>
                    <a:lstStyle/>
                    <a:p>
                      <a:pPr fontAlgn="t"/>
                      <a:r>
                        <a:rPr lang="en-US" sz="1400" b="1">
                          <a:solidFill>
                            <a:schemeClr val="accent2"/>
                          </a:solidFill>
                        </a:rPr>
                        <a:t>Required. The position of the horizontal shadow. Negative values are allowed</a:t>
                      </a:r>
                      <a:endParaRPr lang="en-US" sz="1400" b="1">
                        <a:solidFill>
                          <a:schemeClr val="accent2"/>
                        </a:solidFill>
                        <a:latin typeface="verdana"/>
                      </a:endParaRPr>
                    </a:p>
                  </a:txBody>
                  <a:tcPr marL="24400" marR="24400" marT="34159" marB="34159"/>
                </a:tc>
              </a:tr>
              <a:tr h="503558">
                <a:tc>
                  <a:txBody>
                    <a:bodyPr/>
                    <a:lstStyle/>
                    <a:p>
                      <a:pPr fontAlgn="t"/>
                      <a:r>
                        <a:rPr lang="en-US" sz="1400" b="1" dirty="0">
                          <a:solidFill>
                            <a:schemeClr val="accent2"/>
                          </a:solidFill>
                        </a:rPr>
                        <a:t>v-shadow</a:t>
                      </a:r>
                      <a:endParaRPr lang="en-US" sz="1400" b="1" dirty="0">
                        <a:solidFill>
                          <a:schemeClr val="accent2"/>
                        </a:solidFill>
                        <a:latin typeface="verdana"/>
                      </a:endParaRPr>
                    </a:p>
                  </a:txBody>
                  <a:tcPr marL="24400" marR="24400" marT="34159" marB="34159"/>
                </a:tc>
                <a:tc>
                  <a:txBody>
                    <a:bodyPr/>
                    <a:lstStyle/>
                    <a:p>
                      <a:pPr fontAlgn="t"/>
                      <a:r>
                        <a:rPr lang="en-US" sz="1400" b="1">
                          <a:solidFill>
                            <a:schemeClr val="accent2"/>
                          </a:solidFill>
                        </a:rPr>
                        <a:t>Required. The position of the vertical shadow. Negative values are allowed</a:t>
                      </a:r>
                      <a:endParaRPr lang="en-US" sz="1400" b="1">
                        <a:solidFill>
                          <a:schemeClr val="accent2"/>
                        </a:solidFill>
                        <a:latin typeface="verdana"/>
                      </a:endParaRPr>
                    </a:p>
                  </a:txBody>
                  <a:tcPr marL="24400" marR="24400" marT="34159" marB="34159"/>
                </a:tc>
              </a:tr>
              <a:tr h="228194">
                <a:tc>
                  <a:txBody>
                    <a:bodyPr/>
                    <a:lstStyle/>
                    <a:p>
                      <a:pPr fontAlgn="t"/>
                      <a:r>
                        <a:rPr lang="en-US" sz="1400" b="1" dirty="0">
                          <a:solidFill>
                            <a:schemeClr val="accent2"/>
                          </a:solidFill>
                        </a:rPr>
                        <a:t>blur</a:t>
                      </a:r>
                      <a:endParaRPr lang="en-US" sz="1400" b="1" dirty="0">
                        <a:solidFill>
                          <a:schemeClr val="accent2"/>
                        </a:solidFill>
                        <a:latin typeface="verdana"/>
                      </a:endParaRPr>
                    </a:p>
                  </a:txBody>
                  <a:tcPr marL="24400" marR="24400" marT="34159" marB="34159"/>
                </a:tc>
                <a:tc>
                  <a:txBody>
                    <a:bodyPr/>
                    <a:lstStyle/>
                    <a:p>
                      <a:pPr fontAlgn="t"/>
                      <a:r>
                        <a:rPr lang="en-US" sz="1400" b="1">
                          <a:solidFill>
                            <a:schemeClr val="accent2"/>
                          </a:solidFill>
                        </a:rPr>
                        <a:t>Optional. The blur distance</a:t>
                      </a:r>
                      <a:endParaRPr lang="en-US" sz="1400" b="1">
                        <a:solidFill>
                          <a:schemeClr val="accent2"/>
                        </a:solidFill>
                        <a:latin typeface="verdana"/>
                      </a:endParaRPr>
                    </a:p>
                  </a:txBody>
                  <a:tcPr marL="24400" marR="24400" marT="34159" marB="34159"/>
                </a:tc>
              </a:tr>
              <a:tr h="238293">
                <a:tc>
                  <a:txBody>
                    <a:bodyPr/>
                    <a:lstStyle/>
                    <a:p>
                      <a:pPr fontAlgn="t"/>
                      <a:r>
                        <a:rPr lang="en-US" sz="1400" b="1">
                          <a:solidFill>
                            <a:schemeClr val="accent2"/>
                          </a:solidFill>
                        </a:rPr>
                        <a:t>spread</a:t>
                      </a:r>
                      <a:endParaRPr lang="en-US" sz="1400" b="1">
                        <a:solidFill>
                          <a:schemeClr val="accent2"/>
                        </a:solidFill>
                        <a:latin typeface="verdana"/>
                      </a:endParaRPr>
                    </a:p>
                  </a:txBody>
                  <a:tcPr marL="24400" marR="24400" marT="34159" marB="34159"/>
                </a:tc>
                <a:tc>
                  <a:txBody>
                    <a:bodyPr/>
                    <a:lstStyle/>
                    <a:p>
                      <a:pPr fontAlgn="t"/>
                      <a:r>
                        <a:rPr lang="en-US" sz="1400" b="1">
                          <a:solidFill>
                            <a:schemeClr val="accent2"/>
                          </a:solidFill>
                        </a:rPr>
                        <a:t>Optional. The size of shadow</a:t>
                      </a:r>
                      <a:endParaRPr lang="en-US" sz="1400" b="1">
                        <a:solidFill>
                          <a:schemeClr val="accent2"/>
                        </a:solidFill>
                        <a:latin typeface="verdana"/>
                      </a:endParaRPr>
                    </a:p>
                  </a:txBody>
                  <a:tcPr marL="24400" marR="24400" marT="34159" marB="34159"/>
                </a:tc>
              </a:tr>
              <a:tr h="687133">
                <a:tc>
                  <a:txBody>
                    <a:bodyPr/>
                    <a:lstStyle/>
                    <a:p>
                      <a:pPr fontAlgn="t"/>
                      <a:r>
                        <a:rPr lang="en-US" sz="1400" b="1" dirty="0">
                          <a:solidFill>
                            <a:schemeClr val="accent2"/>
                          </a:solidFill>
                        </a:rPr>
                        <a:t>color</a:t>
                      </a:r>
                      <a:endParaRPr lang="en-US" sz="1400" b="1" dirty="0">
                        <a:solidFill>
                          <a:schemeClr val="accent2"/>
                        </a:solidFill>
                        <a:latin typeface="verdana"/>
                      </a:endParaRPr>
                    </a:p>
                  </a:txBody>
                  <a:tcPr marL="24400" marR="24400" marT="34159" marB="34159"/>
                </a:tc>
                <a:tc>
                  <a:txBody>
                    <a:bodyPr/>
                    <a:lstStyle/>
                    <a:p>
                      <a:pPr fontAlgn="t"/>
                      <a:r>
                        <a:rPr lang="en-US" sz="1400" b="1" dirty="0">
                          <a:solidFill>
                            <a:schemeClr val="accent2"/>
                          </a:solidFill>
                        </a:rPr>
                        <a:t>Optional. The color of the shadow. Look at </a:t>
                      </a:r>
                      <a:r>
                        <a:rPr lang="en-US" sz="1400" b="1" dirty="0">
                          <a:solidFill>
                            <a:schemeClr val="accent2"/>
                          </a:solidFill>
                          <a:hlinkClick r:id="rId2"/>
                        </a:rPr>
                        <a:t>CSS Color Values</a:t>
                      </a:r>
                      <a:r>
                        <a:rPr lang="en-US" sz="1400" b="1" dirty="0">
                          <a:solidFill>
                            <a:schemeClr val="accent2"/>
                          </a:solidFill>
                        </a:rPr>
                        <a:t> for a complete list of possible color values</a:t>
                      </a:r>
                      <a:endParaRPr lang="en-US" sz="1400" b="1" dirty="0">
                        <a:solidFill>
                          <a:schemeClr val="accent2"/>
                        </a:solidFill>
                        <a:latin typeface="verdana"/>
                      </a:endParaRPr>
                    </a:p>
                  </a:txBody>
                  <a:tcPr marL="24400" marR="24400" marT="34159" marB="34159"/>
                </a:tc>
              </a:tr>
              <a:tr h="503558">
                <a:tc>
                  <a:txBody>
                    <a:bodyPr/>
                    <a:lstStyle/>
                    <a:p>
                      <a:pPr fontAlgn="t"/>
                      <a:r>
                        <a:rPr lang="en-US" sz="1400" b="1" dirty="0">
                          <a:solidFill>
                            <a:schemeClr val="accent2"/>
                          </a:solidFill>
                        </a:rPr>
                        <a:t>inset</a:t>
                      </a:r>
                      <a:endParaRPr lang="en-US" sz="1400" b="1" dirty="0">
                        <a:solidFill>
                          <a:schemeClr val="accent2"/>
                        </a:solidFill>
                        <a:latin typeface="verdana"/>
                      </a:endParaRPr>
                    </a:p>
                  </a:txBody>
                  <a:tcPr marL="24400" marR="24400" marT="34159" marB="34159"/>
                </a:tc>
                <a:tc>
                  <a:txBody>
                    <a:bodyPr/>
                    <a:lstStyle/>
                    <a:p>
                      <a:pPr fontAlgn="t"/>
                      <a:r>
                        <a:rPr lang="en-US" sz="1400" b="1" dirty="0">
                          <a:solidFill>
                            <a:schemeClr val="accent2"/>
                          </a:solidFill>
                        </a:rPr>
                        <a:t>Optional. Changes the shadow from an outer shadow (outset) to an inner shadow</a:t>
                      </a:r>
                      <a:endParaRPr lang="en-US" sz="1400" b="1" dirty="0">
                        <a:solidFill>
                          <a:schemeClr val="accent2"/>
                        </a:solidFill>
                        <a:latin typeface="verdana"/>
                      </a:endParaRPr>
                    </a:p>
                  </a:txBody>
                  <a:tcPr marL="24400" marR="24400" marT="34159" marB="34159"/>
                </a:tc>
              </a:tr>
            </a:tbl>
          </a:graphicData>
        </a:graphic>
      </p:graphicFrame>
      <p:pic>
        <p:nvPicPr>
          <p:cNvPr id="28673" name="Picture 1" descr="C:\Users\Araik\Desktop\Untitled.png"/>
          <p:cNvPicPr>
            <a:picLocks noChangeAspect="1" noChangeArrowheads="1"/>
          </p:cNvPicPr>
          <p:nvPr/>
        </p:nvPicPr>
        <p:blipFill>
          <a:blip r:embed="rId3" cstate="print"/>
          <a:srcRect/>
          <a:stretch>
            <a:fillRect/>
          </a:stretch>
        </p:blipFill>
        <p:spPr bwMode="auto">
          <a:xfrm>
            <a:off x="6500826" y="5357826"/>
            <a:ext cx="2416283" cy="958181"/>
          </a:xfrm>
          <a:prstGeom prst="rect">
            <a:avLst/>
          </a:prstGeom>
          <a:noFill/>
        </p:spPr>
      </p:pic>
      <p:sp>
        <p:nvSpPr>
          <p:cNvPr id="18" name="Rectangle 17"/>
          <p:cNvSpPr/>
          <p:nvPr/>
        </p:nvSpPr>
        <p:spPr>
          <a:xfrm>
            <a:off x="0" y="5572140"/>
            <a:ext cx="6533348" cy="369332"/>
          </a:xfrm>
          <a:prstGeom prst="rect">
            <a:avLst/>
          </a:prstGeom>
        </p:spPr>
        <p:txBody>
          <a:bodyPr wrap="square">
            <a:spAutoFit/>
          </a:bodyPr>
          <a:lstStyle/>
          <a:p>
            <a:r>
              <a:rPr lang="en-US" b="1" dirty="0" smtClean="0">
                <a:solidFill>
                  <a:schemeClr val="accent2"/>
                </a:solidFill>
              </a:rPr>
              <a:t>box-shadow: </a:t>
            </a:r>
            <a:r>
              <a:rPr lang="en-US" b="1" i="1" dirty="0" smtClean="0">
                <a:solidFill>
                  <a:schemeClr val="accent2"/>
                </a:solidFill>
              </a:rPr>
              <a:t>h-shadow v-shadow blur spread color</a:t>
            </a:r>
            <a:r>
              <a:rPr lang="en-US" b="1" dirty="0" smtClean="0">
                <a:solidFill>
                  <a:schemeClr val="accent2"/>
                </a:solidFill>
              </a:rPr>
              <a:t> inset;</a:t>
            </a:r>
            <a:endParaRPr lang="en-US" b="1" dirty="0">
              <a:solidFill>
                <a:schemeClr val="accent2"/>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11560" y="260648"/>
            <a:ext cx="244827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Task1:</a:t>
            </a:r>
            <a:endParaRPr lang="en-US"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endParaRPr>
          </a:p>
        </p:txBody>
      </p:sp>
      <p:pic>
        <p:nvPicPr>
          <p:cNvPr id="5121" name="Picture 1" descr="C:\Users\Araik\Desktop\Untitled.png"/>
          <p:cNvPicPr>
            <a:picLocks noChangeAspect="1" noChangeArrowheads="1"/>
          </p:cNvPicPr>
          <p:nvPr/>
        </p:nvPicPr>
        <p:blipFill>
          <a:blip r:embed="rId2" cstate="print"/>
          <a:srcRect/>
          <a:stretch>
            <a:fillRect/>
          </a:stretch>
        </p:blipFill>
        <p:spPr bwMode="auto">
          <a:xfrm>
            <a:off x="755576" y="1412776"/>
            <a:ext cx="7869091" cy="3564235"/>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260648"/>
            <a:ext cx="2448272"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Task</a:t>
            </a:r>
            <a:r>
              <a:rPr lang="en-US"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2</a:t>
            </a:r>
            <a:r>
              <a:rPr lang="hy-AM"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a:t>
            </a:r>
            <a:endParaRPr lang="en-US" sz="4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endParaRPr>
          </a:p>
        </p:txBody>
      </p:sp>
      <p:pic>
        <p:nvPicPr>
          <p:cNvPr id="4098" name="Picture 2" descr="C:\Users\Araik\Desktop\Untitled.png"/>
          <p:cNvPicPr>
            <a:picLocks noChangeAspect="1" noChangeArrowheads="1"/>
          </p:cNvPicPr>
          <p:nvPr/>
        </p:nvPicPr>
        <p:blipFill>
          <a:blip r:embed="rId2" cstate="print"/>
          <a:srcRect/>
          <a:stretch>
            <a:fillRect/>
          </a:stretch>
        </p:blipFill>
        <p:spPr bwMode="auto">
          <a:xfrm>
            <a:off x="611560" y="1556792"/>
            <a:ext cx="7949704" cy="2071788"/>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3736</TotalTime>
  <Words>391</Words>
  <Application>Microsoft Office PowerPoint</Application>
  <PresentationFormat>Экран (4:3)</PresentationFormat>
  <Paragraphs>105</Paragraphs>
  <Slides>12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Equity</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Araik</dc:creator>
  <cp:lastModifiedBy>home</cp:lastModifiedBy>
  <cp:revision>268</cp:revision>
  <dcterms:created xsi:type="dcterms:W3CDTF">2013-08-16T08:22:25Z</dcterms:created>
  <dcterms:modified xsi:type="dcterms:W3CDTF">2016-10-26T11:02:13Z</dcterms:modified>
</cp:coreProperties>
</file>