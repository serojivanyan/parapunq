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7" r:id="rId2"/>
    <p:sldId id="261" r:id="rId3"/>
    <p:sldId id="259" r:id="rId4"/>
    <p:sldId id="258" r:id="rId5"/>
    <p:sldId id="262" r:id="rId6"/>
    <p:sldId id="260" r:id="rId7"/>
    <p:sldId id="263" r:id="rId8"/>
    <p:sldId id="264" r:id="rId9"/>
    <p:sldId id="265" r:id="rId10"/>
    <p:sldId id="267" r:id="rId11"/>
    <p:sldId id="268" r:id="rId12"/>
    <p:sldId id="270" r:id="rId13"/>
    <p:sldId id="269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6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A493-8083-4A0A-9DB8-8876B538388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What is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 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95536" y="1772816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b="1" dirty="0" smtClean="0">
                <a:ln w="18000">
                  <a:solidFill>
                    <a:schemeClr val="accent2"/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  <a:r>
              <a:rPr lang="en-US" sz="3600" b="1" dirty="0" smtClean="0">
                <a:ln w="18000">
                  <a:solidFill>
                    <a:schemeClr val="accent2"/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 Cascading Style Sheets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560" y="2996952"/>
            <a:ext cx="5832648" cy="255454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accent2"/>
                </a:solidFill>
              </a:rPr>
              <a:t>Styles define how to display HTML elements</a:t>
            </a:r>
            <a:endParaRPr lang="hy-AM" sz="2000" b="1" dirty="0" smtClean="0">
              <a:solidFill>
                <a:schemeClr val="accent2"/>
              </a:solidFill>
            </a:endParaRPr>
          </a:p>
          <a:p>
            <a:endParaRPr lang="en-US" sz="2000" b="1" dirty="0" smtClean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accent2"/>
                </a:solidFill>
              </a:rPr>
              <a:t>Styles were added to HTML 4.0 to solve a problem</a:t>
            </a:r>
            <a:endParaRPr lang="hy-AM" sz="2000" b="1" dirty="0" smtClean="0">
              <a:solidFill>
                <a:schemeClr val="accent2"/>
              </a:solidFill>
            </a:endParaRPr>
          </a:p>
          <a:p>
            <a:endParaRPr lang="en-US" sz="2000" b="1" dirty="0" smtClean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accent2"/>
                </a:solidFill>
              </a:rPr>
              <a:t>External Style Sheets can save a lot of work</a:t>
            </a:r>
            <a:endParaRPr lang="hy-AM" sz="2000" b="1" dirty="0" smtClean="0">
              <a:solidFill>
                <a:schemeClr val="accent2"/>
              </a:solidFill>
            </a:endParaRPr>
          </a:p>
          <a:p>
            <a:endParaRPr lang="en-US" sz="2000" b="1" dirty="0" smtClean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accent2"/>
                </a:solidFill>
              </a:rPr>
              <a:t>External Style Sheets are stored in CSS files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620688"/>
            <a:ext cx="6175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Three Ways To Insert CSS</a:t>
            </a:r>
            <a:endParaRPr lang="en-US" sz="32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611560" y="1412776"/>
            <a:ext cx="48891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External style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48" y="1928802"/>
            <a:ext cx="7643866" cy="92333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&lt;head&gt;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accent1"/>
                </a:solidFill>
              </a:rPr>
              <a:t>&lt;link </a:t>
            </a:r>
            <a:r>
              <a:rPr lang="en-US" b="1" dirty="0" err="1" smtClean="0">
                <a:solidFill>
                  <a:srgbClr val="00B050"/>
                </a:solidFill>
              </a:rPr>
              <a:t>rel</a:t>
            </a:r>
            <a:r>
              <a:rPr lang="en-US" b="1" dirty="0" smtClean="0">
                <a:solidFill>
                  <a:srgbClr val="00B050"/>
                </a:solidFill>
              </a:rPr>
              <a:t>="</a:t>
            </a:r>
            <a:r>
              <a:rPr lang="en-US" b="1" dirty="0" err="1" smtClean="0">
                <a:solidFill>
                  <a:srgbClr val="00B050"/>
                </a:solidFill>
              </a:rPr>
              <a:t>stylesheet</a:t>
            </a:r>
            <a:r>
              <a:rPr lang="en-US" b="1" dirty="0" smtClean="0">
                <a:solidFill>
                  <a:srgbClr val="00B050"/>
                </a:solidFill>
              </a:rPr>
              <a:t>" </a:t>
            </a:r>
            <a:r>
              <a:rPr lang="en-US" b="1" dirty="0" smtClean="0">
                <a:solidFill>
                  <a:srgbClr val="00B0F0"/>
                </a:solidFill>
              </a:rPr>
              <a:t>type="text/</a:t>
            </a:r>
            <a:r>
              <a:rPr lang="en-US" b="1" dirty="0" err="1" smtClean="0">
                <a:solidFill>
                  <a:srgbClr val="00B0F0"/>
                </a:solidFill>
              </a:rPr>
              <a:t>css</a:t>
            </a:r>
            <a:r>
              <a:rPr lang="en-US" b="1" dirty="0" smtClean="0">
                <a:solidFill>
                  <a:srgbClr val="00B0F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href</a:t>
            </a:r>
            <a:r>
              <a:rPr lang="en-US" b="1" dirty="0" smtClean="0">
                <a:solidFill>
                  <a:srgbClr val="7030A0"/>
                </a:solidFill>
              </a:rPr>
              <a:t>="mystyle.css"</a:t>
            </a:r>
            <a:r>
              <a:rPr lang="en-US" b="1" dirty="0" smtClean="0">
                <a:solidFill>
                  <a:schemeClr val="accent1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accent1"/>
                </a:solidFill>
              </a:rPr>
              <a:t>&lt;/head&gt;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1560" y="3140968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Internal </a:t>
            </a:r>
            <a:r>
              <a:rPr lang="en-US" sz="2800" b="1" dirty="0" smtClean="0">
                <a:solidFill>
                  <a:schemeClr val="accent2"/>
                </a:solidFill>
              </a:rPr>
              <a:t>style sheet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576" y="3789040"/>
            <a:ext cx="2304256" cy="2308324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&lt;style&gt;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p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{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text-</a:t>
            </a:r>
            <a:r>
              <a:rPr lang="en-US" b="1" dirty="0" err="1" smtClean="0">
                <a:solidFill>
                  <a:srgbClr val="7030A0"/>
                </a:solidFill>
              </a:rPr>
              <a:t>align:center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 err="1" smtClean="0">
                <a:solidFill>
                  <a:srgbClr val="7030A0"/>
                </a:solidFill>
              </a:rPr>
              <a:t>color:red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}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976" y="3429000"/>
            <a:ext cx="244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Inline </a:t>
            </a:r>
            <a:r>
              <a:rPr lang="en-US" sz="2800" b="1" dirty="0" smtClean="0">
                <a:solidFill>
                  <a:schemeClr val="accent2"/>
                </a:solidFill>
              </a:rPr>
              <a:t>style</a:t>
            </a:r>
            <a:r>
              <a:rPr lang="hy-AM" sz="2800" b="1" dirty="0" smtClean="0">
                <a:solidFill>
                  <a:schemeClr val="accent2"/>
                </a:solidFill>
              </a:rPr>
              <a:t>s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91880" y="4077072"/>
            <a:ext cx="4968552" cy="646331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&lt;p </a:t>
            </a:r>
            <a:r>
              <a:rPr lang="en-US" b="1" dirty="0" smtClean="0">
                <a:solidFill>
                  <a:srgbClr val="7030A0"/>
                </a:solidFill>
              </a:rPr>
              <a:t>style=</a:t>
            </a:r>
            <a:r>
              <a:rPr lang="en-US" b="1" dirty="0" smtClean="0">
                <a:solidFill>
                  <a:srgbClr val="0070C0"/>
                </a:solidFill>
              </a:rPr>
              <a:t>"color:sienna;margin-left:20px"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This is a paragraph.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&lt;/p&gt;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62068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Multiple Styles Will Cascade into 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592" y="1556792"/>
            <a:ext cx="6192688" cy="193899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2"/>
                </a:solidFill>
              </a:rPr>
              <a:t>Browser default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2"/>
                </a:solidFill>
              </a:rPr>
              <a:t>External style sheet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2"/>
                </a:solidFill>
              </a:rPr>
              <a:t>Internal style sheet (in the head section)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2"/>
                </a:solidFill>
              </a:rPr>
              <a:t>Inline style (inside an HTML element)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Syntax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1" name="Oval 10"/>
          <p:cNvSpPr/>
          <p:nvPr/>
        </p:nvSpPr>
        <p:spPr>
          <a:xfrm>
            <a:off x="683568" y="2132856"/>
            <a:ext cx="1584176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59632" y="1981289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6000" dirty="0" smtClean="0">
                <a:solidFill>
                  <a:schemeClr val="bg1"/>
                </a:solidFill>
              </a:rPr>
              <a:t>p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15816" y="2204864"/>
            <a:ext cx="561662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71736" y="2276872"/>
            <a:ext cx="610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solidFill>
                  <a:schemeClr val="bg1"/>
                </a:solidFill>
              </a:rPr>
              <a:t>{ </a:t>
            </a:r>
            <a:r>
              <a:rPr lang="en-US" sz="3200" b="1" dirty="0" smtClean="0">
                <a:solidFill>
                  <a:schemeClr val="bg1"/>
                </a:solidFill>
              </a:rPr>
              <a:t>{</a:t>
            </a:r>
            <a:r>
              <a:rPr lang="hy-AM" sz="3200" b="1" dirty="0" smtClean="0">
                <a:solidFill>
                  <a:schemeClr val="bg1"/>
                </a:solidFill>
              </a:rPr>
              <a:t>color:blue;   font-size:15px}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348" y="1500174"/>
            <a:ext cx="167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Selector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8926" y="1484784"/>
            <a:ext cx="265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Declaration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68144" y="1465620"/>
            <a:ext cx="241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Declaration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71800" y="3212976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Property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9124" y="3265820"/>
            <a:ext cx="1150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Value</a:t>
            </a:r>
            <a:endParaRPr lang="en-US" sz="2800" b="1" dirty="0">
              <a:solidFill>
                <a:srgbClr val="00B050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3635896" y="306896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004048" y="306896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52120" y="3212976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Property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80312" y="3212976"/>
            <a:ext cx="1192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00B050"/>
                </a:solidFill>
              </a:rPr>
              <a:t>Value</a:t>
            </a:r>
            <a:endParaRPr lang="en-US" sz="2800" b="1" dirty="0">
              <a:solidFill>
                <a:srgbClr val="00B050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6372200" y="306896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7740352" y="306896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Comments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32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67544" y="908720"/>
            <a:ext cx="3312368" cy="2308324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/*This is a comment*/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p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7030A0"/>
                </a:solidFill>
              </a:rPr>
              <a:t>{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>text-</a:t>
            </a:r>
            <a:r>
              <a:rPr lang="en-US" b="1" dirty="0" err="1" smtClean="0">
                <a:solidFill>
                  <a:srgbClr val="7030A0"/>
                </a:solidFill>
              </a:rPr>
              <a:t>align:center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B050"/>
                </a:solidFill>
              </a:rPr>
              <a:t>/*This is another comment*/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>
                <a:solidFill>
                  <a:srgbClr val="7030A0"/>
                </a:solidFill>
              </a:rPr>
              <a:t>color:black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>font-</a:t>
            </a:r>
            <a:r>
              <a:rPr lang="en-US" b="1" dirty="0" err="1" smtClean="0">
                <a:solidFill>
                  <a:srgbClr val="7030A0"/>
                </a:solidFill>
              </a:rPr>
              <a:t>family:arial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>}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84" y="4797152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Id and Class</a:t>
            </a:r>
            <a:endParaRPr lang="en-US" sz="32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3995936" y="1484784"/>
            <a:ext cx="4680520" cy="4801314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&lt;!DOCTYPE html&gt;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&lt;style&gt;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#para1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{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text-</a:t>
            </a:r>
            <a:r>
              <a:rPr lang="en-US" b="1" dirty="0" err="1" smtClean="0">
                <a:solidFill>
                  <a:srgbClr val="7030A0"/>
                </a:solidFill>
              </a:rPr>
              <a:t>align:center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 err="1" smtClean="0">
                <a:solidFill>
                  <a:srgbClr val="7030A0"/>
                </a:solidFill>
              </a:rPr>
              <a:t>color:red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}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&lt;body&gt;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&lt;p </a:t>
            </a:r>
            <a:r>
              <a:rPr lang="en-US" b="1" dirty="0" smtClean="0">
                <a:solidFill>
                  <a:srgbClr val="00B050"/>
                </a:solidFill>
              </a:rPr>
              <a:t>id="para1"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Hello World!</a:t>
            </a:r>
            <a:r>
              <a:rPr lang="hy-AM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&lt;/p&gt;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&lt;p&gt;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This paragraph is not affected by the style.</a:t>
            </a:r>
            <a:r>
              <a:rPr lang="hy-AM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&lt;/p&gt;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&lt;/html&gt;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1560" y="62068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Id and Class</a:t>
            </a:r>
            <a:endParaRPr lang="en-US" sz="32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779912" y="1340768"/>
            <a:ext cx="4752528" cy="480131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&lt;!DOCTYPE html&gt;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&lt;style&gt;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.center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{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text-</a:t>
            </a:r>
            <a:r>
              <a:rPr lang="en-US" b="1" dirty="0" err="1" smtClean="0">
                <a:solidFill>
                  <a:srgbClr val="7030A0"/>
                </a:solidFill>
              </a:rPr>
              <a:t>align:center</a:t>
            </a:r>
            <a:r>
              <a:rPr lang="en-US" b="1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}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&lt;body&gt;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&lt;h1 </a:t>
            </a:r>
            <a:r>
              <a:rPr lang="en-US" b="1" dirty="0" smtClean="0">
                <a:solidFill>
                  <a:srgbClr val="00B050"/>
                </a:solidFill>
              </a:rPr>
              <a:t>class="center"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Center-aligned heading</a:t>
            </a:r>
            <a:r>
              <a:rPr lang="en-US" b="1" dirty="0" smtClean="0">
                <a:solidFill>
                  <a:srgbClr val="FF0000"/>
                </a:solidFill>
              </a:rPr>
              <a:t>&lt;/h1&gt;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&lt;p </a:t>
            </a:r>
            <a:r>
              <a:rPr lang="en-US" b="1" dirty="0" smtClean="0">
                <a:solidFill>
                  <a:srgbClr val="00B050"/>
                </a:solidFill>
              </a:rPr>
              <a:t>class="center"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Center-aligned paragraph.</a:t>
            </a:r>
            <a:r>
              <a:rPr lang="en-US" b="1" dirty="0" smtClean="0">
                <a:solidFill>
                  <a:srgbClr val="FF0000"/>
                </a:solidFill>
              </a:rPr>
              <a:t>&lt;/p&gt;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&lt;/html&gt;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1560" y="1412776"/>
            <a:ext cx="1728192" cy="1754326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&lt;style&gt;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p.center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{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text-</a:t>
            </a:r>
            <a:r>
              <a:rPr lang="en-US" dirty="0" err="1" smtClean="0">
                <a:solidFill>
                  <a:srgbClr val="7030A0"/>
                </a:solidFill>
              </a:rPr>
              <a:t>align:center</a:t>
            </a:r>
            <a:r>
              <a:rPr lang="en-US" dirty="0" smtClean="0">
                <a:solidFill>
                  <a:srgbClr val="7030A0"/>
                </a:solidFill>
              </a:rPr>
              <a:t>;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&lt;/style&gt;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528" y="3501008"/>
            <a:ext cx="2808312" cy="203132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&lt;h1 </a:t>
            </a:r>
            <a:r>
              <a:rPr lang="en-US" b="1" dirty="0" smtClean="0">
                <a:solidFill>
                  <a:srgbClr val="00B050"/>
                </a:solidFill>
              </a:rPr>
              <a:t>class="center"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This heading will not be affected</a:t>
            </a:r>
            <a:r>
              <a:rPr lang="en-US" b="1" dirty="0" smtClean="0">
                <a:solidFill>
                  <a:srgbClr val="FF0000"/>
                </a:solidFill>
              </a:rPr>
              <a:t>&lt;/h1&gt;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&lt;p </a:t>
            </a:r>
            <a:r>
              <a:rPr lang="en-US" b="1" dirty="0" smtClean="0">
                <a:solidFill>
                  <a:srgbClr val="00B050"/>
                </a:solidFill>
              </a:rPr>
              <a:t>class="center"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This paragraph will be center-aligned.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&lt;/p&gt;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11560" y="62068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1560" y="1556792"/>
            <a:ext cx="8064896" cy="18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background-color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background-image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background-repeat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background-attachment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background-position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755576" y="3645024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ckground-color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7704" y="4221088"/>
            <a:ext cx="3672408" cy="92333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HEX</a:t>
            </a:r>
            <a:r>
              <a:rPr lang="en-US" b="1" dirty="0" smtClean="0">
                <a:solidFill>
                  <a:schemeClr val="accent2"/>
                </a:solidFill>
              </a:rPr>
              <a:t> value - like </a:t>
            </a:r>
            <a:r>
              <a:rPr lang="en-US" b="1" dirty="0" smtClean="0">
                <a:solidFill>
                  <a:srgbClr val="7030A0"/>
                </a:solidFill>
              </a:rPr>
              <a:t>"#ff0000"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RGB</a:t>
            </a:r>
            <a:r>
              <a:rPr lang="en-US" b="1" dirty="0" smtClean="0">
                <a:solidFill>
                  <a:schemeClr val="accent2"/>
                </a:solidFill>
              </a:rPr>
              <a:t> value - like </a:t>
            </a:r>
            <a:r>
              <a:rPr lang="en-US" b="1" dirty="0" smtClean="0">
                <a:solidFill>
                  <a:srgbClr val="7030A0"/>
                </a:solidFill>
              </a:rPr>
              <a:t>"</a:t>
            </a:r>
            <a:r>
              <a:rPr lang="en-US" b="1" dirty="0" err="1" smtClean="0">
                <a:solidFill>
                  <a:srgbClr val="7030A0"/>
                </a:solidFill>
              </a:rPr>
              <a:t>rgb</a:t>
            </a:r>
            <a:r>
              <a:rPr lang="en-US" b="1" dirty="0" smtClean="0">
                <a:solidFill>
                  <a:srgbClr val="7030A0"/>
                </a:solidFill>
              </a:rPr>
              <a:t>(255,0,0)"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color name </a:t>
            </a:r>
            <a:r>
              <a:rPr lang="en-US" b="1" dirty="0" smtClean="0">
                <a:solidFill>
                  <a:schemeClr val="accent2"/>
                </a:solidFill>
              </a:rPr>
              <a:t>- like </a:t>
            </a:r>
            <a:r>
              <a:rPr lang="en-US" b="1" dirty="0" smtClean="0">
                <a:solidFill>
                  <a:srgbClr val="7030A0"/>
                </a:solidFill>
              </a:rPr>
              <a:t>"red"</a:t>
            </a:r>
            <a:endParaRPr 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1560" y="980728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ckground-color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pic>
        <p:nvPicPr>
          <p:cNvPr id="3075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548680"/>
            <a:ext cx="4051548" cy="1331282"/>
          </a:xfrm>
          <a:prstGeom prst="rect">
            <a:avLst/>
          </a:prstGeom>
          <a:noFill/>
        </p:spPr>
      </p:pic>
      <p:sp>
        <p:nvSpPr>
          <p:cNvPr id="18" name="Rectangle 17"/>
          <p:cNvSpPr/>
          <p:nvPr/>
        </p:nvSpPr>
        <p:spPr>
          <a:xfrm>
            <a:off x="395536" y="1556792"/>
            <a:ext cx="48245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&lt;style&gt;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h1</a:t>
            </a:r>
            <a:r>
              <a:rPr lang="en-US" b="1" dirty="0" smtClean="0">
                <a:solidFill>
                  <a:srgbClr val="0070C0"/>
                </a:solidFill>
              </a:rPr>
              <a:t>{background-color:#6495ed; }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p</a:t>
            </a:r>
            <a:r>
              <a:rPr lang="en-US" b="1" dirty="0" smtClean="0">
                <a:solidFill>
                  <a:srgbClr val="0070C0"/>
                </a:solidFill>
              </a:rPr>
              <a:t>{</a:t>
            </a:r>
            <a:r>
              <a:rPr lang="hy-AM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background-color:#e0ffff; }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div</a:t>
            </a:r>
            <a:r>
              <a:rPr lang="en-US" b="1" dirty="0" smtClean="0">
                <a:solidFill>
                  <a:srgbClr val="0070C0"/>
                </a:solidFill>
              </a:rPr>
              <a:t>{background-color:#b0c4de;}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&lt;body&gt;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&lt;h1&gt;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CSS background-color example!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&lt;/h1&gt;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&lt;div&gt;</a:t>
            </a:r>
          </a:p>
          <a:p>
            <a:r>
              <a:rPr lang="en-US" b="1" dirty="0" smtClean="0"/>
              <a:t>This is a text inside a div element.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&lt;p&gt;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This paragraph has its own background color.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&lt;/p&gt;</a:t>
            </a:r>
          </a:p>
          <a:p>
            <a:r>
              <a:rPr lang="en-US" b="1" dirty="0" smtClean="0"/>
              <a:t>We are still in the div element.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&lt;/div&gt;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1560" y="980728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 Image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5536" y="1556792"/>
            <a:ext cx="4824536" cy="2585323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&lt;style&gt;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body {</a:t>
            </a:r>
            <a:r>
              <a:rPr lang="en-US" b="1" dirty="0" err="1" smtClean="0">
                <a:solidFill>
                  <a:srgbClr val="7030A0"/>
                </a:solidFill>
              </a:rPr>
              <a:t>background-image:url</a:t>
            </a:r>
            <a:r>
              <a:rPr lang="en-US" b="1" dirty="0" smtClean="0">
                <a:solidFill>
                  <a:srgbClr val="7030A0"/>
                </a:solidFill>
              </a:rPr>
              <a:t>("</a:t>
            </a:r>
            <a:r>
              <a:rPr lang="hy-AM" b="1" dirty="0" smtClean="0">
                <a:solidFill>
                  <a:srgbClr val="7030A0"/>
                </a:solidFill>
              </a:rPr>
              <a:t>image.jpg</a:t>
            </a:r>
            <a:r>
              <a:rPr lang="en-US" b="1" dirty="0" smtClean="0">
                <a:solidFill>
                  <a:srgbClr val="7030A0"/>
                </a:solidFill>
              </a:rPr>
              <a:t>");} </a:t>
            </a:r>
            <a:r>
              <a:rPr lang="en-US" b="1" dirty="0" smtClean="0">
                <a:solidFill>
                  <a:srgbClr val="00206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&lt;body&gt;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&lt;h1&gt;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CSS background</a:t>
            </a:r>
            <a:r>
              <a:rPr lang="hy-AM" b="1" dirty="0" smtClean="0"/>
              <a:t> Image</a:t>
            </a:r>
            <a:r>
              <a:rPr lang="en-US" b="1" dirty="0" smtClean="0"/>
              <a:t> example!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&lt;/h1&gt;</a:t>
            </a: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980728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 Image Repeat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7544" y="1518652"/>
          <a:ext cx="7776864" cy="2990468"/>
        </p:xfrm>
        <a:graphic>
          <a:graphicData uri="http://schemas.openxmlformats.org/drawingml/2006/table">
            <a:tbl>
              <a:tblPr/>
              <a:tblGrid>
                <a:gridCol w="1048566"/>
                <a:gridCol w="6728298"/>
              </a:tblGrid>
              <a:tr h="37299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Value</a:t>
                      </a: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repeat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The background image will be repeated both vertically and horizontally. This is default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repeat-x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The background image will be repeated only horizontally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repeat-y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The background image will be repeated only vertically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no-repeat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The background-image will not be repeated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inherit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Specifies that the setting of the background-repeat property should be inherited from the parent element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23928" y="4941168"/>
            <a:ext cx="3888432" cy="92333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background-</a:t>
            </a:r>
            <a:r>
              <a:rPr lang="en-US" b="1" dirty="0" err="1" smtClean="0">
                <a:solidFill>
                  <a:srgbClr val="FF0000"/>
                </a:solidFill>
              </a:rPr>
              <a:t>repeat:no</a:t>
            </a:r>
            <a:r>
              <a:rPr lang="en-US" b="1" dirty="0" smtClean="0">
                <a:solidFill>
                  <a:srgbClr val="FF0000"/>
                </a:solidFill>
              </a:rPr>
              <a:t>-repeat;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background-</a:t>
            </a:r>
            <a:r>
              <a:rPr lang="en-US" b="1" dirty="0" err="1" smtClean="0">
                <a:solidFill>
                  <a:srgbClr val="FF0000"/>
                </a:solidFill>
              </a:rPr>
              <a:t>repeat:repeat</a:t>
            </a:r>
            <a:r>
              <a:rPr lang="en-US" b="1" dirty="0" smtClean="0">
                <a:solidFill>
                  <a:srgbClr val="FF0000"/>
                </a:solidFill>
              </a:rPr>
              <a:t>-x;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background-</a:t>
            </a:r>
            <a:r>
              <a:rPr lang="en-US" b="1" dirty="0" err="1" smtClean="0">
                <a:solidFill>
                  <a:srgbClr val="FF0000"/>
                </a:solidFill>
              </a:rPr>
              <a:t>repeat:repeat</a:t>
            </a:r>
            <a:r>
              <a:rPr lang="en-US" b="1" dirty="0" smtClean="0">
                <a:solidFill>
                  <a:srgbClr val="FF0000"/>
                </a:solidFill>
              </a:rPr>
              <a:t>-y;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76470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 Position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99992" y="4725144"/>
            <a:ext cx="3888432" cy="646331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background-</a:t>
            </a:r>
            <a:r>
              <a:rPr lang="hy-AM" b="1" dirty="0" smtClean="0">
                <a:solidFill>
                  <a:srgbClr val="FF0000"/>
                </a:solidFill>
              </a:rPr>
              <a:t>position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r>
              <a:rPr lang="hy-AM" b="1" dirty="0" smtClean="0">
                <a:solidFill>
                  <a:srgbClr val="FF0000"/>
                </a:solidFill>
              </a:rPr>
              <a:t>left</a:t>
            </a:r>
            <a:r>
              <a:rPr lang="en-US" b="1" smtClean="0">
                <a:solidFill>
                  <a:srgbClr val="FF0000"/>
                </a:solidFill>
              </a:rPr>
              <a:t> </a:t>
            </a:r>
            <a:r>
              <a:rPr lang="hy-AM" b="1" smtClean="0">
                <a:solidFill>
                  <a:srgbClr val="FF0000"/>
                </a:solidFill>
              </a:rPr>
              <a:t>top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background-</a:t>
            </a:r>
            <a:r>
              <a:rPr lang="hy-AM" b="1" dirty="0" smtClean="0">
                <a:solidFill>
                  <a:srgbClr val="FF0000"/>
                </a:solidFill>
              </a:rPr>
              <a:t> position 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r>
              <a:rPr lang="hy-AM" b="1" dirty="0" smtClean="0">
                <a:solidFill>
                  <a:srgbClr val="FF0000"/>
                </a:solidFill>
              </a:rPr>
              <a:t>50% 45%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67544" y="1340768"/>
          <a:ext cx="7920880" cy="2862776"/>
        </p:xfrm>
        <a:graphic>
          <a:graphicData uri="http://schemas.openxmlformats.org/drawingml/2006/table">
            <a:tbl>
              <a:tblPr/>
              <a:tblGrid>
                <a:gridCol w="1620179"/>
                <a:gridCol w="6300701"/>
              </a:tblGrid>
              <a:tr h="139695">
                <a:tc>
                  <a:txBody>
                    <a:bodyPr/>
                    <a:lstStyle/>
                    <a:p>
                      <a:pPr algn="l" fontAlgn="t"/>
                      <a:r>
                        <a:rPr lang="hy-AM" sz="1200" dirty="0" smtClean="0">
                          <a:solidFill>
                            <a:srgbClr val="FFFFFF"/>
                          </a:solidFill>
                          <a:latin typeface="verdana"/>
                        </a:rPr>
                        <a:t>V</a:t>
                      </a:r>
                      <a:r>
                        <a:rPr lang="en-US" sz="1200" dirty="0" err="1" smtClean="0">
                          <a:solidFill>
                            <a:srgbClr val="FFFFFF"/>
                          </a:solidFill>
                          <a:latin typeface="verdana"/>
                        </a:rPr>
                        <a:t>alue</a:t>
                      </a:r>
                      <a:endParaRPr lang="en-US" sz="1200" dirty="0">
                        <a:solidFill>
                          <a:srgbClr val="FFFFFF"/>
                        </a:solidFill>
                        <a:latin typeface="verdana"/>
                      </a:endParaRPr>
                    </a:p>
                  </a:txBody>
                  <a:tcPr marL="12043" marR="12043" marT="12043" marB="12043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12043" marR="12043" marT="12043" marB="12043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1905953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left top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left center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left bottom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right top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right center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right bottom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center top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center center</a:t>
                      </a:r>
                      <a:br>
                        <a:rPr lang="en-US" sz="1200">
                          <a:latin typeface="verdana"/>
                        </a:rPr>
                      </a:br>
                      <a:r>
                        <a:rPr lang="en-US" sz="1200">
                          <a:latin typeface="verdana"/>
                        </a:rPr>
                        <a:t>center bottom</a:t>
                      </a:r>
                    </a:p>
                  </a:txBody>
                  <a:tcPr marL="20071" marR="20071" marT="28100" marB="2810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If you only specify one keyword, the other value will be "center"</a:t>
                      </a:r>
                    </a:p>
                  </a:txBody>
                  <a:tcPr marL="20071" marR="20071" marT="28100" marB="2810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57">
                <a:tc>
                  <a:txBody>
                    <a:bodyPr/>
                    <a:lstStyle/>
                    <a:p>
                      <a:pPr fontAlgn="t"/>
                      <a:r>
                        <a:rPr lang="en-US" sz="1200" i="1" dirty="0">
                          <a:latin typeface="verdana"/>
                        </a:rPr>
                        <a:t>x% y%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0071" marR="20071" marT="28100" marB="2810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The first value is the horizontal position and the second value is the vertical. The top left corner is 0% 0%. The right bottom corner is 100% 100%. If you only specify one value, the other value will be 50%. . Default value is: 0% 0%</a:t>
                      </a:r>
                    </a:p>
                  </a:txBody>
                  <a:tcPr marL="20071" marR="20071" marT="28100" marB="2810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76470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 Attachment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7224" y="2143116"/>
            <a:ext cx="4429156" cy="646331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background-attachment:</a:t>
            </a:r>
            <a:r>
              <a:rPr lang="hy-AM" b="1" dirty="0" smtClean="0">
                <a:solidFill>
                  <a:srgbClr val="FF0000"/>
                </a:solidFill>
              </a:rPr>
              <a:t>fixed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background-attachment:</a:t>
            </a:r>
            <a:r>
              <a:rPr lang="hy-AM" b="1" dirty="0" smtClean="0">
                <a:solidFill>
                  <a:srgbClr val="FF0000"/>
                </a:solidFill>
              </a:rPr>
              <a:t>scroll;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11560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Styling Backgrounds</a:t>
            </a:r>
            <a:endParaRPr lang="en-US" sz="32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76470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ckground</a:t>
            </a:r>
            <a:endParaRPr 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5536" y="1628800"/>
            <a:ext cx="6408712" cy="1200329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hy-AM" b="1" dirty="0" smtClean="0">
                <a:solidFill>
                  <a:srgbClr val="FF0000"/>
                </a:solidFill>
              </a:rPr>
              <a:t>body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background: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#</a:t>
            </a:r>
            <a:r>
              <a:rPr lang="en-US" b="1" dirty="0" err="1" smtClean="0">
                <a:solidFill>
                  <a:srgbClr val="7030A0"/>
                </a:solidFill>
              </a:rPr>
              <a:t>ffffff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url</a:t>
            </a:r>
            <a:r>
              <a:rPr lang="en-US" b="1" dirty="0" smtClean="0">
                <a:solidFill>
                  <a:srgbClr val="7030A0"/>
                </a:solidFill>
              </a:rPr>
              <a:t>('</a:t>
            </a:r>
            <a:r>
              <a:rPr lang="hy-AM" b="1" dirty="0" smtClean="0">
                <a:solidFill>
                  <a:srgbClr val="7030A0"/>
                </a:solidFill>
              </a:rPr>
              <a:t>02.jpg</a:t>
            </a:r>
            <a:r>
              <a:rPr lang="en-US" b="1" dirty="0" smtClean="0">
                <a:solidFill>
                  <a:srgbClr val="7030A0"/>
                </a:solidFill>
              </a:rPr>
              <a:t>')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no-repeat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 right top;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}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121" name="Picture 1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3501008"/>
            <a:ext cx="5564214" cy="195212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969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196752"/>
            <a:ext cx="6655720" cy="4419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1688</TotalTime>
  <Words>639</Words>
  <Application>Microsoft Office PowerPoint</Application>
  <PresentationFormat>Экран (4:3)</PresentationFormat>
  <Paragraphs>164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59</cp:revision>
  <dcterms:created xsi:type="dcterms:W3CDTF">2013-08-16T08:22:25Z</dcterms:created>
  <dcterms:modified xsi:type="dcterms:W3CDTF">2016-11-16T12:51:51Z</dcterms:modified>
</cp:coreProperties>
</file>