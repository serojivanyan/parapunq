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44" r:id="rId1"/>
  </p:sldMasterIdLst>
  <p:notesMasterIdLst>
    <p:notesMasterId r:id="rId14"/>
  </p:notesMasterIdLst>
  <p:sldIdLst>
    <p:sldId id="257" r:id="rId2"/>
    <p:sldId id="275" r:id="rId3"/>
    <p:sldId id="276" r:id="rId4"/>
    <p:sldId id="273" r:id="rId5"/>
    <p:sldId id="261" r:id="rId6"/>
    <p:sldId id="262" r:id="rId7"/>
    <p:sldId id="272" r:id="rId8"/>
    <p:sldId id="278" r:id="rId9"/>
    <p:sldId id="284" r:id="rId10"/>
    <p:sldId id="285" r:id="rId11"/>
    <p:sldId id="258" r:id="rId12"/>
    <p:sldId id="28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8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717" autoAdjust="0"/>
  </p:normalViewPr>
  <p:slideViewPr>
    <p:cSldViewPr>
      <p:cViewPr varScale="1">
        <p:scale>
          <a:sx n="70" d="100"/>
          <a:sy n="70" d="100"/>
        </p:scale>
        <p:origin x="-138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9A533B-BB62-4DA6-BFAC-31FCF3044E77}" type="datetimeFigureOut">
              <a:rPr lang="en-US" smtClean="0"/>
              <a:pPr/>
              <a:t>11/25/2016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4AA493-8083-4A0A-9DB8-8876B538388F}" type="slidenum">
              <a:rPr lang="en-US" smtClean="0"/>
              <a:pPr/>
              <a:t>‹#›</a:t>
            </a:fld>
            <a:endParaRPr lang="en-US"/>
          </a:p>
        </p:txBody>
      </p:sp>
    </p:spTree>
    <p:extLst>
      <p:ext uri="{BB962C8B-B14F-4D97-AF65-F5344CB8AC3E}">
        <p14:creationId xmlns:p14="http://schemas.microsoft.com/office/powerpoint/2010/main" val="2745860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859E707-2A3A-45FE-B56F-C51718F36AA8}"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859E707-2A3A-45FE-B56F-C51718F36AA8}"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9E707-2A3A-45FE-B56F-C51718F36AA8}"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59E707-2A3A-45FE-B56F-C51718F36AA8}"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9E707-2A3A-45FE-B56F-C51718F36AA8}"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859E707-2A3A-45FE-B56F-C51718F36AA8}"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32B6477-8826-47CB-B9F3-3F88F5668FA1}" type="datetimeFigureOut">
              <a:rPr lang="en-US" smtClean="0"/>
              <a:pPr/>
              <a:t>11/25/2016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859E707-2A3A-45FE-B56F-C51718F36A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www.w3.org/TR/CSS2/selector.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w3.org/TR/CSS2/selector.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11560" y="1484784"/>
            <a:ext cx="4608512" cy="2369880"/>
          </a:xfrm>
          <a:prstGeom prst="rect">
            <a:avLst/>
          </a:prstGeom>
          <a:noFill/>
        </p:spPr>
        <p:txBody>
          <a:bodyPr wrap="square" rtlCol="0">
            <a:spAutoFit/>
          </a:bodyPr>
          <a:lstStyle/>
          <a:p>
            <a:r>
              <a:rPr lang="hy-AM" sz="120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CSS</a:t>
            </a:r>
          </a:p>
          <a:p>
            <a:r>
              <a:rPr lang="hy-AM" sz="2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Lesson 1</a:t>
            </a:r>
            <a:r>
              <a:rPr lang="en-US" sz="2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1</a:t>
            </a:r>
            <a:endParaRPr lang="en-US" sz="2800" b="1" dirty="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endParaRPr>
          </a:p>
        </p:txBody>
      </p:sp>
      <p:pic>
        <p:nvPicPr>
          <p:cNvPr id="1027" name="Picture 3" descr="C:\Users\Araik\Desktop\images.jpg"/>
          <p:cNvPicPr>
            <a:picLocks noChangeAspect="1" noChangeArrowheads="1"/>
          </p:cNvPicPr>
          <p:nvPr/>
        </p:nvPicPr>
        <p:blipFill>
          <a:blip r:embed="rId2" cstate="print"/>
          <a:srcRect/>
          <a:stretch>
            <a:fillRect/>
          </a:stretch>
        </p:blipFill>
        <p:spPr bwMode="auto">
          <a:xfrm>
            <a:off x="4283968" y="836712"/>
            <a:ext cx="3556595" cy="355659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graphicFrame>
        <p:nvGraphicFramePr>
          <p:cNvPr id="8" name="Table 7"/>
          <p:cNvGraphicFramePr>
            <a:graphicFrameLocks noGrp="1"/>
          </p:cNvGraphicFramePr>
          <p:nvPr/>
        </p:nvGraphicFramePr>
        <p:xfrm>
          <a:off x="785786" y="1214421"/>
          <a:ext cx="7643866" cy="4500593"/>
        </p:xfrm>
        <a:graphic>
          <a:graphicData uri="http://schemas.openxmlformats.org/drawingml/2006/table">
            <a:tbl>
              <a:tblPr>
                <a:tableStyleId>{69C7853C-536D-4A76-A0AE-DD22124D55A5}</a:tableStyleId>
              </a:tblPr>
              <a:tblGrid>
                <a:gridCol w="2607210"/>
                <a:gridCol w="2518328"/>
                <a:gridCol w="2518328"/>
              </a:tblGrid>
              <a:tr h="274594">
                <a:tc>
                  <a:txBody>
                    <a:bodyPr/>
                    <a:lstStyle/>
                    <a:p>
                      <a:r>
                        <a:rPr lang="en-US" sz="1400" b="1" dirty="0"/>
                        <a:t>Pattern</a:t>
                      </a:r>
                      <a:endParaRPr lang="en-US" sz="1400" b="1" dirty="0">
                        <a:latin typeface="Arial"/>
                      </a:endParaRPr>
                    </a:p>
                  </a:txBody>
                  <a:tcPr marL="15511" marR="15511" marT="7756" marB="7756" anchor="ctr">
                    <a:solidFill>
                      <a:schemeClr val="accent3">
                        <a:lumMod val="20000"/>
                        <a:lumOff val="80000"/>
                      </a:schemeClr>
                    </a:solidFill>
                  </a:tcPr>
                </a:tc>
                <a:tc>
                  <a:txBody>
                    <a:bodyPr/>
                    <a:lstStyle/>
                    <a:p>
                      <a:r>
                        <a:rPr lang="en-US" sz="1400" b="1"/>
                        <a:t>Meaning</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a:t>Described in section</a:t>
                      </a:r>
                      <a:endParaRPr lang="en-US" sz="1400" b="1">
                        <a:latin typeface="Arial"/>
                      </a:endParaRPr>
                    </a:p>
                  </a:txBody>
                  <a:tcPr marL="15511" marR="15511" marT="7756" marB="7756" anchor="ctr">
                    <a:solidFill>
                      <a:schemeClr val="accent3">
                        <a:lumMod val="20000"/>
                        <a:lumOff val="80000"/>
                      </a:schemeClr>
                    </a:solidFill>
                  </a:tcPr>
                </a:tc>
              </a:tr>
              <a:tr h="274594">
                <a:tc>
                  <a:txBody>
                    <a:bodyPr/>
                    <a:lstStyle/>
                    <a:p>
                      <a:r>
                        <a:rPr lang="ru-RU" sz="1400" b="1"/>
                        <a:t>*</a:t>
                      </a:r>
                      <a:endParaRPr lang="ru-RU" sz="1400" b="1">
                        <a:latin typeface="Arial"/>
                      </a:endParaRPr>
                    </a:p>
                  </a:txBody>
                  <a:tcPr marL="15511" marR="15511" marT="7756" marB="7756" anchor="ctr">
                    <a:solidFill>
                      <a:schemeClr val="accent3">
                        <a:lumMod val="20000"/>
                        <a:lumOff val="80000"/>
                      </a:schemeClr>
                    </a:solidFill>
                  </a:tcPr>
                </a:tc>
                <a:tc>
                  <a:txBody>
                    <a:bodyPr/>
                    <a:lstStyle/>
                    <a:p>
                      <a:r>
                        <a:rPr lang="en-US" sz="1400" b="1"/>
                        <a:t>Matches any element.</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a:hlinkClick r:id="rId2"/>
                        </a:rPr>
                        <a:t>Universal selector</a:t>
                      </a:r>
                      <a:endParaRPr lang="en-US" sz="1400" b="1">
                        <a:latin typeface="Arial"/>
                      </a:endParaRPr>
                    </a:p>
                  </a:txBody>
                  <a:tcPr marL="15511" marR="15511" marT="7756" marB="7756" anchor="ctr">
                    <a:solidFill>
                      <a:schemeClr val="accent3">
                        <a:lumMod val="20000"/>
                        <a:lumOff val="80000"/>
                      </a:schemeClr>
                    </a:solidFill>
                  </a:tcPr>
                </a:tc>
              </a:tr>
              <a:tr h="530576">
                <a:tc>
                  <a:txBody>
                    <a:bodyPr/>
                    <a:lstStyle/>
                    <a:p>
                      <a:r>
                        <a:rPr lang="en-US" sz="1400" b="1" dirty="0"/>
                        <a:t>E</a:t>
                      </a:r>
                      <a:endParaRPr lang="en-US" sz="1400" b="1" dirty="0">
                        <a:latin typeface="Arial"/>
                      </a:endParaRPr>
                    </a:p>
                  </a:txBody>
                  <a:tcPr marL="15511" marR="15511" marT="7756" marB="7756" anchor="ctr">
                    <a:solidFill>
                      <a:schemeClr val="accent3">
                        <a:lumMod val="20000"/>
                        <a:lumOff val="80000"/>
                      </a:schemeClr>
                    </a:solidFill>
                  </a:tcPr>
                </a:tc>
                <a:tc>
                  <a:txBody>
                    <a:bodyPr/>
                    <a:lstStyle/>
                    <a:p>
                      <a:r>
                        <a:rPr lang="en-US" sz="1400" b="1"/>
                        <a:t>Matches any E element (i.e., an element of type E).</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a:hlinkClick r:id="rId2"/>
                        </a:rPr>
                        <a:t>Type selectors</a:t>
                      </a:r>
                      <a:endParaRPr lang="en-US" sz="1400" b="1">
                        <a:latin typeface="Arial"/>
                      </a:endParaRPr>
                    </a:p>
                  </a:txBody>
                  <a:tcPr marL="15511" marR="15511" marT="7756" marB="7756" anchor="ctr">
                    <a:solidFill>
                      <a:schemeClr val="accent3">
                        <a:lumMod val="20000"/>
                        <a:lumOff val="80000"/>
                      </a:schemeClr>
                    </a:solidFill>
                  </a:tcPr>
                </a:tc>
              </a:tr>
              <a:tr h="786559">
                <a:tc>
                  <a:txBody>
                    <a:bodyPr/>
                    <a:lstStyle/>
                    <a:p>
                      <a:r>
                        <a:rPr lang="en-US" sz="1400" b="1"/>
                        <a:t>E F</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a:t>Matches any F element that is a descendant of an E element.</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a:hlinkClick r:id="rId2"/>
                        </a:rPr>
                        <a:t>Descendant selectors</a:t>
                      </a:r>
                      <a:endParaRPr lang="en-US" sz="1400" b="1">
                        <a:latin typeface="Arial"/>
                      </a:endParaRPr>
                    </a:p>
                  </a:txBody>
                  <a:tcPr marL="15511" marR="15511" marT="7756" marB="7756" anchor="ctr">
                    <a:solidFill>
                      <a:schemeClr val="accent3">
                        <a:lumMod val="20000"/>
                        <a:lumOff val="80000"/>
                      </a:schemeClr>
                    </a:solidFill>
                  </a:tcPr>
                </a:tc>
              </a:tr>
              <a:tr h="530576">
                <a:tc>
                  <a:txBody>
                    <a:bodyPr/>
                    <a:lstStyle/>
                    <a:p>
                      <a:r>
                        <a:rPr lang="en-US" sz="1400" b="1" dirty="0"/>
                        <a:t>E &gt; F</a:t>
                      </a:r>
                      <a:endParaRPr lang="en-US" sz="1400" b="1" dirty="0">
                        <a:latin typeface="Arial"/>
                      </a:endParaRPr>
                    </a:p>
                  </a:txBody>
                  <a:tcPr marL="15511" marR="15511" marT="7756" marB="7756" anchor="ctr">
                    <a:solidFill>
                      <a:schemeClr val="accent3">
                        <a:lumMod val="20000"/>
                        <a:lumOff val="80000"/>
                      </a:schemeClr>
                    </a:solidFill>
                  </a:tcPr>
                </a:tc>
                <a:tc>
                  <a:txBody>
                    <a:bodyPr/>
                    <a:lstStyle/>
                    <a:p>
                      <a:r>
                        <a:rPr lang="en-US" sz="1400" b="1"/>
                        <a:t>Matches any F element that is a child of an element E.</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dirty="0">
                          <a:hlinkClick r:id="rId2"/>
                        </a:rPr>
                        <a:t>Child selectors</a:t>
                      </a:r>
                      <a:endParaRPr lang="en-US" sz="1400" b="1" dirty="0">
                        <a:latin typeface="Arial"/>
                      </a:endParaRPr>
                    </a:p>
                  </a:txBody>
                  <a:tcPr marL="15511" marR="15511" marT="7756" marB="7756" anchor="ctr">
                    <a:solidFill>
                      <a:schemeClr val="accent3">
                        <a:lumMod val="20000"/>
                        <a:lumOff val="80000"/>
                      </a:schemeClr>
                    </a:solidFill>
                  </a:tcPr>
                </a:tc>
              </a:tr>
              <a:tr h="786559">
                <a:tc>
                  <a:txBody>
                    <a:bodyPr/>
                    <a:lstStyle/>
                    <a:p>
                      <a:r>
                        <a:rPr lang="en-US" sz="1400" b="1" dirty="0"/>
                        <a:t>E + F</a:t>
                      </a:r>
                      <a:endParaRPr lang="en-US" sz="1400" b="1" dirty="0">
                        <a:latin typeface="Arial"/>
                      </a:endParaRPr>
                    </a:p>
                  </a:txBody>
                  <a:tcPr marL="15511" marR="15511" marT="7756" marB="7756" anchor="ctr">
                    <a:solidFill>
                      <a:schemeClr val="accent3">
                        <a:lumMod val="20000"/>
                        <a:lumOff val="80000"/>
                      </a:schemeClr>
                    </a:solidFill>
                  </a:tcPr>
                </a:tc>
                <a:tc>
                  <a:txBody>
                    <a:bodyPr/>
                    <a:lstStyle/>
                    <a:p>
                      <a:r>
                        <a:rPr lang="en-US" sz="1400" b="1" dirty="0"/>
                        <a:t>Matches any F element immediately preceded by a sibling element E.</a:t>
                      </a:r>
                      <a:endParaRPr lang="en-US" sz="1400" b="1" dirty="0">
                        <a:latin typeface="Arial"/>
                      </a:endParaRPr>
                    </a:p>
                  </a:txBody>
                  <a:tcPr marL="15511" marR="15511" marT="7756" marB="7756" anchor="ctr">
                    <a:solidFill>
                      <a:schemeClr val="accent3">
                        <a:lumMod val="20000"/>
                        <a:lumOff val="80000"/>
                      </a:schemeClr>
                    </a:solidFill>
                  </a:tcPr>
                </a:tc>
                <a:tc>
                  <a:txBody>
                    <a:bodyPr/>
                    <a:lstStyle/>
                    <a:p>
                      <a:r>
                        <a:rPr lang="en-US" sz="1400" b="1">
                          <a:hlinkClick r:id="rId2"/>
                        </a:rPr>
                        <a:t>Adjacent selectors</a:t>
                      </a:r>
                      <a:endParaRPr lang="en-US" sz="1400" b="1">
                        <a:latin typeface="Arial"/>
                      </a:endParaRPr>
                    </a:p>
                  </a:txBody>
                  <a:tcPr marL="15511" marR="15511" marT="7756" marB="7756" anchor="ctr">
                    <a:solidFill>
                      <a:schemeClr val="accent3">
                        <a:lumMod val="20000"/>
                        <a:lumOff val="80000"/>
                      </a:schemeClr>
                    </a:solidFill>
                  </a:tcPr>
                </a:tc>
              </a:tr>
              <a:tr h="786559">
                <a:tc>
                  <a:txBody>
                    <a:bodyPr/>
                    <a:lstStyle/>
                    <a:p>
                      <a:r>
                        <a:rPr lang="en-US" sz="1400" b="1" dirty="0" err="1"/>
                        <a:t>DIV.warning</a:t>
                      </a:r>
                      <a:endParaRPr lang="en-US" sz="1400" b="1" dirty="0">
                        <a:latin typeface="Arial"/>
                      </a:endParaRPr>
                    </a:p>
                  </a:txBody>
                  <a:tcPr marL="15511" marR="15511" marT="7756" marB="7756" anchor="ctr">
                    <a:solidFill>
                      <a:schemeClr val="accent3">
                        <a:lumMod val="20000"/>
                        <a:lumOff val="80000"/>
                      </a:schemeClr>
                    </a:solidFill>
                  </a:tcPr>
                </a:tc>
                <a:tc>
                  <a:txBody>
                    <a:bodyPr/>
                    <a:lstStyle/>
                    <a:p>
                      <a:r>
                        <a:rPr lang="en-US" sz="1400" b="1"/>
                        <a:t>Language specific. (In HTML, the same as DIV[class~="warning"].)</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a:hlinkClick r:id="rId2"/>
                        </a:rPr>
                        <a:t>Class selectors</a:t>
                      </a:r>
                      <a:endParaRPr lang="en-US" sz="1400" b="1">
                        <a:latin typeface="Arial"/>
                      </a:endParaRPr>
                    </a:p>
                  </a:txBody>
                  <a:tcPr marL="15511" marR="15511" marT="7756" marB="7756" anchor="ctr">
                    <a:solidFill>
                      <a:schemeClr val="accent3">
                        <a:lumMod val="20000"/>
                        <a:lumOff val="80000"/>
                      </a:schemeClr>
                    </a:solidFill>
                  </a:tcPr>
                </a:tc>
              </a:tr>
              <a:tr h="530576">
                <a:tc>
                  <a:txBody>
                    <a:bodyPr/>
                    <a:lstStyle/>
                    <a:p>
                      <a:r>
                        <a:rPr lang="en-US" sz="1400" b="1"/>
                        <a:t>E#myid</a:t>
                      </a:r>
                      <a:endParaRPr lang="en-US" sz="1400" b="1">
                        <a:latin typeface="Arial"/>
                      </a:endParaRPr>
                    </a:p>
                  </a:txBody>
                  <a:tcPr marL="15511" marR="15511" marT="7756" marB="7756" anchor="ctr">
                    <a:solidFill>
                      <a:schemeClr val="accent3">
                        <a:lumMod val="20000"/>
                        <a:lumOff val="80000"/>
                      </a:schemeClr>
                    </a:solidFill>
                  </a:tcPr>
                </a:tc>
                <a:tc>
                  <a:txBody>
                    <a:bodyPr/>
                    <a:lstStyle/>
                    <a:p>
                      <a:r>
                        <a:rPr lang="en-US" sz="1400" b="1" dirty="0"/>
                        <a:t>Matches any E element with ID equal to "</a:t>
                      </a:r>
                      <a:r>
                        <a:rPr lang="en-US" sz="1400" b="1" dirty="0" err="1"/>
                        <a:t>myid</a:t>
                      </a:r>
                      <a:r>
                        <a:rPr lang="en-US" sz="1400" b="1" dirty="0"/>
                        <a:t>".</a:t>
                      </a:r>
                      <a:endParaRPr lang="en-US" sz="1400" b="1" dirty="0">
                        <a:latin typeface="Arial"/>
                      </a:endParaRPr>
                    </a:p>
                  </a:txBody>
                  <a:tcPr marL="15511" marR="15511" marT="7756" marB="7756" anchor="ctr">
                    <a:solidFill>
                      <a:schemeClr val="accent3">
                        <a:lumMod val="20000"/>
                        <a:lumOff val="80000"/>
                      </a:schemeClr>
                    </a:solidFill>
                  </a:tcPr>
                </a:tc>
                <a:tc>
                  <a:txBody>
                    <a:bodyPr/>
                    <a:lstStyle/>
                    <a:p>
                      <a:r>
                        <a:rPr lang="en-US" sz="1400" b="1" dirty="0">
                          <a:hlinkClick r:id="rId2"/>
                        </a:rPr>
                        <a:t>ID selectors</a:t>
                      </a:r>
                      <a:endParaRPr lang="en-US" sz="1400" b="1" dirty="0">
                        <a:latin typeface="Arial"/>
                      </a:endParaRPr>
                    </a:p>
                  </a:txBody>
                  <a:tcPr marL="15511" marR="15511" marT="7756" marB="7756" anchor="ctr">
                    <a:solidFill>
                      <a:schemeClr val="accent3">
                        <a:lumMod val="20000"/>
                        <a:lumOff val="80000"/>
                      </a:schemeClr>
                    </a:solidFill>
                  </a:tcPr>
                </a:tc>
              </a:tr>
            </a:tbl>
          </a:graphicData>
        </a:graphic>
      </p:graphicFrame>
      <p:sp>
        <p:nvSpPr>
          <p:cNvPr id="143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785786" y="1428736"/>
          <a:ext cx="7572429" cy="2909454"/>
        </p:xfrm>
        <a:graphic>
          <a:graphicData uri="http://schemas.openxmlformats.org/drawingml/2006/table">
            <a:tbl>
              <a:tblPr>
                <a:tableStyleId>{69C7853C-536D-4A76-A0AE-DD22124D55A5}</a:tableStyleId>
              </a:tblPr>
              <a:tblGrid>
                <a:gridCol w="2524143"/>
                <a:gridCol w="2524143"/>
                <a:gridCol w="2524143"/>
              </a:tblGrid>
              <a:tr h="738909">
                <a:tc>
                  <a:txBody>
                    <a:bodyPr/>
                    <a:lstStyle/>
                    <a:p>
                      <a:r>
                        <a:rPr lang="en-US" sz="1400" b="1" dirty="0"/>
                        <a:t>E[</a:t>
                      </a:r>
                      <a:r>
                        <a:rPr lang="en-US" sz="1400" b="1" dirty="0" err="1"/>
                        <a:t>foo</a:t>
                      </a:r>
                      <a:r>
                        <a:rPr lang="en-US" sz="1400" b="1" dirty="0"/>
                        <a:t>]</a:t>
                      </a:r>
                      <a:endParaRPr lang="en-US" sz="1400" b="1" dirty="0">
                        <a:latin typeface="Arial"/>
                      </a:endParaRPr>
                    </a:p>
                  </a:txBody>
                  <a:tcPr marL="46182" marR="46182" marT="23091" marB="23091" anchor="ctr">
                    <a:solidFill>
                      <a:schemeClr val="accent3">
                        <a:lumMod val="20000"/>
                        <a:lumOff val="80000"/>
                      </a:schemeClr>
                    </a:solidFill>
                  </a:tcPr>
                </a:tc>
                <a:tc>
                  <a:txBody>
                    <a:bodyPr/>
                    <a:lstStyle/>
                    <a:p>
                      <a:r>
                        <a:rPr lang="en-US" sz="1400" b="1"/>
                        <a:t>Matches any E element with the "foo" attribute set (whatever the value).</a:t>
                      </a:r>
                      <a:endParaRPr lang="en-US" sz="1400" b="1">
                        <a:latin typeface="Arial"/>
                      </a:endParaRPr>
                    </a:p>
                  </a:txBody>
                  <a:tcPr marL="46182" marR="46182" marT="23091" marB="23091" anchor="ctr">
                    <a:solidFill>
                      <a:schemeClr val="accent3">
                        <a:lumMod val="20000"/>
                        <a:lumOff val="80000"/>
                      </a:schemeClr>
                    </a:solidFill>
                  </a:tcPr>
                </a:tc>
                <a:tc>
                  <a:txBody>
                    <a:bodyPr/>
                    <a:lstStyle/>
                    <a:p>
                      <a:r>
                        <a:rPr lang="en-US" sz="1400" b="1">
                          <a:hlinkClick r:id="rId2"/>
                        </a:rPr>
                        <a:t>Attribute selectors</a:t>
                      </a:r>
                      <a:endParaRPr lang="en-US" sz="1400" b="1">
                        <a:latin typeface="Arial"/>
                      </a:endParaRPr>
                    </a:p>
                  </a:txBody>
                  <a:tcPr marL="46182" marR="46182" marT="23091" marB="23091" anchor="ctr">
                    <a:solidFill>
                      <a:schemeClr val="accent3">
                        <a:lumMod val="20000"/>
                        <a:lumOff val="80000"/>
                      </a:schemeClr>
                    </a:solidFill>
                  </a:tcPr>
                </a:tc>
              </a:tr>
              <a:tr h="877454">
                <a:tc>
                  <a:txBody>
                    <a:bodyPr/>
                    <a:lstStyle/>
                    <a:p>
                      <a:r>
                        <a:rPr lang="en-US" sz="1400" b="1" dirty="0"/>
                        <a:t>E[</a:t>
                      </a:r>
                      <a:r>
                        <a:rPr lang="en-US" sz="1400" b="1" dirty="0" err="1"/>
                        <a:t>foo</a:t>
                      </a:r>
                      <a:r>
                        <a:rPr lang="en-US" sz="1400" b="1" dirty="0"/>
                        <a:t>="warning"]</a:t>
                      </a:r>
                      <a:endParaRPr lang="en-US" sz="1400" b="1" dirty="0">
                        <a:latin typeface="Arial"/>
                      </a:endParaRPr>
                    </a:p>
                  </a:txBody>
                  <a:tcPr marL="46182" marR="46182" marT="23091" marB="23091" anchor="ctr">
                    <a:solidFill>
                      <a:schemeClr val="accent3">
                        <a:lumMod val="20000"/>
                        <a:lumOff val="80000"/>
                      </a:schemeClr>
                    </a:solidFill>
                  </a:tcPr>
                </a:tc>
                <a:tc>
                  <a:txBody>
                    <a:bodyPr/>
                    <a:lstStyle/>
                    <a:p>
                      <a:r>
                        <a:rPr lang="en-US" sz="1400" b="1" dirty="0"/>
                        <a:t>Matches any E element whose "</a:t>
                      </a:r>
                      <a:r>
                        <a:rPr lang="en-US" sz="1400" b="1" dirty="0" err="1"/>
                        <a:t>foo</a:t>
                      </a:r>
                      <a:r>
                        <a:rPr lang="en-US" sz="1400" b="1" dirty="0"/>
                        <a:t>" attribute value is exactly equal to "warning".</a:t>
                      </a:r>
                      <a:endParaRPr lang="en-US" sz="1400" b="1" dirty="0">
                        <a:latin typeface="Arial"/>
                      </a:endParaRPr>
                    </a:p>
                  </a:txBody>
                  <a:tcPr marL="46182" marR="46182" marT="23091" marB="23091" anchor="ctr">
                    <a:solidFill>
                      <a:schemeClr val="accent3">
                        <a:lumMod val="20000"/>
                        <a:lumOff val="80000"/>
                      </a:schemeClr>
                    </a:solidFill>
                  </a:tcPr>
                </a:tc>
                <a:tc>
                  <a:txBody>
                    <a:bodyPr/>
                    <a:lstStyle/>
                    <a:p>
                      <a:r>
                        <a:rPr lang="en-US" sz="1400" b="1">
                          <a:hlinkClick r:id="rId2"/>
                        </a:rPr>
                        <a:t>Attribute selectors</a:t>
                      </a:r>
                      <a:endParaRPr lang="en-US" sz="1400" b="1">
                        <a:latin typeface="Arial"/>
                      </a:endParaRPr>
                    </a:p>
                  </a:txBody>
                  <a:tcPr marL="46182" marR="46182" marT="23091" marB="23091" anchor="ctr">
                    <a:solidFill>
                      <a:schemeClr val="accent3">
                        <a:lumMod val="20000"/>
                        <a:lumOff val="80000"/>
                      </a:schemeClr>
                    </a:solidFill>
                  </a:tcPr>
                </a:tc>
              </a:tr>
              <a:tr h="1293091">
                <a:tc>
                  <a:txBody>
                    <a:bodyPr/>
                    <a:lstStyle/>
                    <a:p>
                      <a:r>
                        <a:rPr lang="en-US" sz="1400" b="1" dirty="0"/>
                        <a:t>E[</a:t>
                      </a:r>
                      <a:r>
                        <a:rPr lang="en-US" sz="1400" b="1" dirty="0" err="1"/>
                        <a:t>foo</a:t>
                      </a:r>
                      <a:r>
                        <a:rPr lang="en-US" sz="1400" b="1" dirty="0"/>
                        <a:t>~="warning"]</a:t>
                      </a:r>
                      <a:endParaRPr lang="en-US" sz="1400" b="1" dirty="0">
                        <a:latin typeface="Arial"/>
                      </a:endParaRPr>
                    </a:p>
                  </a:txBody>
                  <a:tcPr marL="46182" marR="46182" marT="23091" marB="23091" anchor="ctr">
                    <a:solidFill>
                      <a:schemeClr val="accent3">
                        <a:lumMod val="20000"/>
                        <a:lumOff val="80000"/>
                      </a:schemeClr>
                    </a:solidFill>
                  </a:tcPr>
                </a:tc>
                <a:tc>
                  <a:txBody>
                    <a:bodyPr/>
                    <a:lstStyle/>
                    <a:p>
                      <a:r>
                        <a:rPr lang="en-US" sz="1400" b="1" dirty="0"/>
                        <a:t>Matches any E element whose "</a:t>
                      </a:r>
                      <a:r>
                        <a:rPr lang="en-US" sz="1400" b="1" dirty="0" err="1"/>
                        <a:t>foo</a:t>
                      </a:r>
                      <a:r>
                        <a:rPr lang="en-US" sz="1400" b="1" dirty="0"/>
                        <a:t>" attribute value is a list of space-separated values, one of which is exactly equal to "warning".</a:t>
                      </a:r>
                      <a:endParaRPr lang="en-US" sz="1400" b="1" dirty="0">
                        <a:latin typeface="Arial"/>
                      </a:endParaRPr>
                    </a:p>
                  </a:txBody>
                  <a:tcPr marL="46182" marR="46182" marT="23091" marB="23091" anchor="ctr">
                    <a:solidFill>
                      <a:schemeClr val="accent3">
                        <a:lumMod val="20000"/>
                        <a:lumOff val="80000"/>
                      </a:schemeClr>
                    </a:solidFill>
                  </a:tcPr>
                </a:tc>
                <a:tc>
                  <a:txBody>
                    <a:bodyPr/>
                    <a:lstStyle/>
                    <a:p>
                      <a:r>
                        <a:rPr lang="en-US" sz="1400" b="1" dirty="0">
                          <a:hlinkClick r:id="rId2"/>
                        </a:rPr>
                        <a:t>Attribute selectors</a:t>
                      </a:r>
                      <a:endParaRPr lang="en-US" sz="1400" b="1" dirty="0">
                        <a:latin typeface="Arial"/>
                      </a:endParaRPr>
                    </a:p>
                  </a:txBody>
                  <a:tcPr marL="46182" marR="46182" marT="23091" marB="23091" anchor="ctr">
                    <a:solidFill>
                      <a:schemeClr val="accent3">
                        <a:lumMod val="20000"/>
                        <a:lumOff val="80000"/>
                      </a:schemeClr>
                    </a:solidFill>
                  </a:tcPr>
                </a:tc>
              </a:tr>
            </a:tbl>
          </a:graphicData>
        </a:graphic>
      </p:graphicFrame>
      <p:sp>
        <p:nvSpPr>
          <p:cNvPr id="7" name="TextBox 6"/>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12"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22"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23" name="TextBox 22"/>
          <p:cNvSpPr txBox="1"/>
          <p:nvPr/>
        </p:nvSpPr>
        <p:spPr>
          <a:xfrm>
            <a:off x="1071538" y="1214422"/>
            <a:ext cx="1785950"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smtClean="0">
                <a:solidFill>
                  <a:schemeClr val="accent2"/>
                </a:solidFill>
              </a:rPr>
              <a:t>Grouping</a:t>
            </a:r>
            <a:endParaRPr lang="ru-RU" sz="2400" b="1" dirty="0">
              <a:solidFill>
                <a:schemeClr val="accent2"/>
              </a:solidFill>
            </a:endParaRPr>
          </a:p>
        </p:txBody>
      </p:sp>
      <p:sp>
        <p:nvSpPr>
          <p:cNvPr id="24" name="Rectangle 23"/>
          <p:cNvSpPr/>
          <p:nvPr/>
        </p:nvSpPr>
        <p:spPr>
          <a:xfrm>
            <a:off x="428596" y="2000240"/>
            <a:ext cx="8072494" cy="646331"/>
          </a:xfrm>
          <a:prstGeom prst="rect">
            <a:avLst/>
          </a:prstGeom>
        </p:spPr>
        <p:txBody>
          <a:bodyPr wrap="square">
            <a:spAutoFit/>
          </a:bodyPr>
          <a:lstStyle/>
          <a:p>
            <a:r>
              <a:rPr lang="en-US" b="1" dirty="0" smtClean="0">
                <a:solidFill>
                  <a:schemeClr val="accent2"/>
                </a:solidFill>
              </a:rPr>
              <a:t>When several selectors share the same declarations, they may be grouped into a comma-separated list.</a:t>
            </a:r>
            <a:endParaRPr lang="ru-RU" b="1" dirty="0">
              <a:solidFill>
                <a:schemeClr val="accent2"/>
              </a:solidFill>
            </a:endParaRPr>
          </a:p>
        </p:txBody>
      </p:sp>
      <p:sp>
        <p:nvSpPr>
          <p:cNvPr id="12289" name="Rectangle 1"/>
          <p:cNvSpPr>
            <a:spLocks noChangeArrowheads="1"/>
          </p:cNvSpPr>
          <p:nvPr/>
        </p:nvSpPr>
        <p:spPr bwMode="auto">
          <a:xfrm>
            <a:off x="2571736" y="3143248"/>
            <a:ext cx="3357586" cy="646331"/>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31740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dirty="0" smtClean="0">
                <a:ln>
                  <a:noFill/>
                </a:ln>
                <a:solidFill>
                  <a:srgbClr val="00B050"/>
                </a:solidFill>
                <a:effectLst/>
                <a:latin typeface="Courier New" pitchFamily="49" charset="0"/>
                <a:cs typeface="Arial" pitchFamily="34" charset="0"/>
              </a:rPr>
              <a:t>h1 { font-family: sans-serif }</a:t>
            </a:r>
            <a:endParaRPr kumimoji="0" lang="en-US" sz="1200" b="1" i="0" u="none" strike="noStrike" cap="none" normalizeH="0" baseline="0" dirty="0" smtClean="0">
              <a:ln>
                <a:noFill/>
              </a:ln>
              <a:solidFill>
                <a:srgbClr val="00B050"/>
              </a:solidFill>
              <a:effectLst/>
              <a:latin typeface="Courier New" pitchFamily="49"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dirty="0" smtClean="0">
                <a:ln>
                  <a:noFill/>
                </a:ln>
                <a:solidFill>
                  <a:srgbClr val="00B050"/>
                </a:solidFill>
                <a:effectLst/>
                <a:latin typeface="Courier New" pitchFamily="49" charset="0"/>
                <a:cs typeface="Arial" pitchFamily="34" charset="0"/>
              </a:rPr>
              <a:t>h2 { font-family: sans-serif }</a:t>
            </a:r>
            <a:endParaRPr kumimoji="0" lang="en-US" sz="1200" b="1" i="0" u="none" strike="noStrike" cap="none" normalizeH="0" baseline="0" dirty="0" smtClean="0">
              <a:ln>
                <a:noFill/>
              </a:ln>
              <a:solidFill>
                <a:srgbClr val="00B050"/>
              </a:solidFill>
              <a:effectLst/>
              <a:latin typeface="Courier New" pitchFamily="49"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ru-RU" sz="1200" b="1" i="0" u="none" strike="noStrike" cap="none" normalizeH="0" baseline="0" dirty="0" smtClean="0">
                <a:ln>
                  <a:noFill/>
                </a:ln>
                <a:solidFill>
                  <a:srgbClr val="00B050"/>
                </a:solidFill>
                <a:effectLst/>
                <a:latin typeface="Courier New" pitchFamily="49" charset="0"/>
                <a:cs typeface="Arial" pitchFamily="34" charset="0"/>
              </a:rPr>
              <a:t>h3 { font-family: sans-serif }</a:t>
            </a:r>
            <a:r>
              <a:rPr kumimoji="0" lang="ru-RU" sz="1200" b="1" i="0" u="none" strike="noStrike" cap="none" normalizeH="0" baseline="0" dirty="0" smtClean="0">
                <a:ln>
                  <a:noFill/>
                </a:ln>
                <a:solidFill>
                  <a:srgbClr val="00B050"/>
                </a:solidFill>
                <a:effectLst/>
                <a:latin typeface="Arial" pitchFamily="34" charset="0"/>
                <a:cs typeface="Arial" pitchFamily="34" charset="0"/>
              </a:rPr>
              <a:t> </a:t>
            </a:r>
          </a:p>
        </p:txBody>
      </p:sp>
      <p:sp>
        <p:nvSpPr>
          <p:cNvPr id="12290" name="Rectangle 2"/>
          <p:cNvSpPr>
            <a:spLocks noChangeArrowheads="1"/>
          </p:cNvSpPr>
          <p:nvPr/>
        </p:nvSpPr>
        <p:spPr bwMode="auto">
          <a:xfrm>
            <a:off x="1857356" y="4643446"/>
            <a:ext cx="4857784" cy="30777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31740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1" i="0" u="none" strike="noStrike" cap="none" normalizeH="0" baseline="0" dirty="0" smtClean="0">
                <a:ln>
                  <a:noFill/>
                </a:ln>
                <a:solidFill>
                  <a:srgbClr val="00B050"/>
                </a:solidFill>
                <a:effectLst/>
                <a:latin typeface="Courier New" pitchFamily="49" charset="0"/>
                <a:cs typeface="Courier New" pitchFamily="49" charset="0"/>
              </a:rPr>
              <a:t>h1, h2, h3 { font-family: sans-serif }</a:t>
            </a:r>
            <a:r>
              <a:rPr kumimoji="0" lang="ru-RU" sz="1400" b="1" i="0" u="none" strike="noStrike" cap="none" normalizeH="0" baseline="0" dirty="0" smtClean="0">
                <a:ln>
                  <a:noFill/>
                </a:ln>
                <a:solidFill>
                  <a:srgbClr val="00B050"/>
                </a:solidFill>
                <a:effectLst/>
                <a:latin typeface="Arial" pitchFamily="34" charset="0"/>
                <a:cs typeface="Arial" pitchFamily="34" charset="0"/>
              </a:rPr>
              <a:t> </a:t>
            </a:r>
          </a:p>
        </p:txBody>
      </p:sp>
      <p:sp>
        <p:nvSpPr>
          <p:cNvPr id="25" name="Up-Down Arrow 24"/>
          <p:cNvSpPr/>
          <p:nvPr/>
        </p:nvSpPr>
        <p:spPr>
          <a:xfrm>
            <a:off x="4000496" y="3929066"/>
            <a:ext cx="357190" cy="64294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22"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23" name="TextBox 22"/>
          <p:cNvSpPr txBox="1"/>
          <p:nvPr/>
        </p:nvSpPr>
        <p:spPr>
          <a:xfrm>
            <a:off x="1071538" y="1214422"/>
            <a:ext cx="3000396"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smtClean="0">
                <a:solidFill>
                  <a:schemeClr val="accent2"/>
                </a:solidFill>
              </a:rPr>
              <a:t>Universal Selector</a:t>
            </a:r>
            <a:endParaRPr lang="ru-RU" sz="2400" b="1" dirty="0">
              <a:solidFill>
                <a:schemeClr val="accent2"/>
              </a:solidFill>
            </a:endParaRPr>
          </a:p>
        </p:txBody>
      </p:sp>
      <p:sp>
        <p:nvSpPr>
          <p:cNvPr id="28" name="Rectangle 27"/>
          <p:cNvSpPr/>
          <p:nvPr/>
        </p:nvSpPr>
        <p:spPr>
          <a:xfrm>
            <a:off x="785786" y="1928802"/>
            <a:ext cx="6929486" cy="646331"/>
          </a:xfrm>
          <a:prstGeom prst="rect">
            <a:avLst/>
          </a:prstGeom>
        </p:spPr>
        <p:txBody>
          <a:bodyPr wrap="square">
            <a:spAutoFit/>
          </a:bodyPr>
          <a:lstStyle/>
          <a:p>
            <a:r>
              <a:rPr lang="en-US" dirty="0" smtClean="0">
                <a:solidFill>
                  <a:schemeClr val="accent2"/>
                </a:solidFill>
              </a:rPr>
              <a:t>The universal selector, written </a:t>
            </a:r>
            <a:r>
              <a:rPr lang="en-US" dirty="0" smtClean="0">
                <a:solidFill>
                  <a:srgbClr val="00B050"/>
                </a:solidFill>
              </a:rPr>
              <a:t>"*"</a:t>
            </a:r>
            <a:r>
              <a:rPr lang="en-US" dirty="0" smtClean="0">
                <a:solidFill>
                  <a:schemeClr val="accent2"/>
                </a:solidFill>
              </a:rPr>
              <a:t>, matches the name of any element type.</a:t>
            </a:r>
            <a:endParaRPr lang="ru-RU" dirty="0">
              <a:solidFill>
                <a:schemeClr val="accent2"/>
              </a:solidFill>
            </a:endParaRPr>
          </a:p>
        </p:txBody>
      </p:sp>
      <p:pic>
        <p:nvPicPr>
          <p:cNvPr id="11265" name="Picture 1" descr="C:\Users\Comp\Desktop\Untitled.png"/>
          <p:cNvPicPr>
            <a:picLocks noChangeAspect="1" noChangeArrowheads="1"/>
          </p:cNvPicPr>
          <p:nvPr/>
        </p:nvPicPr>
        <p:blipFill>
          <a:blip r:embed="rId2"/>
          <a:srcRect b="13333"/>
          <a:stretch>
            <a:fillRect/>
          </a:stretch>
        </p:blipFill>
        <p:spPr bwMode="auto">
          <a:xfrm>
            <a:off x="785786" y="2857496"/>
            <a:ext cx="5071092" cy="928694"/>
          </a:xfrm>
          <a:prstGeom prst="rect">
            <a:avLst/>
          </a:prstGeom>
          <a:noFill/>
          <a:ln>
            <a:solidFill>
              <a:schemeClr val="accent2"/>
            </a:solidFill>
          </a:ln>
          <a:effectLst>
            <a:glow rad="101600">
              <a:srgbClr val="002060">
                <a:alpha val="60000"/>
              </a:srgbClr>
            </a:glow>
          </a:effectLst>
        </p:spPr>
      </p:pic>
      <p:pic>
        <p:nvPicPr>
          <p:cNvPr id="11266" name="Picture 2" descr="C:\Users\Comp\Desktop\Untitled.png"/>
          <p:cNvPicPr>
            <a:picLocks noChangeAspect="1" noChangeArrowheads="1"/>
          </p:cNvPicPr>
          <p:nvPr/>
        </p:nvPicPr>
        <p:blipFill>
          <a:blip r:embed="rId3"/>
          <a:srcRect/>
          <a:stretch>
            <a:fillRect/>
          </a:stretch>
        </p:blipFill>
        <p:spPr bwMode="auto">
          <a:xfrm>
            <a:off x="2714612" y="4357694"/>
            <a:ext cx="4032416" cy="877906"/>
          </a:xfrm>
          <a:prstGeom prst="rect">
            <a:avLst/>
          </a:prstGeom>
          <a:noFill/>
          <a:ln>
            <a:solidFill>
              <a:schemeClr val="accent2"/>
            </a:solidFill>
          </a:ln>
          <a:effectLst>
            <a:glow rad="101600">
              <a:srgbClr val="002060">
                <a:alpha val="60000"/>
              </a:srgbClr>
            </a:glo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1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20" name="TextBox 19"/>
          <p:cNvSpPr txBox="1"/>
          <p:nvPr/>
        </p:nvSpPr>
        <p:spPr>
          <a:xfrm>
            <a:off x="1071538" y="1214422"/>
            <a:ext cx="3000396"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smtClean="0">
                <a:solidFill>
                  <a:schemeClr val="accent2"/>
                </a:solidFill>
              </a:rPr>
              <a:t>Child Selectors</a:t>
            </a:r>
            <a:endParaRPr lang="ru-RU" sz="2400" b="1" dirty="0">
              <a:solidFill>
                <a:schemeClr val="accent2"/>
              </a:solidFill>
            </a:endParaRPr>
          </a:p>
        </p:txBody>
      </p:sp>
      <p:pic>
        <p:nvPicPr>
          <p:cNvPr id="10241" name="Picture 1" descr="C:\Users\Comp\Desktop\Untitled.png"/>
          <p:cNvPicPr>
            <a:picLocks noChangeAspect="1" noChangeArrowheads="1"/>
          </p:cNvPicPr>
          <p:nvPr/>
        </p:nvPicPr>
        <p:blipFill>
          <a:blip r:embed="rId2"/>
          <a:srcRect b="14422"/>
          <a:stretch>
            <a:fillRect/>
          </a:stretch>
        </p:blipFill>
        <p:spPr bwMode="auto">
          <a:xfrm>
            <a:off x="1000100" y="2714620"/>
            <a:ext cx="3748880" cy="857256"/>
          </a:xfrm>
          <a:prstGeom prst="rect">
            <a:avLst/>
          </a:prstGeom>
          <a:noFill/>
          <a:ln>
            <a:solidFill>
              <a:schemeClr val="accent2"/>
            </a:solidFill>
          </a:ln>
          <a:effectLst>
            <a:glow rad="101600">
              <a:schemeClr val="accent1">
                <a:satMod val="175000"/>
                <a:alpha val="40000"/>
              </a:schemeClr>
            </a:glow>
          </a:effectLst>
        </p:spPr>
      </p:pic>
      <p:pic>
        <p:nvPicPr>
          <p:cNvPr id="10242" name="Picture 2" descr="C:\Users\Comp\Desktop\Untitled.png"/>
          <p:cNvPicPr>
            <a:picLocks noChangeAspect="1" noChangeArrowheads="1"/>
          </p:cNvPicPr>
          <p:nvPr/>
        </p:nvPicPr>
        <p:blipFill>
          <a:blip r:embed="rId3"/>
          <a:srcRect/>
          <a:stretch>
            <a:fillRect/>
          </a:stretch>
        </p:blipFill>
        <p:spPr bwMode="auto">
          <a:xfrm>
            <a:off x="4572000" y="3857628"/>
            <a:ext cx="3240091" cy="2299419"/>
          </a:xfrm>
          <a:prstGeom prst="rect">
            <a:avLst/>
          </a:prstGeom>
          <a:noFill/>
          <a:ln>
            <a:solidFill>
              <a:srgbClr val="FF0000"/>
            </a:solidFill>
          </a:ln>
          <a:effectLst>
            <a:glow rad="139700">
              <a:schemeClr val="accent1">
                <a:satMod val="175000"/>
                <a:alpha val="40000"/>
              </a:schemeClr>
            </a:glow>
          </a:effectLst>
        </p:spPr>
      </p:pic>
      <p:sp>
        <p:nvSpPr>
          <p:cNvPr id="10245" name="Rectangle 5"/>
          <p:cNvSpPr>
            <a:spLocks noChangeArrowheads="1"/>
          </p:cNvSpPr>
          <p:nvPr/>
        </p:nvSpPr>
        <p:spPr bwMode="auto">
          <a:xfrm rot="10800000" flipV="1">
            <a:off x="500034" y="1928802"/>
            <a:ext cx="7643866" cy="553998"/>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b="1" i="0" u="none" strike="noStrike" cap="none" normalizeH="0" baseline="0" dirty="0" smtClean="0">
                <a:ln>
                  <a:noFill/>
                </a:ln>
                <a:solidFill>
                  <a:schemeClr val="accent2"/>
                </a:solidFill>
                <a:effectLst/>
                <a:latin typeface="Arial" pitchFamily="34" charset="0"/>
                <a:cs typeface="Arial" pitchFamily="34" charset="0"/>
              </a:rPr>
              <a:t>The difference between the standard </a:t>
            </a:r>
            <a:r>
              <a:rPr kumimoji="0" lang="ru-RU" b="1" i="0" u="none" strike="noStrike" cap="none" normalizeH="0" baseline="0" dirty="0" smtClean="0">
                <a:ln>
                  <a:noFill/>
                </a:ln>
                <a:solidFill>
                  <a:schemeClr val="accent2"/>
                </a:solidFill>
                <a:effectLst/>
                <a:latin typeface="Courier"/>
                <a:cs typeface="Arial" pitchFamily="34" charset="0"/>
              </a:rPr>
              <a:t>X Y</a:t>
            </a:r>
            <a:r>
              <a:rPr kumimoji="0" lang="ru-RU" b="1" i="0" u="none" strike="noStrike" cap="none" normalizeH="0" baseline="0" dirty="0" smtClean="0">
                <a:ln>
                  <a:noFill/>
                </a:ln>
                <a:solidFill>
                  <a:schemeClr val="accent2"/>
                </a:solidFill>
                <a:effectLst/>
                <a:latin typeface="Arial" pitchFamily="34" charset="0"/>
                <a:cs typeface="Arial" pitchFamily="34" charset="0"/>
              </a:rPr>
              <a:t> and </a:t>
            </a:r>
            <a:r>
              <a:rPr kumimoji="0" lang="ru-RU" b="1" i="0" u="none" strike="noStrike" cap="none" normalizeH="0" baseline="0" dirty="0" smtClean="0">
                <a:ln>
                  <a:noFill/>
                </a:ln>
                <a:solidFill>
                  <a:schemeClr val="accent2"/>
                </a:solidFill>
                <a:effectLst/>
                <a:latin typeface="Courier"/>
                <a:cs typeface="Arial" pitchFamily="34" charset="0"/>
              </a:rPr>
              <a:t>X &gt; Y</a:t>
            </a:r>
            <a:r>
              <a:rPr kumimoji="0" lang="ru-RU" b="1" i="0" u="none" strike="noStrike" cap="none" normalizeH="0" baseline="0" dirty="0" smtClean="0">
                <a:ln>
                  <a:noFill/>
                </a:ln>
                <a:solidFill>
                  <a:schemeClr val="accent2"/>
                </a:solidFill>
                <a:effectLst/>
                <a:latin typeface="Arial" pitchFamily="34" charset="0"/>
                <a:cs typeface="Arial" pitchFamily="34" charset="0"/>
              </a:rPr>
              <a:t> is that the latter will only select direct children.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1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8" name="TextBox 17"/>
          <p:cNvSpPr txBox="1"/>
          <p:nvPr/>
        </p:nvSpPr>
        <p:spPr>
          <a:xfrm>
            <a:off x="1071538" y="1214422"/>
            <a:ext cx="414340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smtClean="0">
                <a:solidFill>
                  <a:schemeClr val="accent2"/>
                </a:solidFill>
              </a:rPr>
              <a:t>Adjacent sibling Selectors</a:t>
            </a:r>
            <a:endParaRPr lang="ru-RU" sz="2400" b="1" dirty="0">
              <a:solidFill>
                <a:schemeClr val="accent2"/>
              </a:solidFill>
            </a:endParaRPr>
          </a:p>
        </p:txBody>
      </p:sp>
      <p:pic>
        <p:nvPicPr>
          <p:cNvPr id="9217" name="Picture 1" descr="C:\Users\Comp\Desktop\Untitled.png"/>
          <p:cNvPicPr>
            <a:picLocks noChangeAspect="1" noChangeArrowheads="1"/>
          </p:cNvPicPr>
          <p:nvPr/>
        </p:nvPicPr>
        <p:blipFill>
          <a:blip r:embed="rId2"/>
          <a:srcRect b="16102"/>
          <a:stretch>
            <a:fillRect/>
          </a:stretch>
        </p:blipFill>
        <p:spPr bwMode="auto">
          <a:xfrm>
            <a:off x="642910" y="3786190"/>
            <a:ext cx="3263588" cy="785818"/>
          </a:xfrm>
          <a:prstGeom prst="rect">
            <a:avLst/>
          </a:prstGeom>
          <a:noFill/>
          <a:effectLst>
            <a:glow rad="101600">
              <a:srgbClr val="FFC000">
                <a:alpha val="60000"/>
              </a:srgbClr>
            </a:glow>
          </a:effectLst>
        </p:spPr>
      </p:pic>
      <p:sp>
        <p:nvSpPr>
          <p:cNvPr id="22" name="Rectangle 21"/>
          <p:cNvSpPr/>
          <p:nvPr/>
        </p:nvSpPr>
        <p:spPr>
          <a:xfrm>
            <a:off x="857224" y="2143116"/>
            <a:ext cx="6286512" cy="1200329"/>
          </a:xfrm>
          <a:prstGeom prst="rect">
            <a:avLst/>
          </a:prstGeom>
        </p:spPr>
        <p:txBody>
          <a:bodyPr wrap="square">
            <a:spAutoFit/>
          </a:bodyPr>
          <a:lstStyle/>
          <a:p>
            <a:r>
              <a:rPr lang="en-US" b="1" dirty="0" smtClean="0">
                <a:solidFill>
                  <a:schemeClr val="accent2"/>
                </a:solidFill>
              </a:rPr>
              <a:t>This is referred to as an adjacent selector. It will select only the element that is immediately preceded by the former element. In this case, only the first paragraph after each </a:t>
            </a:r>
            <a:r>
              <a:rPr lang="en-US" b="1" dirty="0" err="1" smtClean="0">
                <a:solidFill>
                  <a:schemeClr val="accent2"/>
                </a:solidFill>
              </a:rPr>
              <a:t>ul</a:t>
            </a:r>
            <a:r>
              <a:rPr lang="en-US" b="1" dirty="0" smtClean="0">
                <a:solidFill>
                  <a:schemeClr val="accent2"/>
                </a:solidFill>
              </a:rPr>
              <a:t> will have red text.</a:t>
            </a:r>
            <a:endParaRPr lang="ru-RU" b="1" dirty="0">
              <a:solidFill>
                <a:schemeClr val="accent2"/>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1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8" name="TextBox 17"/>
          <p:cNvSpPr txBox="1"/>
          <p:nvPr/>
        </p:nvSpPr>
        <p:spPr>
          <a:xfrm>
            <a:off x="1071538" y="1214422"/>
            <a:ext cx="414340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smtClean="0">
                <a:solidFill>
                  <a:schemeClr val="accent2"/>
                </a:solidFill>
              </a:rPr>
              <a:t>Attribute Selectors</a:t>
            </a:r>
            <a:endParaRPr lang="ru-RU" sz="2400" b="1" dirty="0">
              <a:solidFill>
                <a:schemeClr val="accent2"/>
              </a:solidFill>
            </a:endParaRPr>
          </a:p>
        </p:txBody>
      </p:sp>
      <p:sp>
        <p:nvSpPr>
          <p:cNvPr id="22" name="Rectangle 21"/>
          <p:cNvSpPr/>
          <p:nvPr/>
        </p:nvSpPr>
        <p:spPr>
          <a:xfrm>
            <a:off x="4357686" y="2285992"/>
            <a:ext cx="3786182" cy="64633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b="1" dirty="0" smtClean="0">
                <a:solidFill>
                  <a:schemeClr val="accent2"/>
                </a:solidFill>
              </a:rPr>
              <a:t>Match when the element sets the “</a:t>
            </a:r>
            <a:r>
              <a:rPr lang="en-US" b="1" dirty="0" err="1" smtClean="0">
                <a:solidFill>
                  <a:schemeClr val="accent2"/>
                </a:solidFill>
              </a:rPr>
              <a:t>att</a:t>
            </a:r>
            <a:r>
              <a:rPr lang="en-US" b="1" dirty="0" smtClean="0">
                <a:solidFill>
                  <a:schemeClr val="accent2"/>
                </a:solidFill>
              </a:rPr>
              <a:t>" attribute</a:t>
            </a:r>
            <a:endParaRPr lang="ru-RU" b="1" dirty="0">
              <a:solidFill>
                <a:schemeClr val="accent2"/>
              </a:solidFill>
            </a:endParaRPr>
          </a:p>
        </p:txBody>
      </p:sp>
      <p:sp>
        <p:nvSpPr>
          <p:cNvPr id="25" name="Right Arrow 24"/>
          <p:cNvSpPr/>
          <p:nvPr/>
        </p:nvSpPr>
        <p:spPr>
          <a:xfrm>
            <a:off x="3357554" y="2428868"/>
            <a:ext cx="642942" cy="357190"/>
          </a:xfrm>
          <a:prstGeom prst="rightArrow">
            <a:avLst/>
          </a:prstGeom>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Right Arrow 26"/>
          <p:cNvSpPr/>
          <p:nvPr/>
        </p:nvSpPr>
        <p:spPr>
          <a:xfrm>
            <a:off x="3428992" y="3857628"/>
            <a:ext cx="642942" cy="357190"/>
          </a:xfrm>
          <a:prstGeom prst="rightArrow">
            <a:avLst/>
          </a:prstGeom>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Rectangle 27"/>
          <p:cNvSpPr/>
          <p:nvPr/>
        </p:nvSpPr>
        <p:spPr>
          <a:xfrm>
            <a:off x="4429124" y="3643314"/>
            <a:ext cx="3714744" cy="64633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b="1" dirty="0" smtClean="0">
                <a:solidFill>
                  <a:schemeClr val="accent2"/>
                </a:solidFill>
              </a:rPr>
              <a:t>Match when the element's "</a:t>
            </a:r>
            <a:r>
              <a:rPr lang="en-US" b="1" dirty="0" err="1" smtClean="0">
                <a:solidFill>
                  <a:schemeClr val="accent2"/>
                </a:solidFill>
              </a:rPr>
              <a:t>att</a:t>
            </a:r>
            <a:r>
              <a:rPr lang="en-US" b="1" dirty="0" smtClean="0">
                <a:solidFill>
                  <a:schemeClr val="accent2"/>
                </a:solidFill>
              </a:rPr>
              <a:t>" attribute value is exactly "</a:t>
            </a:r>
            <a:r>
              <a:rPr lang="en-US" b="1" dirty="0" err="1" smtClean="0">
                <a:solidFill>
                  <a:schemeClr val="accent2"/>
                </a:solidFill>
              </a:rPr>
              <a:t>val</a:t>
            </a:r>
            <a:r>
              <a:rPr lang="en-US" b="1" dirty="0" smtClean="0">
                <a:solidFill>
                  <a:schemeClr val="accent2"/>
                </a:solidFill>
              </a:rPr>
              <a:t>".</a:t>
            </a:r>
            <a:endParaRPr lang="ru-RU" b="1" dirty="0">
              <a:solidFill>
                <a:schemeClr val="accent2"/>
              </a:solidFill>
            </a:endParaRPr>
          </a:p>
        </p:txBody>
      </p:sp>
      <p:sp>
        <p:nvSpPr>
          <p:cNvPr id="32" name="Rectangle 31"/>
          <p:cNvSpPr/>
          <p:nvPr/>
        </p:nvSpPr>
        <p:spPr>
          <a:xfrm>
            <a:off x="1000100" y="2357430"/>
            <a:ext cx="1071570" cy="584775"/>
          </a:xfrm>
          <a:prstGeom prst="rect">
            <a:avLst/>
          </a:prstGeom>
          <a:effectLst>
            <a:glow rad="101600">
              <a:srgbClr val="00B050">
                <a:alpha val="60000"/>
              </a:srgbClr>
            </a:glo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en-US" sz="3200" b="1" dirty="0" smtClean="0">
                <a:solidFill>
                  <a:srgbClr val="00B050"/>
                </a:solidFill>
              </a:rPr>
              <a:t>[</a:t>
            </a:r>
            <a:r>
              <a:rPr lang="en-US" sz="3200" b="1" dirty="0" err="1" smtClean="0">
                <a:solidFill>
                  <a:srgbClr val="00B050"/>
                </a:solidFill>
              </a:rPr>
              <a:t>att</a:t>
            </a:r>
            <a:r>
              <a:rPr lang="en-US" sz="3200" b="1" dirty="0" smtClean="0">
                <a:solidFill>
                  <a:srgbClr val="00B050"/>
                </a:solidFill>
              </a:rPr>
              <a:t>]</a:t>
            </a:r>
            <a:endParaRPr lang="ru-RU" sz="3200" dirty="0">
              <a:solidFill>
                <a:srgbClr val="00B050"/>
              </a:solidFill>
            </a:endParaRPr>
          </a:p>
        </p:txBody>
      </p:sp>
      <p:sp>
        <p:nvSpPr>
          <p:cNvPr id="33" name="Rectangle 32"/>
          <p:cNvSpPr/>
          <p:nvPr/>
        </p:nvSpPr>
        <p:spPr>
          <a:xfrm>
            <a:off x="857224" y="3714752"/>
            <a:ext cx="1928826" cy="584775"/>
          </a:xfrm>
          <a:prstGeom prst="rect">
            <a:avLst/>
          </a:prstGeom>
          <a:effectLst>
            <a:glow rad="101600">
              <a:srgbClr val="00B050">
                <a:alpha val="60000"/>
              </a:srgbClr>
            </a:glo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en-US" sz="3200" b="1" dirty="0" smtClean="0">
                <a:solidFill>
                  <a:srgbClr val="00B050"/>
                </a:solidFill>
              </a:rPr>
              <a:t>[</a:t>
            </a:r>
            <a:r>
              <a:rPr lang="en-US" sz="3200" b="1" dirty="0" err="1" smtClean="0">
                <a:solidFill>
                  <a:srgbClr val="00B050"/>
                </a:solidFill>
              </a:rPr>
              <a:t>att</a:t>
            </a:r>
            <a:r>
              <a:rPr lang="en-US" sz="3200" b="1" dirty="0" smtClean="0">
                <a:solidFill>
                  <a:srgbClr val="00B050"/>
                </a:solidFill>
              </a:rPr>
              <a:t>=</a:t>
            </a:r>
            <a:r>
              <a:rPr lang="en-US" sz="3200" b="1" dirty="0" err="1" smtClean="0">
                <a:solidFill>
                  <a:srgbClr val="00B050"/>
                </a:solidFill>
              </a:rPr>
              <a:t>val</a:t>
            </a:r>
            <a:r>
              <a:rPr lang="en-US" sz="3200" b="1" dirty="0" smtClean="0">
                <a:solidFill>
                  <a:srgbClr val="00B050"/>
                </a:solidFill>
              </a:rPr>
              <a:t>]</a:t>
            </a:r>
            <a:endParaRPr lang="ru-RU" sz="3200" dirty="0">
              <a:solidFill>
                <a:srgbClr val="00B050"/>
              </a:solidFill>
            </a:endParaRPr>
          </a:p>
        </p:txBody>
      </p:sp>
      <p:sp>
        <p:nvSpPr>
          <p:cNvPr id="34" name="Rectangle 33"/>
          <p:cNvSpPr/>
          <p:nvPr/>
        </p:nvSpPr>
        <p:spPr>
          <a:xfrm>
            <a:off x="714348" y="4857760"/>
            <a:ext cx="2143140" cy="584775"/>
          </a:xfrm>
          <a:prstGeom prst="rect">
            <a:avLst/>
          </a:prstGeom>
          <a:effectLst>
            <a:glow rad="101600">
              <a:srgbClr val="00B050">
                <a:alpha val="60000"/>
              </a:srgbClr>
            </a:glo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en-US" sz="3200" b="1" dirty="0" smtClean="0">
                <a:solidFill>
                  <a:srgbClr val="00B050"/>
                </a:solidFill>
              </a:rPr>
              <a:t>[</a:t>
            </a:r>
            <a:r>
              <a:rPr lang="en-US" sz="3200" b="1" dirty="0" err="1" smtClean="0">
                <a:solidFill>
                  <a:srgbClr val="00B050"/>
                </a:solidFill>
              </a:rPr>
              <a:t>att</a:t>
            </a:r>
            <a:r>
              <a:rPr lang="en-US" sz="3200" b="1" dirty="0" smtClean="0">
                <a:solidFill>
                  <a:srgbClr val="00B050"/>
                </a:solidFill>
              </a:rPr>
              <a:t>~=</a:t>
            </a:r>
            <a:r>
              <a:rPr lang="en-US" sz="3200" b="1" dirty="0" err="1" smtClean="0">
                <a:solidFill>
                  <a:srgbClr val="00B050"/>
                </a:solidFill>
              </a:rPr>
              <a:t>val</a:t>
            </a:r>
            <a:r>
              <a:rPr lang="en-US" sz="3200" b="1" dirty="0" smtClean="0">
                <a:solidFill>
                  <a:srgbClr val="00B050"/>
                </a:solidFill>
              </a:rPr>
              <a:t>]</a:t>
            </a:r>
            <a:endParaRPr lang="ru-RU" sz="3200" dirty="0">
              <a:solidFill>
                <a:srgbClr val="00B050"/>
              </a:solidFill>
            </a:endParaRPr>
          </a:p>
        </p:txBody>
      </p:sp>
      <p:sp>
        <p:nvSpPr>
          <p:cNvPr id="35" name="Right Arrow 34"/>
          <p:cNvSpPr/>
          <p:nvPr/>
        </p:nvSpPr>
        <p:spPr>
          <a:xfrm>
            <a:off x="3286116" y="5000636"/>
            <a:ext cx="642942" cy="357190"/>
          </a:xfrm>
          <a:prstGeom prst="rightArrow">
            <a:avLst/>
          </a:prstGeom>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Rectangle 35"/>
          <p:cNvSpPr/>
          <p:nvPr/>
        </p:nvSpPr>
        <p:spPr>
          <a:xfrm>
            <a:off x="4429156" y="4643446"/>
            <a:ext cx="3714744" cy="147732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b="1" dirty="0" smtClean="0">
                <a:solidFill>
                  <a:schemeClr val="accent2"/>
                </a:solidFill>
              </a:rPr>
              <a:t>Represents an element with the </a:t>
            </a:r>
            <a:r>
              <a:rPr lang="en-US" b="1" dirty="0" err="1" smtClean="0">
                <a:solidFill>
                  <a:schemeClr val="accent2"/>
                </a:solidFill>
              </a:rPr>
              <a:t>att</a:t>
            </a:r>
            <a:r>
              <a:rPr lang="en-US" b="1" dirty="0" smtClean="0">
                <a:solidFill>
                  <a:schemeClr val="accent2"/>
                </a:solidFill>
              </a:rPr>
              <a:t> attribute whose value is a white space-separated list of words, one of which is exactly "</a:t>
            </a:r>
            <a:r>
              <a:rPr lang="en-US" b="1" dirty="0" err="1" smtClean="0">
                <a:solidFill>
                  <a:schemeClr val="accent2"/>
                </a:solidFill>
              </a:rPr>
              <a:t>val</a:t>
            </a:r>
            <a:r>
              <a:rPr lang="en-US" b="1" dirty="0" smtClean="0">
                <a:solidFill>
                  <a:schemeClr val="accent2"/>
                </a:solidFill>
              </a:rPr>
              <a:t>“.</a:t>
            </a:r>
            <a:endParaRPr lang="ru-RU" b="1" dirty="0">
              <a:solidFill>
                <a:schemeClr val="accent2"/>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6" name="TextBox 5"/>
          <p:cNvSpPr txBox="1"/>
          <p:nvPr/>
        </p:nvSpPr>
        <p:spPr>
          <a:xfrm>
            <a:off x="1071538" y="1214422"/>
            <a:ext cx="414340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smtClean="0">
                <a:solidFill>
                  <a:schemeClr val="accent2"/>
                </a:solidFill>
              </a:rPr>
              <a:t>Attribute Selectors</a:t>
            </a:r>
            <a:endParaRPr lang="ru-RU" sz="2400" b="1" dirty="0">
              <a:solidFill>
                <a:schemeClr val="accent2"/>
              </a:solidFill>
            </a:endParaRPr>
          </a:p>
        </p:txBody>
      </p:sp>
      <p:sp>
        <p:nvSpPr>
          <p:cNvPr id="9" name="Right Arrow 8"/>
          <p:cNvSpPr/>
          <p:nvPr/>
        </p:nvSpPr>
        <p:spPr>
          <a:xfrm>
            <a:off x="3428992" y="2428868"/>
            <a:ext cx="642942" cy="357190"/>
          </a:xfrm>
          <a:prstGeom prst="rightArrow">
            <a:avLst/>
          </a:prstGeom>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Rectangle 9"/>
          <p:cNvSpPr/>
          <p:nvPr/>
        </p:nvSpPr>
        <p:spPr>
          <a:xfrm>
            <a:off x="4429124" y="2214554"/>
            <a:ext cx="3714744"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b="1" dirty="0" smtClean="0">
                <a:solidFill>
                  <a:schemeClr val="accent2"/>
                </a:solidFill>
              </a:rPr>
              <a:t>The star designates that the proceeding value must appear </a:t>
            </a:r>
            <a:r>
              <a:rPr lang="en-US" b="1" i="1" dirty="0" smtClean="0">
                <a:solidFill>
                  <a:schemeClr val="accent2"/>
                </a:solidFill>
              </a:rPr>
              <a:t>somewhere </a:t>
            </a:r>
            <a:r>
              <a:rPr lang="en-US" b="1" dirty="0" smtClean="0">
                <a:solidFill>
                  <a:schemeClr val="accent2"/>
                </a:solidFill>
              </a:rPr>
              <a:t>in the attribute’s value. </a:t>
            </a:r>
            <a:endParaRPr lang="ru-RU" b="1" dirty="0">
              <a:solidFill>
                <a:schemeClr val="accent2"/>
              </a:solidFill>
            </a:endParaRPr>
          </a:p>
        </p:txBody>
      </p:sp>
      <p:sp>
        <p:nvSpPr>
          <p:cNvPr id="12" name="Rectangle 11"/>
          <p:cNvSpPr/>
          <p:nvPr/>
        </p:nvSpPr>
        <p:spPr>
          <a:xfrm>
            <a:off x="857224" y="2285992"/>
            <a:ext cx="1928826" cy="584775"/>
          </a:xfrm>
          <a:prstGeom prst="rect">
            <a:avLst/>
          </a:prstGeom>
          <a:effectLst>
            <a:glow rad="101600">
              <a:srgbClr val="00B050">
                <a:alpha val="60000"/>
              </a:srgbClr>
            </a:glo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en-US" sz="3200" b="1" dirty="0" smtClean="0">
                <a:solidFill>
                  <a:srgbClr val="00B050"/>
                </a:solidFill>
              </a:rPr>
              <a:t>[</a:t>
            </a:r>
            <a:r>
              <a:rPr lang="en-US" sz="3200" b="1" dirty="0" err="1" smtClean="0">
                <a:solidFill>
                  <a:srgbClr val="00B050"/>
                </a:solidFill>
              </a:rPr>
              <a:t>att</a:t>
            </a:r>
            <a:r>
              <a:rPr lang="en-US" sz="3200" b="1" dirty="0" smtClean="0">
                <a:solidFill>
                  <a:srgbClr val="00B050"/>
                </a:solidFill>
              </a:rPr>
              <a:t>*=</a:t>
            </a:r>
            <a:r>
              <a:rPr lang="en-US" sz="3200" b="1" dirty="0" err="1" smtClean="0">
                <a:solidFill>
                  <a:srgbClr val="00B050"/>
                </a:solidFill>
              </a:rPr>
              <a:t>val</a:t>
            </a:r>
            <a:r>
              <a:rPr lang="en-US" sz="3200" b="1" dirty="0" smtClean="0">
                <a:solidFill>
                  <a:srgbClr val="00B050"/>
                </a:solidFill>
              </a:rPr>
              <a:t>]</a:t>
            </a:r>
            <a:endParaRPr lang="ru-RU" sz="3200" dirty="0">
              <a:solidFill>
                <a:srgbClr val="00B050"/>
              </a:solidFill>
            </a:endParaRPr>
          </a:p>
        </p:txBody>
      </p:sp>
      <p:sp>
        <p:nvSpPr>
          <p:cNvPr id="14" name="Rectangle 13"/>
          <p:cNvSpPr/>
          <p:nvPr/>
        </p:nvSpPr>
        <p:spPr>
          <a:xfrm>
            <a:off x="642910" y="5000636"/>
            <a:ext cx="1928826" cy="584775"/>
          </a:xfrm>
          <a:prstGeom prst="rect">
            <a:avLst/>
          </a:prstGeom>
          <a:effectLst>
            <a:glow rad="101600">
              <a:srgbClr val="00B050">
                <a:alpha val="60000"/>
              </a:srgbClr>
            </a:glo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en-US" sz="3200" b="1" dirty="0" smtClean="0">
                <a:solidFill>
                  <a:srgbClr val="00B050"/>
                </a:solidFill>
              </a:rPr>
              <a:t>[</a:t>
            </a:r>
            <a:r>
              <a:rPr lang="en-US" sz="3200" b="1" dirty="0" err="1" smtClean="0">
                <a:solidFill>
                  <a:srgbClr val="00B050"/>
                </a:solidFill>
              </a:rPr>
              <a:t>att</a:t>
            </a:r>
            <a:r>
              <a:rPr lang="ru-RU" sz="3200" b="1" dirty="0" smtClean="0">
                <a:solidFill>
                  <a:srgbClr val="00B050"/>
                </a:solidFill>
              </a:rPr>
              <a:t>|</a:t>
            </a:r>
            <a:r>
              <a:rPr lang="en-US" sz="3200" b="1" dirty="0" smtClean="0">
                <a:solidFill>
                  <a:srgbClr val="00B050"/>
                </a:solidFill>
              </a:rPr>
              <a:t>=</a:t>
            </a:r>
            <a:r>
              <a:rPr lang="en-US" sz="3200" b="1" dirty="0" err="1" smtClean="0">
                <a:solidFill>
                  <a:srgbClr val="00B050"/>
                </a:solidFill>
              </a:rPr>
              <a:t>val</a:t>
            </a:r>
            <a:r>
              <a:rPr lang="en-US" sz="3200" b="1" dirty="0" smtClean="0">
                <a:solidFill>
                  <a:srgbClr val="00B050"/>
                </a:solidFill>
              </a:rPr>
              <a:t>]</a:t>
            </a:r>
            <a:endParaRPr lang="ru-RU" sz="3200" dirty="0">
              <a:solidFill>
                <a:srgbClr val="00B050"/>
              </a:solidFill>
            </a:endParaRPr>
          </a:p>
        </p:txBody>
      </p:sp>
      <p:sp>
        <p:nvSpPr>
          <p:cNvPr id="15" name="Rectangle 14"/>
          <p:cNvSpPr/>
          <p:nvPr/>
        </p:nvSpPr>
        <p:spPr>
          <a:xfrm>
            <a:off x="2928926" y="4987365"/>
            <a:ext cx="2500330" cy="584775"/>
          </a:xfrm>
          <a:prstGeom prst="rect">
            <a:avLst/>
          </a:prstGeom>
          <a:effectLst>
            <a:glow rad="101600">
              <a:srgbClr val="00B050">
                <a:alpha val="60000"/>
              </a:srgbClr>
            </a:glo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en-US" sz="3200" b="1" dirty="0" smtClean="0">
                <a:solidFill>
                  <a:srgbClr val="00B050"/>
                </a:solidFill>
              </a:rPr>
              <a:t>[</a:t>
            </a:r>
            <a:r>
              <a:rPr lang="en-US" sz="3200" b="1" dirty="0" err="1" smtClean="0">
                <a:solidFill>
                  <a:srgbClr val="00B050"/>
                </a:solidFill>
              </a:rPr>
              <a:t>att</a:t>
            </a:r>
            <a:r>
              <a:rPr lang="ru-RU" sz="3200" b="1" dirty="0" smtClean="0">
                <a:solidFill>
                  <a:srgbClr val="00B050"/>
                </a:solidFill>
              </a:rPr>
              <a:t>^</a:t>
            </a:r>
            <a:r>
              <a:rPr lang="en-US" sz="3200" b="1" dirty="0" smtClean="0">
                <a:solidFill>
                  <a:srgbClr val="00B050"/>
                </a:solidFill>
              </a:rPr>
              <a:t>=</a:t>
            </a:r>
            <a:r>
              <a:rPr lang="en-US" sz="3200" b="1" dirty="0" err="1" smtClean="0">
                <a:solidFill>
                  <a:srgbClr val="00B050"/>
                </a:solidFill>
              </a:rPr>
              <a:t>val</a:t>
            </a:r>
            <a:r>
              <a:rPr lang="en-US" sz="3200" b="1" dirty="0" smtClean="0">
                <a:solidFill>
                  <a:srgbClr val="00B050"/>
                </a:solidFill>
              </a:rPr>
              <a:t>]</a:t>
            </a:r>
            <a:endParaRPr lang="ru-RU" sz="3200" dirty="0">
              <a:solidFill>
                <a:srgbClr val="00B050"/>
              </a:solidFill>
            </a:endParaRPr>
          </a:p>
        </p:txBody>
      </p:sp>
      <p:sp>
        <p:nvSpPr>
          <p:cNvPr id="16" name="Rectangle 15"/>
          <p:cNvSpPr/>
          <p:nvPr/>
        </p:nvSpPr>
        <p:spPr>
          <a:xfrm>
            <a:off x="5715008" y="4987365"/>
            <a:ext cx="2286016" cy="584775"/>
          </a:xfrm>
          <a:prstGeom prst="rect">
            <a:avLst/>
          </a:prstGeom>
          <a:effectLst>
            <a:glow rad="101600">
              <a:srgbClr val="00B050">
                <a:alpha val="60000"/>
              </a:srgbClr>
            </a:glo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en-US" sz="3200" b="1" dirty="0" smtClean="0">
                <a:solidFill>
                  <a:srgbClr val="00B050"/>
                </a:solidFill>
              </a:rPr>
              <a:t>[</a:t>
            </a:r>
            <a:r>
              <a:rPr lang="en-US" sz="3200" b="1" dirty="0" err="1" smtClean="0">
                <a:solidFill>
                  <a:srgbClr val="00B050"/>
                </a:solidFill>
              </a:rPr>
              <a:t>att</a:t>
            </a:r>
            <a:r>
              <a:rPr lang="ru-RU" sz="3200" b="1" dirty="0" smtClean="0">
                <a:solidFill>
                  <a:srgbClr val="00B050"/>
                </a:solidFill>
              </a:rPr>
              <a:t>$</a:t>
            </a:r>
            <a:r>
              <a:rPr lang="en-US" sz="3200" b="1" dirty="0" smtClean="0">
                <a:solidFill>
                  <a:srgbClr val="00B050"/>
                </a:solidFill>
              </a:rPr>
              <a:t>=</a:t>
            </a:r>
            <a:r>
              <a:rPr lang="en-US" sz="3200" b="1" dirty="0" err="1" smtClean="0">
                <a:solidFill>
                  <a:srgbClr val="00B050"/>
                </a:solidFill>
              </a:rPr>
              <a:t>val</a:t>
            </a:r>
            <a:r>
              <a:rPr lang="en-US" sz="3200" b="1" dirty="0" smtClean="0">
                <a:solidFill>
                  <a:srgbClr val="00B050"/>
                </a:solidFill>
              </a:rPr>
              <a:t>]</a:t>
            </a:r>
            <a:endParaRPr lang="ru-RU" sz="3200" dirty="0">
              <a:solidFill>
                <a:srgbClr val="00B050"/>
              </a:solidFill>
            </a:endParaRPr>
          </a:p>
        </p:txBody>
      </p:sp>
      <p:sp>
        <p:nvSpPr>
          <p:cNvPr id="17" name="Rectangle 16"/>
          <p:cNvSpPr/>
          <p:nvPr/>
        </p:nvSpPr>
        <p:spPr>
          <a:xfrm>
            <a:off x="1285852" y="4286256"/>
            <a:ext cx="428628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p:cNvSpPr txBox="1"/>
          <p:nvPr/>
        </p:nvSpPr>
        <p:spPr>
          <a:xfrm>
            <a:off x="1643042" y="4286256"/>
            <a:ext cx="3929090" cy="369332"/>
          </a:xfrm>
          <a:prstGeom prst="rect">
            <a:avLst/>
          </a:prstGeom>
          <a:noFill/>
        </p:spPr>
        <p:txBody>
          <a:bodyPr wrap="square" rtlCol="0">
            <a:spAutoFit/>
          </a:bodyPr>
          <a:lstStyle/>
          <a:p>
            <a:r>
              <a:rPr lang="ru-RU" b="1" dirty="0" smtClean="0">
                <a:solidFill>
                  <a:schemeClr val="bg1"/>
                </a:solidFill>
              </a:rPr>
              <a:t>Other selectors....</a:t>
            </a:r>
            <a:endParaRPr lang="ru-RU" b="1" dirty="0">
              <a:solidFill>
                <a:schemeClr val="bg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3568" y="260648"/>
            <a:ext cx="703170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Selectors</a:t>
            </a:r>
            <a:endParaRPr lang="en-US" sz="4800" dirty="0" smtClean="0"/>
          </a:p>
        </p:txBody>
      </p:sp>
      <p:sp>
        <p:nvSpPr>
          <p:cNvPr id="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6" name="TextBox 5"/>
          <p:cNvSpPr txBox="1"/>
          <p:nvPr/>
        </p:nvSpPr>
        <p:spPr>
          <a:xfrm>
            <a:off x="1071538" y="1214422"/>
            <a:ext cx="414340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smtClean="0">
                <a:solidFill>
                  <a:schemeClr val="accent2"/>
                </a:solidFill>
              </a:rPr>
              <a:t>Attribute Selectors</a:t>
            </a:r>
            <a:endParaRPr lang="ru-RU" sz="2400" b="1" dirty="0">
              <a:solidFill>
                <a:schemeClr val="accent2"/>
              </a:solidFill>
            </a:endParaRPr>
          </a:p>
        </p:txBody>
      </p:sp>
      <p:pic>
        <p:nvPicPr>
          <p:cNvPr id="29699" name="Picture 3" descr="C:\Users\Comp\Desktop\Untitled.png"/>
          <p:cNvPicPr>
            <a:picLocks noChangeAspect="1" noChangeArrowheads="1"/>
          </p:cNvPicPr>
          <p:nvPr/>
        </p:nvPicPr>
        <p:blipFill>
          <a:blip r:embed="rId2"/>
          <a:srcRect/>
          <a:stretch>
            <a:fillRect/>
          </a:stretch>
        </p:blipFill>
        <p:spPr bwMode="auto">
          <a:xfrm>
            <a:off x="1785918" y="2000240"/>
            <a:ext cx="5321337" cy="571504"/>
          </a:xfrm>
          <a:prstGeom prst="rect">
            <a:avLst/>
          </a:prstGeom>
          <a:noFill/>
          <a:effectLst>
            <a:glow rad="101600">
              <a:srgbClr val="0070C0">
                <a:alpha val="60000"/>
              </a:srgbClr>
            </a:glow>
          </a:effectLst>
        </p:spPr>
      </p:pic>
      <p:pic>
        <p:nvPicPr>
          <p:cNvPr id="29701" name="Picture 5" descr="C:\Users\Comp\Desktop\Untitled.png"/>
          <p:cNvPicPr>
            <a:picLocks noChangeAspect="1" noChangeArrowheads="1"/>
          </p:cNvPicPr>
          <p:nvPr/>
        </p:nvPicPr>
        <p:blipFill>
          <a:blip r:embed="rId3"/>
          <a:srcRect/>
          <a:stretch>
            <a:fillRect/>
          </a:stretch>
        </p:blipFill>
        <p:spPr bwMode="auto">
          <a:xfrm>
            <a:off x="500034" y="3214686"/>
            <a:ext cx="2765342" cy="1071570"/>
          </a:xfrm>
          <a:prstGeom prst="rect">
            <a:avLst/>
          </a:prstGeom>
          <a:noFill/>
          <a:effectLst>
            <a:glow rad="139700">
              <a:schemeClr val="accent1">
                <a:satMod val="175000"/>
                <a:alpha val="40000"/>
              </a:schemeClr>
            </a:glow>
          </a:effectLst>
        </p:spPr>
      </p:pic>
      <p:pic>
        <p:nvPicPr>
          <p:cNvPr id="29702" name="Picture 6" descr="C:\Users\Comp\Desktop\Untitled.png"/>
          <p:cNvPicPr>
            <a:picLocks noChangeAspect="1" noChangeArrowheads="1"/>
          </p:cNvPicPr>
          <p:nvPr/>
        </p:nvPicPr>
        <p:blipFill>
          <a:blip r:embed="rId4"/>
          <a:srcRect/>
          <a:stretch>
            <a:fillRect/>
          </a:stretch>
        </p:blipFill>
        <p:spPr bwMode="auto">
          <a:xfrm>
            <a:off x="5715008" y="3286124"/>
            <a:ext cx="2214578" cy="1083978"/>
          </a:xfrm>
          <a:prstGeom prst="rect">
            <a:avLst/>
          </a:prstGeom>
          <a:noFill/>
          <a:effectLst>
            <a:glow rad="139700">
              <a:schemeClr val="accent2">
                <a:satMod val="175000"/>
                <a:alpha val="40000"/>
              </a:schemeClr>
            </a:glow>
          </a:effectLst>
        </p:spPr>
      </p:pic>
      <p:pic>
        <p:nvPicPr>
          <p:cNvPr id="29703" name="Picture 7" descr="C:\Users\Comp\Desktop\Untitled.png"/>
          <p:cNvPicPr>
            <a:picLocks noChangeAspect="1" noChangeArrowheads="1"/>
          </p:cNvPicPr>
          <p:nvPr/>
        </p:nvPicPr>
        <p:blipFill>
          <a:blip r:embed="rId5"/>
          <a:srcRect/>
          <a:stretch>
            <a:fillRect/>
          </a:stretch>
        </p:blipFill>
        <p:spPr bwMode="auto">
          <a:xfrm>
            <a:off x="3357554" y="4714884"/>
            <a:ext cx="2000264" cy="1190031"/>
          </a:xfrm>
          <a:prstGeom prst="rect">
            <a:avLst/>
          </a:prstGeom>
          <a:noFill/>
          <a:effectLst>
            <a:glow rad="101600">
              <a:srgbClr val="00B050">
                <a:alpha val="40000"/>
              </a:srgbClr>
            </a:glow>
          </a:effectLst>
        </p:spPr>
      </p:pic>
      <p:sp>
        <p:nvSpPr>
          <p:cNvPr id="16" name="Down Arrow 15"/>
          <p:cNvSpPr/>
          <p:nvPr/>
        </p:nvSpPr>
        <p:spPr>
          <a:xfrm>
            <a:off x="4429124" y="3071810"/>
            <a:ext cx="285752" cy="12858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Down Arrow 16"/>
          <p:cNvSpPr/>
          <p:nvPr/>
        </p:nvSpPr>
        <p:spPr>
          <a:xfrm rot="2162223">
            <a:off x="2000232" y="2714620"/>
            <a:ext cx="500066"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Down Arrow 18"/>
          <p:cNvSpPr/>
          <p:nvPr/>
        </p:nvSpPr>
        <p:spPr>
          <a:xfrm rot="19301920">
            <a:off x="5843668" y="2756102"/>
            <a:ext cx="500066"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11560" y="260648"/>
            <a:ext cx="244827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Task1:</a:t>
            </a:r>
            <a:endParaRPr lang="en-US"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endParaRPr>
          </a:p>
        </p:txBody>
      </p:sp>
      <p:pic>
        <p:nvPicPr>
          <p:cNvPr id="2049" name="Picture 1" descr="C:\Users\Comp\Desktop\Untitled.png"/>
          <p:cNvPicPr>
            <a:picLocks noChangeAspect="1" noChangeArrowheads="1"/>
          </p:cNvPicPr>
          <p:nvPr/>
        </p:nvPicPr>
        <p:blipFill>
          <a:blip r:embed="rId2"/>
          <a:srcRect/>
          <a:stretch>
            <a:fillRect/>
          </a:stretch>
        </p:blipFill>
        <p:spPr bwMode="auto">
          <a:xfrm>
            <a:off x="1285852" y="1714488"/>
            <a:ext cx="5790428" cy="2357454"/>
          </a:xfrm>
          <a:prstGeom prst="rect">
            <a:avLst/>
          </a:prstGeom>
          <a:noFill/>
          <a:effectLst>
            <a:glow rad="139700">
              <a:schemeClr val="accent2">
                <a:satMod val="175000"/>
                <a:alpha val="40000"/>
              </a:schemeClr>
            </a:glow>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260648"/>
            <a:ext cx="244827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Task</a:t>
            </a:r>
            <a:r>
              <a:rPr lang="en-US"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2</a:t>
            </a:r>
            <a:r>
              <a:rPr lang="hy-AM"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a:t>
            </a:r>
            <a:endParaRPr lang="en-US"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endParaRPr>
          </a:p>
        </p:txBody>
      </p:sp>
      <p:pic>
        <p:nvPicPr>
          <p:cNvPr id="1027" name="Picture 3" descr="C:\Users\Comp\Desktop\Untitled.png"/>
          <p:cNvPicPr>
            <a:picLocks noChangeAspect="1" noChangeArrowheads="1"/>
          </p:cNvPicPr>
          <p:nvPr/>
        </p:nvPicPr>
        <p:blipFill>
          <a:blip r:embed="rId2"/>
          <a:srcRect/>
          <a:stretch>
            <a:fillRect/>
          </a:stretch>
        </p:blipFill>
        <p:spPr bwMode="auto">
          <a:xfrm>
            <a:off x="2500298" y="1285860"/>
            <a:ext cx="5438790" cy="4684938"/>
          </a:xfrm>
          <a:prstGeom prst="rect">
            <a:avLst/>
          </a:prstGeom>
          <a:noFill/>
          <a:ln>
            <a:solidFill>
              <a:srgbClr val="FFC000"/>
            </a:solidFill>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3396</TotalTime>
  <Words>383</Words>
  <Application>Microsoft Office PowerPoint</Application>
  <PresentationFormat>Экран (4:3)</PresentationFormat>
  <Paragraphs>82</Paragraphs>
  <Slides>12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Equity</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Araik</dc:creator>
  <cp:lastModifiedBy>home</cp:lastModifiedBy>
  <cp:revision>240</cp:revision>
  <dcterms:created xsi:type="dcterms:W3CDTF">2013-08-16T08:22:25Z</dcterms:created>
  <dcterms:modified xsi:type="dcterms:W3CDTF">2016-11-25T12:59:00Z</dcterms:modified>
</cp:coreProperties>
</file>