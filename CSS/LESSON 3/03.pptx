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5"/>
  </p:notesMasterIdLst>
  <p:sldIdLst>
    <p:sldId id="257" r:id="rId2"/>
    <p:sldId id="261" r:id="rId3"/>
    <p:sldId id="262" r:id="rId4"/>
    <p:sldId id="260" r:id="rId5"/>
    <p:sldId id="263" r:id="rId6"/>
    <p:sldId id="259" r:id="rId7"/>
    <p:sldId id="258" r:id="rId8"/>
    <p:sldId id="264" r:id="rId9"/>
    <p:sldId id="267" r:id="rId10"/>
    <p:sldId id="265" r:id="rId11"/>
    <p:sldId id="268" r:id="rId12"/>
    <p:sldId id="270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70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schools.com/cssref/pr_font_weight.asp" TargetMode="External"/><Relationship Id="rId3" Type="http://schemas.openxmlformats.org/officeDocument/2006/relationships/hyperlink" Target="http://www.w3schools.com/cssref/pr_font_font.asp" TargetMode="External"/><Relationship Id="rId7" Type="http://schemas.openxmlformats.org/officeDocument/2006/relationships/hyperlink" Target="http://www.w3schools.com/cssref/pr_font_font-variant.asp" TargetMode="Externa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schools.com/cssref/pr_font_font-style.asp" TargetMode="External"/><Relationship Id="rId5" Type="http://schemas.openxmlformats.org/officeDocument/2006/relationships/hyperlink" Target="http://www.w3schools.com/cssref/pr_font_font-size.asp" TargetMode="External"/><Relationship Id="rId4" Type="http://schemas.openxmlformats.org/officeDocument/2006/relationships/hyperlink" Target="http://www.w3schools.com/cssref/pr_font_font-family.asp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3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Font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pic>
        <p:nvPicPr>
          <p:cNvPr id="1026" name="Picture 2" descr="C:\Users\Araik\Desktop\serif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908720"/>
            <a:ext cx="5124623" cy="1828383"/>
          </a:xfrm>
          <a:prstGeom prst="rect">
            <a:avLst/>
          </a:prstGeom>
          <a:noFill/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19672" y="2924944"/>
          <a:ext cx="6096000" cy="295309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524000"/>
                <a:gridCol w="4572000"/>
              </a:tblGrid>
              <a:tr h="29382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Property</a:t>
                      </a:r>
                      <a:endParaRPr lang="en-US" sz="16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5330" marR="25330" marT="25330" marB="253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Description</a:t>
                      </a:r>
                      <a:endParaRPr lang="en-US" sz="16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25330" marR="25330" marT="25330" marB="25330"/>
                </a:tc>
              </a:tr>
              <a:tr h="604534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hlinkClick r:id="rId3"/>
                        </a:rPr>
                        <a:t>font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/>
                        <a:t>Sets all the font properties in one declaration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361369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hlinkClick r:id="rId4"/>
                        </a:rPr>
                        <a:t>font-family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Specifies the font family for text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361369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hlinkClick r:id="rId5"/>
                        </a:rPr>
                        <a:t>font-size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/>
                        <a:t>Specifies the font size of text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361369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hlinkClick r:id="rId6"/>
                        </a:rPr>
                        <a:t>font-style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/>
                        <a:t>Specifies the font style for text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604534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hlinkClick r:id="rId7"/>
                        </a:rPr>
                        <a:t>font-variant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/>
                        <a:t>Specifies whether or not a text should be displayed in a small-caps font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361369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hlinkClick r:id="rId8"/>
                        </a:rPr>
                        <a:t>font-weight</a:t>
                      </a:r>
                      <a:endParaRPr lang="en-US" sz="1600" b="1"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/>
                        <a:t>Specifies the weight of a font</a:t>
                      </a:r>
                      <a:endParaRPr lang="en-US" sz="1600" b="1" dirty="0"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Font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323528" y="98072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Font-family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79512" y="1628800"/>
            <a:ext cx="8964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generic family</a:t>
            </a:r>
            <a:r>
              <a:rPr lang="en-US" b="1" dirty="0" smtClean="0">
                <a:solidFill>
                  <a:schemeClr val="accent2"/>
                </a:solidFill>
              </a:rPr>
              <a:t> - a group of font families with a similar look (like "Serif" or "</a:t>
            </a:r>
            <a:r>
              <a:rPr lang="en-US" b="1" dirty="0" err="1" smtClean="0">
                <a:solidFill>
                  <a:schemeClr val="accent2"/>
                </a:solidFill>
              </a:rPr>
              <a:t>Monospace</a:t>
            </a:r>
            <a:r>
              <a:rPr lang="en-US" b="1" dirty="0" smtClean="0">
                <a:solidFill>
                  <a:schemeClr val="accent2"/>
                </a:solidFill>
              </a:rPr>
              <a:t>")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font family </a:t>
            </a:r>
            <a:r>
              <a:rPr lang="en-US" b="1" dirty="0" smtClean="0">
                <a:solidFill>
                  <a:schemeClr val="accent2"/>
                </a:solidFill>
              </a:rPr>
              <a:t>- a specific font family (like "Times New Roman" or "Arial")</a:t>
            </a:r>
            <a:endParaRPr 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55576" y="2708920"/>
          <a:ext cx="7488832" cy="247809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497766"/>
                <a:gridCol w="2246650"/>
                <a:gridCol w="3744416"/>
              </a:tblGrid>
              <a:tr h="536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Generic family</a:t>
                      </a:r>
                      <a:endParaRPr lang="en-US" sz="1600" b="1" dirty="0">
                        <a:solidFill>
                          <a:schemeClr val="accent1"/>
                        </a:solidFill>
                        <a:latin typeface="verdana"/>
                      </a:endParaRPr>
                    </a:p>
                  </a:txBody>
                  <a:tcPr marL="25330" marR="25330" marT="25330" marB="253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Font family</a:t>
                      </a:r>
                      <a:endParaRPr lang="en-US" sz="1600" b="1" dirty="0">
                        <a:solidFill>
                          <a:schemeClr val="accent1"/>
                        </a:solidFill>
                        <a:latin typeface="verdana"/>
                      </a:endParaRPr>
                    </a:p>
                  </a:txBody>
                  <a:tcPr marL="25330" marR="25330" marT="25330" marB="253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  <a:endParaRPr lang="en-US" sz="1600" b="1" dirty="0">
                        <a:solidFill>
                          <a:schemeClr val="accent1"/>
                        </a:solidFill>
                        <a:latin typeface="verdana"/>
                      </a:endParaRPr>
                    </a:p>
                  </a:txBody>
                  <a:tcPr marL="25330" marR="25330" marT="25330" marB="25330"/>
                </a:tc>
              </a:tr>
              <a:tr h="615140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Serif</a:t>
                      </a:r>
                      <a:endParaRPr lang="en-US" sz="16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Times New Roman</a:t>
                      </a:r>
                      <a:br>
                        <a:rPr lang="en-US" sz="1600" b="1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Georgia</a:t>
                      </a:r>
                      <a:endParaRPr lang="en-US" sz="16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Serif fonts have small lines at the ends on some characters</a:t>
                      </a:r>
                      <a:endParaRPr lang="en-US" sz="16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720080"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Sans-serif</a:t>
                      </a:r>
                      <a:endParaRPr lang="en-US" sz="16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Arial</a:t>
                      </a:r>
                      <a:br>
                        <a:rPr lang="en-US" sz="1600" b="1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Verdana</a:t>
                      </a:r>
                      <a:endParaRPr lang="en-US" sz="16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"Sans" means without - these fonts do not have the lines at the ends of characters</a:t>
                      </a:r>
                      <a:endParaRPr lang="en-US" sz="1600" b="1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  <a:tr h="604534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>
                          <a:solidFill>
                            <a:srgbClr val="00B050"/>
                          </a:solidFill>
                        </a:rPr>
                        <a:t>Monospace</a:t>
                      </a:r>
                      <a:endParaRPr lang="en-US" sz="16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Courier New</a:t>
                      </a:r>
                      <a:br>
                        <a:rPr lang="en-US" sz="1600" b="1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Lucida Console</a:t>
                      </a:r>
                      <a:endParaRPr lang="en-US" sz="16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All </a:t>
                      </a:r>
                      <a:r>
                        <a:rPr lang="en-US" sz="1600" b="1" dirty="0" err="1">
                          <a:solidFill>
                            <a:srgbClr val="00B050"/>
                          </a:solidFill>
                        </a:rPr>
                        <a:t>monospace</a:t>
                      </a:r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 characters have the same width</a:t>
                      </a:r>
                      <a:endParaRPr lang="en-US" sz="1600" b="1" dirty="0">
                        <a:solidFill>
                          <a:srgbClr val="00B050"/>
                        </a:solidFill>
                        <a:latin typeface="verdana"/>
                      </a:endParaRPr>
                    </a:p>
                  </a:txBody>
                  <a:tcPr marL="42216" marR="42216" marT="59102" marB="59102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Font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323528" y="98072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Font-family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228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060848"/>
            <a:ext cx="5825855" cy="576064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2290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500214"/>
            <a:ext cx="8164513" cy="230505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9" name="TextBox 18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7544" y="29249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Font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323528" y="98072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Font-style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7544" y="29249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1265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3429000"/>
            <a:ext cx="6696744" cy="2537391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1266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1916832"/>
            <a:ext cx="3684389" cy="936887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Font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323528" y="980728"/>
            <a:ext cx="453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Font-size with pixels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7544" y="29249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0241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3212976"/>
            <a:ext cx="6963991" cy="2884355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242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73238" y="1854199"/>
            <a:ext cx="2726754" cy="929297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Font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323528" y="980728"/>
            <a:ext cx="453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Font-size with ems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7544" y="29249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4048" y="836712"/>
            <a:ext cx="1440160" cy="369332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1" dirty="0" smtClean="0"/>
              <a:t>pixels</a:t>
            </a:r>
            <a:r>
              <a:rPr lang="en-US" b="1" dirty="0" smtClean="0"/>
              <a:t>/16=</a:t>
            </a:r>
            <a:r>
              <a:rPr lang="en-US" b="1" i="1" dirty="0" err="1" smtClean="0"/>
              <a:t>em</a:t>
            </a:r>
            <a:endParaRPr lang="en-US" b="1" dirty="0"/>
          </a:p>
        </p:txBody>
      </p:sp>
      <p:pic>
        <p:nvPicPr>
          <p:cNvPr id="9217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988840"/>
            <a:ext cx="5047585" cy="864096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9218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573016"/>
            <a:ext cx="6904720" cy="2578224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Font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323528" y="980728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Font-size with ems and percents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7544" y="29249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22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3573016"/>
            <a:ext cx="6904720" cy="2578224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8193" name="Picture 1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1844824"/>
            <a:ext cx="3456384" cy="1479616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Font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323528" y="980728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Font-variant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7544" y="29249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6145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429000"/>
            <a:ext cx="6650756" cy="2273362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6146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2060848"/>
            <a:ext cx="3919503" cy="572269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6147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8144" y="1124744"/>
            <a:ext cx="2658207" cy="1177206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Font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323528" y="980728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Font-weight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9552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7544" y="29249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716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3418202"/>
            <a:ext cx="6480720" cy="2654556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7170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8363" y="1670050"/>
            <a:ext cx="3873798" cy="1146555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196752"/>
            <a:ext cx="2790825" cy="2428875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1" name="TextBox 10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Task1: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95936" y="3717032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Task2: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5122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5013176"/>
            <a:ext cx="8278813" cy="65722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Task3: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097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12776"/>
            <a:ext cx="4086225" cy="3971925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Task4: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3073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063312"/>
            <a:ext cx="7548585" cy="54019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1606</TotalTime>
  <Words>165</Words>
  <Application>Microsoft Office PowerPoint</Application>
  <PresentationFormat>Экран (4:3)</PresentationFormat>
  <Paragraphs>66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71</cp:revision>
  <dcterms:created xsi:type="dcterms:W3CDTF">2013-08-16T08:22:25Z</dcterms:created>
  <dcterms:modified xsi:type="dcterms:W3CDTF">2016-11-16T13:16:32Z</dcterms:modified>
</cp:coreProperties>
</file>