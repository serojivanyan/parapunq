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5"/>
  </p:notesMasterIdLst>
  <p:sldIdLst>
    <p:sldId id="257" r:id="rId2"/>
    <p:sldId id="261" r:id="rId3"/>
    <p:sldId id="262" r:id="rId4"/>
    <p:sldId id="260" r:id="rId5"/>
    <p:sldId id="263" r:id="rId6"/>
    <p:sldId id="259" r:id="rId7"/>
    <p:sldId id="258" r:id="rId8"/>
    <p:sldId id="264" r:id="rId9"/>
    <p:sldId id="265" r:id="rId10"/>
    <p:sldId id="267" r:id="rId11"/>
    <p:sldId id="268" r:id="rId12"/>
    <p:sldId id="269" r:id="rId13"/>
    <p:sldId id="27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13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3schools.com/cssref/pr_text_text-indent.asp" TargetMode="External"/><Relationship Id="rId3" Type="http://schemas.openxmlformats.org/officeDocument/2006/relationships/hyperlink" Target="http://www.w3schools.com/cssref/pr_text_direction.asp" TargetMode="External"/><Relationship Id="rId7" Type="http://schemas.openxmlformats.org/officeDocument/2006/relationships/hyperlink" Target="http://www.w3schools.com/cssref/pr_text_text-decoration.asp" TargetMode="External"/><Relationship Id="rId2" Type="http://schemas.openxmlformats.org/officeDocument/2006/relationships/hyperlink" Target="http://www.w3schools.com/cssref/pr_text_color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3schools.com/cssref/pr_text_text-align.asp" TargetMode="External"/><Relationship Id="rId11" Type="http://schemas.openxmlformats.org/officeDocument/2006/relationships/hyperlink" Target="http://www.w3schools.com/cssref/pr_text_word-spacing.asp" TargetMode="External"/><Relationship Id="rId5" Type="http://schemas.openxmlformats.org/officeDocument/2006/relationships/hyperlink" Target="http://www.w3schools.com/cssref/pr_dim_line-height.asp" TargetMode="External"/><Relationship Id="rId10" Type="http://schemas.openxmlformats.org/officeDocument/2006/relationships/hyperlink" Target="http://www.w3schools.com/cssref/pr_text_text-transform.asp" TargetMode="External"/><Relationship Id="rId4" Type="http://schemas.openxmlformats.org/officeDocument/2006/relationships/hyperlink" Target="http://www.w3schools.com/cssref/pr_text_letter-spacing.asp" TargetMode="External"/><Relationship Id="rId9" Type="http://schemas.openxmlformats.org/officeDocument/2006/relationships/hyperlink" Target="http://www.w3schools.com/cssref/css3_pr_text-shadow.as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2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7" name="Picture 3" descr="C:\Users\Araik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836712"/>
            <a:ext cx="3556595" cy="3556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Text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137897"/>
              </p:ext>
            </p:extLst>
          </p:nvPr>
        </p:nvGraphicFramePr>
        <p:xfrm>
          <a:off x="539552" y="1124744"/>
          <a:ext cx="7416824" cy="417679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483365"/>
                <a:gridCol w="5933459"/>
              </a:tblGrid>
              <a:tr h="21558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Property</a:t>
                      </a:r>
                      <a:endParaRPr lang="en-US" sz="16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337" marR="14337" marT="14337" marB="14337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Description</a:t>
                      </a:r>
                      <a:endParaRPr lang="en-US" sz="16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337" marR="14337" marT="14337" marB="14337"/>
                </a:tc>
              </a:tr>
              <a:tr h="265140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chemeClr val="accent2"/>
                          </a:solidFill>
                          <a:hlinkClick r:id="rId2"/>
                        </a:rPr>
                        <a:t>color</a:t>
                      </a:r>
                      <a:endParaRPr lang="en-US" sz="16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3895" marR="23895" marT="33452" marB="3345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Sets the color of text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23895" marR="23895" marT="33452" marB="33452"/>
                </a:tc>
              </a:tr>
              <a:tr h="265140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chemeClr val="accent2"/>
                          </a:solidFill>
                          <a:hlinkClick r:id="rId3"/>
                        </a:rPr>
                        <a:t>direction</a:t>
                      </a:r>
                      <a:endParaRPr lang="en-US" sz="16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3895" marR="23895" marT="33452" marB="3345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/>
                        <a:t>Specifies the text direction/writing direction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23895" marR="23895" marT="33452" marB="33452"/>
                </a:tc>
              </a:tr>
              <a:tr h="443550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chemeClr val="accent2"/>
                          </a:solidFill>
                          <a:hlinkClick r:id="rId4"/>
                        </a:rPr>
                        <a:t>letter-spacing</a:t>
                      </a:r>
                      <a:endParaRPr lang="en-US" sz="16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3895" marR="23895" marT="33452" marB="3345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Increases or decreases the space between characters in a text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23895" marR="23895" marT="33452" marB="33452"/>
                </a:tc>
              </a:tr>
              <a:tr h="265140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chemeClr val="accent2"/>
                          </a:solidFill>
                          <a:hlinkClick r:id="rId5"/>
                        </a:rPr>
                        <a:t>line-height</a:t>
                      </a:r>
                      <a:endParaRPr lang="en-US" sz="16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3895" marR="23895" marT="33452" marB="3345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Sets the line height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23895" marR="23895" marT="33452" marB="33452"/>
                </a:tc>
              </a:tr>
              <a:tr h="265140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chemeClr val="accent2"/>
                          </a:solidFill>
                          <a:hlinkClick r:id="rId6"/>
                        </a:rPr>
                        <a:t>text-align</a:t>
                      </a:r>
                      <a:endParaRPr lang="en-US" sz="16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3895" marR="23895" marT="33452" marB="3345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Specifies the horizontal alignment of text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23895" marR="23895" marT="33452" marB="33452"/>
                </a:tc>
              </a:tr>
              <a:tr h="443550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chemeClr val="accent2"/>
                          </a:solidFill>
                          <a:hlinkClick r:id="rId7"/>
                        </a:rPr>
                        <a:t>text-decoration</a:t>
                      </a:r>
                      <a:endParaRPr lang="en-US" sz="16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3895" marR="23895" marT="33452" marB="3345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Specifies the decoration added to text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23895" marR="23895" marT="33452" marB="33452"/>
                </a:tc>
              </a:tr>
              <a:tr h="443550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chemeClr val="accent2"/>
                          </a:solidFill>
                          <a:hlinkClick r:id="rId8"/>
                        </a:rPr>
                        <a:t>text-indent</a:t>
                      </a:r>
                      <a:endParaRPr lang="en-US" sz="16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3895" marR="23895" marT="33452" marB="3345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Specifies the indentation of the first line in a text-block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23895" marR="23895" marT="33452" marB="33452"/>
                </a:tc>
              </a:tr>
              <a:tr h="443550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chemeClr val="accent2"/>
                          </a:solidFill>
                          <a:hlinkClick r:id="rId9"/>
                        </a:rPr>
                        <a:t>text-shadow</a:t>
                      </a:r>
                      <a:endParaRPr lang="en-US" sz="16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3895" marR="23895" marT="33452" marB="3345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Specifies the shadow effect added to text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23895" marR="23895" marT="33452" marB="33452"/>
                </a:tc>
              </a:tr>
              <a:tr h="443550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chemeClr val="accent2"/>
                          </a:solidFill>
                          <a:hlinkClick r:id="rId10"/>
                        </a:rPr>
                        <a:t>text-transform</a:t>
                      </a:r>
                      <a:endParaRPr lang="en-US" sz="16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3895" marR="23895" marT="33452" marB="3345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Controls the capitalization of text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23895" marR="23895" marT="33452" marB="33452"/>
                </a:tc>
              </a:tr>
              <a:tr h="443550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chemeClr val="accent2"/>
                          </a:solidFill>
                          <a:hlinkClick r:id="rId11"/>
                        </a:rPr>
                        <a:t>word-spacing</a:t>
                      </a:r>
                      <a:endParaRPr lang="en-US" sz="16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3895" marR="23895" marT="33452" marB="3345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/>
                        <a:t>Increases or decreases the space between words in a text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23895" marR="23895" marT="33452" marB="33452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Text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539552" y="357301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4338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916832"/>
            <a:ext cx="4513015" cy="1586002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8" name="TextBox 27"/>
          <p:cNvSpPr txBox="1"/>
          <p:nvPr/>
        </p:nvSpPr>
        <p:spPr>
          <a:xfrm>
            <a:off x="611560" y="141277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563888" y="1268760"/>
            <a:ext cx="4644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</a:t>
            </a:r>
            <a:r>
              <a:rPr lang="en-US" b="1" dirty="0" smtClean="0">
                <a:solidFill>
                  <a:srgbClr val="00B050"/>
                </a:solidFill>
              </a:rPr>
              <a:t>color</a:t>
            </a:r>
            <a:r>
              <a:rPr lang="en-US" b="1" dirty="0" smtClean="0">
                <a:solidFill>
                  <a:schemeClr val="accent2"/>
                </a:solidFill>
              </a:rPr>
              <a:t> property specifies the color of text.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4339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 r="2482" b="9217"/>
          <a:stretch>
            <a:fillRect/>
          </a:stretch>
        </p:blipFill>
        <p:spPr bwMode="auto">
          <a:xfrm>
            <a:off x="1691680" y="3933056"/>
            <a:ext cx="7053461" cy="2232248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0" name="TextBox 29"/>
          <p:cNvSpPr txBox="1"/>
          <p:nvPr/>
        </p:nvSpPr>
        <p:spPr>
          <a:xfrm>
            <a:off x="323528" y="908720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Color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Text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539552" y="285293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5576" y="134076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3314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b="24431"/>
          <a:stretch>
            <a:fillRect/>
          </a:stretch>
        </p:blipFill>
        <p:spPr bwMode="auto">
          <a:xfrm>
            <a:off x="539552" y="1844824"/>
            <a:ext cx="3528392" cy="648072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3315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3438" y="3429000"/>
            <a:ext cx="6854866" cy="2382391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8" name="Rectangle 27"/>
          <p:cNvSpPr/>
          <p:nvPr/>
        </p:nvSpPr>
        <p:spPr>
          <a:xfrm>
            <a:off x="4283968" y="2420888"/>
            <a:ext cx="4680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</a:t>
            </a:r>
            <a:r>
              <a:rPr lang="en-US" b="1" dirty="0" smtClean="0">
                <a:solidFill>
                  <a:srgbClr val="00B050"/>
                </a:solidFill>
              </a:rPr>
              <a:t>direction</a:t>
            </a:r>
            <a:r>
              <a:rPr lang="en-US" b="1" dirty="0" smtClean="0">
                <a:solidFill>
                  <a:schemeClr val="accent2"/>
                </a:solidFill>
              </a:rPr>
              <a:t> property specifies the text direction/writing direction.</a:t>
            </a:r>
            <a:endParaRPr 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0" y="1556792"/>
          <a:ext cx="3528392" cy="30108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04256"/>
                <a:gridCol w="1224136"/>
              </a:tblGrid>
              <a:tr h="28803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dirty="0"/>
                        <a:t>Default value: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hy-AM" sz="1200" b="1" dirty="0" smtClean="0"/>
                        <a:t>l</a:t>
                      </a:r>
                      <a:r>
                        <a:rPr lang="en-US" sz="1200" b="1" dirty="0" err="1" smtClean="0"/>
                        <a:t>tr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323528" y="908720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Direction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Text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539552" y="29249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3528" y="98072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Letter-spacing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2289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b="26191"/>
          <a:stretch>
            <a:fillRect/>
          </a:stretch>
        </p:blipFill>
        <p:spPr bwMode="auto">
          <a:xfrm>
            <a:off x="395536" y="1988841"/>
            <a:ext cx="4320480" cy="720079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2290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368130"/>
            <a:ext cx="7344816" cy="2612302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0" name="Rectangle 19"/>
          <p:cNvSpPr/>
          <p:nvPr/>
        </p:nvSpPr>
        <p:spPr>
          <a:xfrm>
            <a:off x="5220072" y="1772816"/>
            <a:ext cx="32403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</a:t>
            </a:r>
            <a:r>
              <a:rPr lang="en-US" b="1" dirty="0" smtClean="0">
                <a:solidFill>
                  <a:srgbClr val="00B050"/>
                </a:solidFill>
              </a:rPr>
              <a:t>letter-spacing</a:t>
            </a:r>
            <a:r>
              <a:rPr lang="en-US" b="1" dirty="0" smtClean="0">
                <a:solidFill>
                  <a:schemeClr val="accent2"/>
                </a:solidFill>
              </a:rPr>
              <a:t> property increases or decreases the space between characters in a text.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Text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467544" y="263691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3528" y="98072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Line-height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40152" y="764704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</a:t>
            </a:r>
            <a:r>
              <a:rPr lang="en-US" b="1" dirty="0" smtClean="0">
                <a:solidFill>
                  <a:srgbClr val="00B050"/>
                </a:solidFill>
              </a:rPr>
              <a:t>line-height</a:t>
            </a:r>
            <a:r>
              <a:rPr lang="en-US" b="1" dirty="0" smtClean="0">
                <a:solidFill>
                  <a:schemeClr val="accent2"/>
                </a:solidFill>
              </a:rPr>
              <a:t> property specifies the line height.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1266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2501621"/>
            <a:ext cx="6155015" cy="4167739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1267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 b="17287"/>
          <a:stretch>
            <a:fillRect/>
          </a:stretch>
        </p:blipFill>
        <p:spPr bwMode="auto">
          <a:xfrm>
            <a:off x="1763688" y="1628800"/>
            <a:ext cx="3494338" cy="576064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39552" y="3789041"/>
          <a:ext cx="1012056" cy="934390"/>
        </p:xfrm>
        <a:graphic>
          <a:graphicData uri="http://schemas.openxmlformats.org/drawingml/2006/table">
            <a:tbl>
              <a:tblPr/>
              <a:tblGrid>
                <a:gridCol w="1012056"/>
              </a:tblGrid>
              <a:tr h="242774">
                <a:tc>
                  <a:txBody>
                    <a:bodyPr/>
                    <a:lstStyle/>
                    <a:p>
                      <a:pPr fontAlgn="t"/>
                      <a:r>
                        <a:rPr lang="en-US" sz="1100" i="1" dirty="0">
                          <a:latin typeface="verdana"/>
                        </a:rPr>
                        <a:t>number</a:t>
                      </a:r>
                      <a:endParaRPr lang="en-US" sz="1100" dirty="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58620">
                <a:tc>
                  <a:txBody>
                    <a:bodyPr/>
                    <a:lstStyle/>
                    <a:p>
                      <a:pPr fontAlgn="t"/>
                      <a:r>
                        <a:rPr lang="en-US" sz="1100" i="1" dirty="0">
                          <a:latin typeface="verdana"/>
                        </a:rPr>
                        <a:t>length</a:t>
                      </a:r>
                      <a:endParaRPr lang="en-US" sz="1100" dirty="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2702">
                <a:tc>
                  <a:txBody>
                    <a:bodyPr/>
                    <a:lstStyle/>
                    <a:p>
                      <a:pPr fontAlgn="t"/>
                      <a:r>
                        <a:rPr lang="en-US" sz="1100" i="1" dirty="0">
                          <a:latin typeface="verdana"/>
                        </a:rPr>
                        <a:t>%</a:t>
                      </a:r>
                      <a:endParaRPr lang="en-US" sz="1100" dirty="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Text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395536" y="33569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3528" y="98072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Text-align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40152" y="764704"/>
            <a:ext cx="28083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</a:t>
            </a:r>
            <a:r>
              <a:rPr lang="en-US" b="1" dirty="0" smtClean="0">
                <a:solidFill>
                  <a:srgbClr val="00B050"/>
                </a:solidFill>
              </a:rPr>
              <a:t>text-align</a:t>
            </a:r>
            <a:r>
              <a:rPr lang="en-US" b="1" dirty="0" smtClean="0">
                <a:solidFill>
                  <a:schemeClr val="accent2"/>
                </a:solidFill>
              </a:rPr>
              <a:t> property specifies the horizontal alignment of text in an element.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0241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b="7831"/>
          <a:stretch>
            <a:fillRect/>
          </a:stretch>
        </p:blipFill>
        <p:spPr bwMode="auto">
          <a:xfrm>
            <a:off x="755576" y="1988840"/>
            <a:ext cx="4723462" cy="1080120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0242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3429000"/>
            <a:ext cx="6230938" cy="2781300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Text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395536" y="33569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98072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Text-decoration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40152" y="764704"/>
            <a:ext cx="28083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</a:t>
            </a:r>
            <a:r>
              <a:rPr lang="en-US" b="1" dirty="0" smtClean="0">
                <a:solidFill>
                  <a:srgbClr val="00B050"/>
                </a:solidFill>
              </a:rPr>
              <a:t>text-decoration </a:t>
            </a:r>
            <a:r>
              <a:rPr lang="en-US" b="1" dirty="0" smtClean="0">
                <a:solidFill>
                  <a:schemeClr val="accent2"/>
                </a:solidFill>
              </a:rPr>
              <a:t>property specifies the decoration added to text.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9217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3573016"/>
            <a:ext cx="6480720" cy="2519632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9218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060848"/>
            <a:ext cx="4602692" cy="947613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Text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467544" y="278092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3528" y="98072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Text-indent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860032" y="1052736"/>
            <a:ext cx="33123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</a:t>
            </a:r>
            <a:r>
              <a:rPr lang="en-US" b="1" dirty="0" smtClean="0">
                <a:solidFill>
                  <a:srgbClr val="00B050"/>
                </a:solidFill>
              </a:rPr>
              <a:t>text-indent</a:t>
            </a:r>
            <a:r>
              <a:rPr lang="en-US" b="1" dirty="0" smtClean="0">
                <a:solidFill>
                  <a:schemeClr val="accent2"/>
                </a:solidFill>
              </a:rPr>
              <a:t> property specifies the indentation of the first line in a text-block.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8194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t="13834" b="25121"/>
          <a:stretch>
            <a:fillRect/>
          </a:stretch>
        </p:blipFill>
        <p:spPr bwMode="auto">
          <a:xfrm>
            <a:off x="539553" y="2060848"/>
            <a:ext cx="3096344" cy="317741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8195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664" y="3033151"/>
            <a:ext cx="6264696" cy="3121909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Text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467544" y="278092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3528" y="98072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Text-shadow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60032" y="1052736"/>
            <a:ext cx="33123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</a:t>
            </a:r>
            <a:r>
              <a:rPr lang="en-US" b="1" dirty="0" smtClean="0">
                <a:solidFill>
                  <a:srgbClr val="00B050"/>
                </a:solidFill>
              </a:rPr>
              <a:t>text-shadow</a:t>
            </a:r>
            <a:r>
              <a:rPr lang="en-US" b="1" dirty="0" smtClean="0">
                <a:solidFill>
                  <a:schemeClr val="accent2"/>
                </a:solidFill>
              </a:rPr>
              <a:t> property attaches one or more shadows to text.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7169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b="25000"/>
          <a:stretch>
            <a:fillRect/>
          </a:stretch>
        </p:blipFill>
        <p:spPr bwMode="auto">
          <a:xfrm>
            <a:off x="467544" y="2060848"/>
            <a:ext cx="4962007" cy="432048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7170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59" y="3212976"/>
            <a:ext cx="6678829" cy="2160240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7171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1680" y="5589240"/>
            <a:ext cx="3283372" cy="644588"/>
          </a:xfrm>
          <a:prstGeom prst="rect">
            <a:avLst/>
          </a:prstGeom>
          <a:noFill/>
        </p:spPr>
      </p:pic>
      <p:pic>
        <p:nvPicPr>
          <p:cNvPr id="7172" name="Picture 4" descr="C:\Users\Araik\Desktop\Untitled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50908" y="6237312"/>
            <a:ext cx="6213784" cy="37888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Text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539552" y="306896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528" y="98072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Text-transform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860032" y="908720"/>
            <a:ext cx="33123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</a:t>
            </a:r>
            <a:r>
              <a:rPr lang="en-US" b="1" dirty="0" smtClean="0">
                <a:solidFill>
                  <a:srgbClr val="00B050"/>
                </a:solidFill>
              </a:rPr>
              <a:t>text-transform</a:t>
            </a:r>
            <a:r>
              <a:rPr lang="en-US" b="1" dirty="0" smtClean="0">
                <a:solidFill>
                  <a:schemeClr val="accent2"/>
                </a:solidFill>
              </a:rPr>
              <a:t> property controls the capitalization of text.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6145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b="7692"/>
          <a:stretch>
            <a:fillRect/>
          </a:stretch>
        </p:blipFill>
        <p:spPr bwMode="auto">
          <a:xfrm>
            <a:off x="611560" y="1988840"/>
            <a:ext cx="5106023" cy="864096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6146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717032"/>
            <a:ext cx="6249988" cy="232410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Text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539552" y="263691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3528" y="98072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Word-spacing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097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b="14443"/>
          <a:stretch>
            <a:fillRect/>
          </a:stretch>
        </p:blipFill>
        <p:spPr bwMode="auto">
          <a:xfrm>
            <a:off x="739775" y="2138362"/>
            <a:ext cx="3211242" cy="426542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4098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3" y="3212976"/>
            <a:ext cx="6609293" cy="2515741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0" name="Rectangle 19"/>
          <p:cNvSpPr/>
          <p:nvPr/>
        </p:nvSpPr>
        <p:spPr>
          <a:xfrm>
            <a:off x="4860032" y="908720"/>
            <a:ext cx="33123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</a:t>
            </a:r>
            <a:r>
              <a:rPr lang="en-US" b="1" dirty="0" smtClean="0">
                <a:solidFill>
                  <a:srgbClr val="00B050"/>
                </a:solidFill>
              </a:rPr>
              <a:t>word-spacing</a:t>
            </a:r>
            <a:r>
              <a:rPr lang="en-US" b="1" dirty="0" smtClean="0">
                <a:solidFill>
                  <a:schemeClr val="accent2"/>
                </a:solidFill>
              </a:rPr>
              <a:t> property increases or decreases the white space between words.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Task1: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025" name="Picture 1" descr="C:\Users\Araik\Desktop\task1\happ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404664"/>
            <a:ext cx="6349723" cy="593292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1310</TotalTime>
  <Words>254</Words>
  <Application>Microsoft Office PowerPoint</Application>
  <PresentationFormat>Экран (4:3)</PresentationFormat>
  <Paragraphs>82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56</cp:revision>
  <dcterms:created xsi:type="dcterms:W3CDTF">2013-08-16T08:22:25Z</dcterms:created>
  <dcterms:modified xsi:type="dcterms:W3CDTF">2016-11-16T13:05:19Z</dcterms:modified>
</cp:coreProperties>
</file>