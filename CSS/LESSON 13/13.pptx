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44" r:id="rId1"/>
  </p:sldMasterIdLst>
  <p:notesMasterIdLst>
    <p:notesMasterId r:id="rId15"/>
  </p:notesMasterIdLst>
  <p:sldIdLst>
    <p:sldId id="257" r:id="rId2"/>
    <p:sldId id="287" r:id="rId3"/>
    <p:sldId id="276" r:id="rId4"/>
    <p:sldId id="275" r:id="rId5"/>
    <p:sldId id="288" r:id="rId6"/>
    <p:sldId id="258" r:id="rId7"/>
    <p:sldId id="286" r:id="rId8"/>
    <p:sldId id="290" r:id="rId9"/>
    <p:sldId id="291" r:id="rId10"/>
    <p:sldId id="292" r:id="rId11"/>
    <p:sldId id="294" r:id="rId12"/>
    <p:sldId id="283" r:id="rId13"/>
    <p:sldId id="293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11/25/2016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47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4AA493-8083-4A0A-9DB8-8876B5383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70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11/25/2016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11/25/2016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1</a:t>
            </a:r>
            <a:r>
              <a:rPr lang="en-US" sz="28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3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7" name="Picture 3" descr="C:\Users\Araik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836712"/>
            <a:ext cx="3556595" cy="35565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CSS3 Introduction</a:t>
            </a:r>
            <a:endParaRPr lang="en-US" sz="4800" dirty="0" smtClean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1560" y="1268760"/>
            <a:ext cx="72728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CSS3 is split up into "modules". The old specification has been split into smaller pieces, and new ones are also added.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43608" y="2276872"/>
            <a:ext cx="2952328" cy="1477328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  <a:outerShdw blurRad="38100" dist="254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accent2"/>
                </a:solidFill>
              </a:rPr>
              <a:t>Box Model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accent2"/>
                </a:solidFill>
              </a:rPr>
              <a:t>Backgrounds and Borders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accent2"/>
                </a:solidFill>
              </a:rPr>
              <a:t>Text Effects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accent2"/>
                </a:solidFill>
              </a:rPr>
              <a:t>Multiple Column Layout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accent2"/>
                </a:solidFill>
              </a:rPr>
              <a:t>User Interface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CSS3 Backgrounds</a:t>
            </a:r>
            <a:endParaRPr lang="en-US" sz="4800" dirty="0" smtClean="0"/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9552" y="1196752"/>
            <a:ext cx="4675390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CSS3 The background-origin Property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59632" y="1772816"/>
            <a:ext cx="67687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background-origin property specifies the positioning area of the background images.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026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r="3850"/>
          <a:stretch>
            <a:fillRect/>
          </a:stretch>
        </p:blipFill>
        <p:spPr bwMode="auto">
          <a:xfrm>
            <a:off x="827584" y="2564904"/>
            <a:ext cx="4248472" cy="215145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899592" y="5373216"/>
            <a:ext cx="7776864" cy="646331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Internet Explorer 9+, Firefox, Chrome, Safari, and Opera support the new background properties.</a:t>
            </a:r>
            <a:endParaRPr lang="en-US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CSS3 Backgrounds</a:t>
            </a:r>
            <a:endParaRPr lang="en-US" sz="4800" dirty="0" smtClean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9552" y="1196752"/>
            <a:ext cx="3915559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CSS3 The background-origin Property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7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r="6741"/>
          <a:stretch>
            <a:fillRect/>
          </a:stretch>
        </p:blipFill>
        <p:spPr bwMode="auto">
          <a:xfrm>
            <a:off x="467544" y="1772816"/>
            <a:ext cx="3384376" cy="3619500"/>
          </a:xfrm>
          <a:prstGeom prst="rect">
            <a:avLst/>
          </a:prstGeom>
          <a:noFill/>
          <a:effectLst>
            <a:glow rad="101600">
              <a:srgbClr val="002060">
                <a:alpha val="60000"/>
              </a:srgbClr>
            </a:glow>
          </a:effectLst>
        </p:spPr>
      </p:pic>
      <p:pic>
        <p:nvPicPr>
          <p:cNvPr id="2050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4869160"/>
            <a:ext cx="4495800" cy="1438275"/>
          </a:xfrm>
          <a:prstGeom prst="rect">
            <a:avLst/>
          </a:prstGeom>
          <a:noFill/>
          <a:effectLst>
            <a:glow rad="101600">
              <a:srgbClr val="002060">
                <a:alpha val="60000"/>
              </a:srgbClr>
            </a:glow>
          </a:effectLst>
        </p:spPr>
      </p:pic>
      <p:pic>
        <p:nvPicPr>
          <p:cNvPr id="2051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 r="4737"/>
          <a:stretch>
            <a:fillRect/>
          </a:stretch>
        </p:blipFill>
        <p:spPr bwMode="auto">
          <a:xfrm>
            <a:off x="5508104" y="1052736"/>
            <a:ext cx="2690260" cy="352807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8" name="Left-Right-Up Arrow 17"/>
          <p:cNvSpPr/>
          <p:nvPr/>
        </p:nvSpPr>
        <p:spPr>
          <a:xfrm rot="3544602">
            <a:off x="4193553" y="3507368"/>
            <a:ext cx="1008112" cy="864096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CSS3 Backgrounds</a:t>
            </a:r>
            <a:endParaRPr lang="en-US" sz="4800" dirty="0" smtClean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9552" y="1196752"/>
            <a:ext cx="4392488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CSS3  Multiple Background Images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1600" y="1916832"/>
            <a:ext cx="68407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CSS3 allows you to use several background images for an element.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3075" name="Picture 3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67944" y="2492896"/>
            <a:ext cx="4457700" cy="3600450"/>
          </a:xfrm>
          <a:prstGeom prst="rect">
            <a:avLst/>
          </a:prstGeom>
          <a:noFill/>
          <a:effectLst>
            <a:glow rad="101600">
              <a:srgbClr val="0070C0">
                <a:alpha val="60000"/>
              </a:srgbClr>
            </a:glow>
          </a:effectLst>
        </p:spPr>
      </p:pic>
      <p:pic>
        <p:nvPicPr>
          <p:cNvPr id="3076" name="Picture 4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501008"/>
            <a:ext cx="3409950" cy="1352550"/>
          </a:xfrm>
          <a:prstGeom prst="rect">
            <a:avLst/>
          </a:prstGeom>
          <a:noFill/>
          <a:effectLst>
            <a:glow rad="101600">
              <a:srgbClr val="0070C0">
                <a:alpha val="6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CSS3 Fonts</a:t>
            </a:r>
            <a:endParaRPr lang="en-US" sz="4800" dirty="0" smtClean="0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1560" y="1268760"/>
            <a:ext cx="4392488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 </a:t>
            </a:r>
            <a:r>
              <a:rPr lang="hy-AM" b="1" dirty="0" smtClean="0">
                <a:solidFill>
                  <a:schemeClr val="accent2"/>
                </a:solidFill>
              </a:rPr>
              <a:t>CSS3 </a:t>
            </a:r>
            <a:r>
              <a:rPr lang="en-US" b="1" dirty="0" smtClean="0">
                <a:solidFill>
                  <a:schemeClr val="accent2"/>
                </a:solidFill>
              </a:rPr>
              <a:t>@font-face Rule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4098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2060848"/>
            <a:ext cx="5888037" cy="60007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428596" y="4572008"/>
            <a:ext cx="8317432" cy="1384995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00B050"/>
                </a:solidFill>
              </a:rPr>
              <a:t>Internet Explorer 9+, Firefox, Chrome, Safari, and Opera support the WOFF (Web Open Font Format) font.</a:t>
            </a:r>
          </a:p>
          <a:p>
            <a:r>
              <a:rPr lang="en-US" sz="1400" b="1" dirty="0" smtClean="0">
                <a:solidFill>
                  <a:srgbClr val="00B050"/>
                </a:solidFill>
              </a:rPr>
              <a:t>Firefox, Chrome, Safari, and Opera support fonts of type TTF (True Type Fonts) and OTF (</a:t>
            </a:r>
            <a:r>
              <a:rPr lang="en-US" sz="1400" b="1" dirty="0" err="1" smtClean="0">
                <a:solidFill>
                  <a:srgbClr val="00B050"/>
                </a:solidFill>
              </a:rPr>
              <a:t>OpenType</a:t>
            </a:r>
            <a:r>
              <a:rPr lang="en-US" sz="1400" b="1" dirty="0" smtClean="0">
                <a:solidFill>
                  <a:srgbClr val="00B050"/>
                </a:solidFill>
              </a:rPr>
              <a:t> Fonts).</a:t>
            </a:r>
          </a:p>
          <a:p>
            <a:r>
              <a:rPr lang="en-US" sz="1400" b="1" dirty="0" smtClean="0">
                <a:solidFill>
                  <a:srgbClr val="00B050"/>
                </a:solidFill>
              </a:rPr>
              <a:t>Chrome, Safari and Opera also support SVG fonts/shapes.</a:t>
            </a:r>
          </a:p>
          <a:p>
            <a:r>
              <a:rPr lang="en-US" sz="1400" b="1" dirty="0" smtClean="0">
                <a:solidFill>
                  <a:srgbClr val="00B050"/>
                </a:solidFill>
              </a:rPr>
              <a:t>Internet Explorer also supports EOT (Embedded </a:t>
            </a:r>
            <a:r>
              <a:rPr lang="en-US" sz="1400" b="1" dirty="0" err="1" smtClean="0">
                <a:solidFill>
                  <a:srgbClr val="00B050"/>
                </a:solidFill>
              </a:rPr>
              <a:t>OpenType</a:t>
            </a:r>
            <a:r>
              <a:rPr lang="en-US" sz="1400" b="1" dirty="0" smtClean="0">
                <a:solidFill>
                  <a:srgbClr val="00B050"/>
                </a:solidFill>
              </a:rPr>
              <a:t>) fonts.</a:t>
            </a:r>
            <a:endParaRPr lang="en-US" sz="1400" b="1" dirty="0">
              <a:solidFill>
                <a:srgbClr val="00B050"/>
              </a:solidFill>
            </a:endParaRPr>
          </a:p>
        </p:txBody>
      </p:sp>
      <p:pic>
        <p:nvPicPr>
          <p:cNvPr id="4099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3284984"/>
            <a:ext cx="3181350" cy="114300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CSS3  multiple columns</a:t>
            </a:r>
            <a:endParaRPr lang="en-US" sz="4800" b="1" dirty="0">
              <a:solidFill>
                <a:schemeClr val="accent2"/>
              </a:solidFill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5122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124744"/>
            <a:ext cx="4968552" cy="167064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</p:pic>
      <p:pic>
        <p:nvPicPr>
          <p:cNvPr id="5124" name="Picture 4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4149080"/>
            <a:ext cx="2438400" cy="1638300"/>
          </a:xfrm>
          <a:prstGeom prst="rect">
            <a:avLst/>
          </a:prstGeom>
          <a:noFill/>
          <a:effectLst>
            <a:glow rad="101600">
              <a:srgbClr val="FFFF00">
                <a:alpha val="60000"/>
              </a:srgbClr>
            </a:glow>
          </a:effectLst>
        </p:spPr>
      </p:pic>
      <p:pic>
        <p:nvPicPr>
          <p:cNvPr id="5125" name="Picture 5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3645024"/>
            <a:ext cx="4514850" cy="2876550"/>
          </a:xfrm>
          <a:prstGeom prst="rect">
            <a:avLst/>
          </a:prstGeom>
          <a:noFill/>
          <a:effectLst>
            <a:glow rad="101600">
              <a:schemeClr val="tx1">
                <a:lumMod val="95000"/>
                <a:lumOff val="5000"/>
                <a:alpha val="60000"/>
              </a:schemeClr>
            </a:glow>
          </a:effectLst>
        </p:spPr>
      </p:pic>
      <p:sp>
        <p:nvSpPr>
          <p:cNvPr id="18" name="Right Arrow 17"/>
          <p:cNvSpPr/>
          <p:nvPr/>
        </p:nvSpPr>
        <p:spPr>
          <a:xfrm>
            <a:off x="3203848" y="4869160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27584" y="3068960"/>
            <a:ext cx="2315656" cy="646331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CSS3 </a:t>
            </a:r>
            <a:r>
              <a:rPr lang="hy-AM" b="1" dirty="0" smtClean="0">
                <a:solidFill>
                  <a:schemeClr val="accent2"/>
                </a:solidFill>
              </a:rPr>
              <a:t>column-count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563888" y="2924944"/>
            <a:ext cx="51125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T</a:t>
            </a:r>
            <a:r>
              <a:rPr lang="en-US" b="1" dirty="0" smtClean="0">
                <a:solidFill>
                  <a:schemeClr val="accent2"/>
                </a:solidFill>
              </a:rPr>
              <a:t>he column-count property specifies the number of columns an element should be divided into: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CSS3  multiple columns</a:t>
            </a:r>
            <a:endParaRPr lang="en-US" sz="4800" b="1" dirty="0">
              <a:solidFill>
                <a:schemeClr val="accent2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347864" y="3356992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3568" y="1268760"/>
            <a:ext cx="2173920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CSS3 </a:t>
            </a:r>
            <a:r>
              <a:rPr lang="hy-AM" b="1" dirty="0" smtClean="0">
                <a:solidFill>
                  <a:schemeClr val="accent2"/>
                </a:solidFill>
              </a:rPr>
              <a:t>column-gap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3848" y="119675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column-gap property specifies the gap between the columns</a:t>
            </a:r>
            <a:r>
              <a:rPr lang="hy-AM" b="1" dirty="0" smtClean="0">
                <a:solidFill>
                  <a:schemeClr val="accent2"/>
                </a:solidFill>
              </a:rPr>
              <a:t>.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6146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060848"/>
            <a:ext cx="2857500" cy="3324225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  <p:pic>
        <p:nvPicPr>
          <p:cNvPr id="6147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39952" y="2348880"/>
            <a:ext cx="4542571" cy="2552006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CSS3  multiple columns</a:t>
            </a:r>
            <a:endParaRPr lang="en-US" sz="4800" b="1" dirty="0">
              <a:solidFill>
                <a:schemeClr val="accent2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3779912" y="3573016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3568" y="1268760"/>
            <a:ext cx="2388234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CSS3 </a:t>
            </a:r>
            <a:r>
              <a:rPr lang="hy-AM" b="1" dirty="0" smtClean="0">
                <a:solidFill>
                  <a:schemeClr val="accent2"/>
                </a:solidFill>
              </a:rPr>
              <a:t>column-rule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44" y="1142984"/>
            <a:ext cx="4572000" cy="928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column-rule property sets the width, style, and color of the rule between columns.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0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r="7430" b="5875"/>
          <a:stretch>
            <a:fillRect/>
          </a:stretch>
        </p:blipFill>
        <p:spPr bwMode="auto">
          <a:xfrm>
            <a:off x="395536" y="1988840"/>
            <a:ext cx="3236931" cy="4248472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  <p:pic>
        <p:nvPicPr>
          <p:cNvPr id="8194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2564904"/>
            <a:ext cx="4329435" cy="2486775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2606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CSS3  user interface</a:t>
            </a:r>
            <a:endParaRPr lang="en-US" sz="4800" b="1" dirty="0">
              <a:solidFill>
                <a:schemeClr val="accent2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3203848" y="3789040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3568" y="1268760"/>
            <a:ext cx="1673854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CSS3 </a:t>
            </a:r>
            <a:r>
              <a:rPr lang="hy-AM" b="1" dirty="0" smtClean="0">
                <a:solidFill>
                  <a:schemeClr val="accent2"/>
                </a:solidFill>
              </a:rPr>
              <a:t>resize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3848" y="119675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In CSS3, the resize property specifies whether or not an element should be resizable by the user.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9218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068960"/>
            <a:ext cx="2105025" cy="179070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9219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 r="6917"/>
          <a:stretch>
            <a:fillRect/>
          </a:stretch>
        </p:blipFill>
        <p:spPr bwMode="auto">
          <a:xfrm>
            <a:off x="3923928" y="2204864"/>
            <a:ext cx="3839046" cy="3886200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3" name="Donut 12"/>
          <p:cNvSpPr/>
          <p:nvPr/>
        </p:nvSpPr>
        <p:spPr>
          <a:xfrm>
            <a:off x="7308304" y="5661248"/>
            <a:ext cx="504056" cy="432048"/>
          </a:xfrm>
          <a:prstGeom prst="donut">
            <a:avLst>
              <a:gd name="adj" fmla="val 52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</a:t>
            </a:r>
          </a:p>
        </p:txBody>
      </p:sp>
      <p:pic>
        <p:nvPicPr>
          <p:cNvPr id="1026" name="Picture 2" descr="C:\Users\Comp\Desktop\102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1142984"/>
            <a:ext cx="5371198" cy="53054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983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</a:t>
            </a:r>
          </a:p>
        </p:txBody>
      </p:sp>
      <p:pic>
        <p:nvPicPr>
          <p:cNvPr id="10242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196752"/>
            <a:ext cx="7112873" cy="473777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3</a:t>
            </a:r>
          </a:p>
        </p:txBody>
      </p:sp>
      <p:pic>
        <p:nvPicPr>
          <p:cNvPr id="1027" name="Picture 3" descr="C:\Users\Comp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357298"/>
            <a:ext cx="8200630" cy="388143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4067</TotalTime>
  <Words>259</Words>
  <Application>Microsoft Office PowerPoint</Application>
  <PresentationFormat>Экран (4:3)</PresentationFormat>
  <Paragraphs>49</Paragraphs>
  <Slides>13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291</cp:revision>
  <dcterms:created xsi:type="dcterms:W3CDTF">2013-08-16T08:22:25Z</dcterms:created>
  <dcterms:modified xsi:type="dcterms:W3CDTF">2016-11-25T13:19:54Z</dcterms:modified>
</cp:coreProperties>
</file>