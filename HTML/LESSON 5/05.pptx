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notesMasterIdLst>
    <p:notesMasterId r:id="rId16"/>
  </p:notesMasterIdLst>
  <p:sldIdLst>
    <p:sldId id="257" r:id="rId2"/>
    <p:sldId id="279" r:id="rId3"/>
    <p:sldId id="277" r:id="rId4"/>
    <p:sldId id="278" r:id="rId5"/>
    <p:sldId id="261" r:id="rId6"/>
    <p:sldId id="272" r:id="rId7"/>
    <p:sldId id="274" r:id="rId8"/>
    <p:sldId id="273" r:id="rId9"/>
    <p:sldId id="275" r:id="rId10"/>
    <p:sldId id="276" r:id="rId11"/>
    <p:sldId id="268" r:id="rId12"/>
    <p:sldId id="280" r:id="rId13"/>
    <p:sldId id="270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C8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717" autoAdjust="0"/>
  </p:normalViewPr>
  <p:slideViewPr>
    <p:cSldViewPr>
      <p:cViewPr>
        <p:scale>
          <a:sx n="70" d="100"/>
          <a:sy n="70" d="100"/>
        </p:scale>
        <p:origin x="-1386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9A533B-BB62-4DA6-BFAC-31FCF3044E77}" type="datetimeFigureOut">
              <a:rPr lang="en-US" smtClean="0"/>
              <a:pPr/>
              <a:t>7/28/2016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4AA493-8083-4A0A-9DB8-8876B53838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1498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7/28/2016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7/28/2016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7/28/2016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7/28/2016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7/28/2016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7/28/2016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7/28/2016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7/28/2016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7/28/2016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7/28/2016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7/28/2016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132B6477-8826-47CB-B9F3-3F88F5668FA1}" type="datetimeFigureOut">
              <a:rPr lang="en-US" smtClean="0"/>
              <a:pPr/>
              <a:t>7/28/2016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://www.w3schools.com/tags/tag_select.asp" TargetMode="External"/><Relationship Id="rId3" Type="http://schemas.openxmlformats.org/officeDocument/2006/relationships/hyperlink" Target="http://www.w3schools.com/tags/tag_input.asp" TargetMode="External"/><Relationship Id="rId7" Type="http://schemas.openxmlformats.org/officeDocument/2006/relationships/hyperlink" Target="http://www.w3schools.com/tags/tag_legend.asp" TargetMode="External"/><Relationship Id="rId2" Type="http://schemas.openxmlformats.org/officeDocument/2006/relationships/hyperlink" Target="http://www.w3schools.com/tags/tag_form.asp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w3schools.com/tags/tag_fieldset.asp" TargetMode="External"/><Relationship Id="rId11" Type="http://schemas.openxmlformats.org/officeDocument/2006/relationships/hyperlink" Target="http://www.w3schools.com/tags/tag_button.asp" TargetMode="External"/><Relationship Id="rId5" Type="http://schemas.openxmlformats.org/officeDocument/2006/relationships/hyperlink" Target="http://www.w3schools.com/tags/tag_label.asp" TargetMode="External"/><Relationship Id="rId10" Type="http://schemas.openxmlformats.org/officeDocument/2006/relationships/hyperlink" Target="http://www.w3schools.com/tags/tag_option.asp" TargetMode="External"/><Relationship Id="rId4" Type="http://schemas.openxmlformats.org/officeDocument/2006/relationships/hyperlink" Target="http://www.w3schools.com/tags/tag_textarea.asp" TargetMode="External"/><Relationship Id="rId9" Type="http://schemas.openxmlformats.org/officeDocument/2006/relationships/hyperlink" Target="http://www.w3schools.com/tags/tag_optgroup.asp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95536" y="1484784"/>
            <a:ext cx="4608512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120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HTML</a:t>
            </a:r>
          </a:p>
          <a:p>
            <a:r>
              <a:rPr lang="hy-AM" sz="2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Lesson 5</a:t>
            </a:r>
            <a:endParaRPr lang="en-US" sz="2800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chemeClr val="accent2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pic>
        <p:nvPicPr>
          <p:cNvPr id="6148" name="Picture 4" descr="C:\Users\Araik\Desktop\images (1)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48064" y="476672"/>
            <a:ext cx="3631034" cy="363103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83568" y="260648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HTML</a:t>
            </a:r>
            <a:r>
              <a:rPr lang="en-US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– </a:t>
            </a:r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Forms</a:t>
            </a:r>
            <a:endParaRPr lang="en-US" sz="4800" dirty="0" smtClean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99592" y="2364408"/>
          <a:ext cx="6696744" cy="3512864"/>
        </p:xfrm>
        <a:graphic>
          <a:graphicData uri="http://schemas.openxmlformats.org/drawingml/2006/table">
            <a:tbl>
              <a:tblPr/>
              <a:tblGrid>
                <a:gridCol w="3348372"/>
                <a:gridCol w="3348372"/>
              </a:tblGrid>
              <a:tr h="166192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dirty="0">
                          <a:solidFill>
                            <a:srgbClr val="FFFFFF"/>
                          </a:solidFill>
                          <a:latin typeface="verdana"/>
                        </a:rPr>
                        <a:t>Tag</a:t>
                      </a:r>
                    </a:p>
                  </a:txBody>
                  <a:tcPr marL="13427" marR="13427" marT="13427" marB="13427">
                    <a:lnL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dirty="0">
                          <a:solidFill>
                            <a:srgbClr val="FFFFFF"/>
                          </a:solidFill>
                          <a:latin typeface="verdana"/>
                        </a:rPr>
                        <a:t>Description</a:t>
                      </a:r>
                    </a:p>
                  </a:txBody>
                  <a:tcPr marL="13427" marR="13427" marT="13427" marB="13427">
                    <a:lnL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</a:tr>
              <a:tr h="341934">
                <a:tc>
                  <a:txBody>
                    <a:bodyPr/>
                    <a:lstStyle/>
                    <a:p>
                      <a:pPr fontAlgn="t"/>
                      <a:r>
                        <a:rPr lang="en-US" sz="1200" dirty="0">
                          <a:solidFill>
                            <a:srgbClr val="000000"/>
                          </a:solidFill>
                          <a:latin typeface="verdana"/>
                          <a:hlinkClick r:id="rId2"/>
                        </a:rPr>
                        <a:t>&lt;form&gt;</a:t>
                      </a:r>
                      <a:endParaRPr lang="en-US" sz="1200" dirty="0">
                        <a:latin typeface="verdana"/>
                      </a:endParaRPr>
                    </a:p>
                  </a:txBody>
                  <a:tcPr marL="22379" marR="22379" marT="31330" marB="31330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 dirty="0">
                          <a:latin typeface="verdana"/>
                        </a:rPr>
                        <a:t>Defines an HTML form for user input</a:t>
                      </a:r>
                    </a:p>
                  </a:txBody>
                  <a:tcPr marL="22379" marR="22379" marT="31330" marB="31330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4396">
                <a:tc>
                  <a:txBody>
                    <a:bodyPr/>
                    <a:lstStyle/>
                    <a:p>
                      <a:pPr fontAlgn="t"/>
                      <a:r>
                        <a:rPr lang="en-US" sz="1200" dirty="0">
                          <a:solidFill>
                            <a:srgbClr val="000000"/>
                          </a:solidFill>
                          <a:latin typeface="verdana"/>
                          <a:hlinkClick r:id="rId3"/>
                        </a:rPr>
                        <a:t>&lt;input&gt;</a:t>
                      </a:r>
                      <a:endParaRPr lang="en-US" sz="1200" dirty="0">
                        <a:latin typeface="verdana"/>
                      </a:endParaRPr>
                    </a:p>
                  </a:txBody>
                  <a:tcPr marL="22379" marR="22379" marT="31330" marB="31330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 dirty="0">
                          <a:latin typeface="verdana"/>
                        </a:rPr>
                        <a:t>Defines an input control</a:t>
                      </a:r>
                    </a:p>
                  </a:txBody>
                  <a:tcPr marL="22379" marR="22379" marT="31330" marB="31330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  <a:tr h="341934">
                <a:tc>
                  <a:txBody>
                    <a:bodyPr/>
                    <a:lstStyle/>
                    <a:p>
                      <a:pPr fontAlgn="t"/>
                      <a:r>
                        <a:rPr lang="en-US" sz="1200" dirty="0">
                          <a:solidFill>
                            <a:srgbClr val="000000"/>
                          </a:solidFill>
                          <a:latin typeface="verdana"/>
                          <a:hlinkClick r:id="rId4"/>
                        </a:rPr>
                        <a:t>&lt;</a:t>
                      </a:r>
                      <a:r>
                        <a:rPr lang="en-US" sz="1200" dirty="0" err="1">
                          <a:solidFill>
                            <a:srgbClr val="000000"/>
                          </a:solidFill>
                          <a:latin typeface="verdana"/>
                          <a:hlinkClick r:id="rId4"/>
                        </a:rPr>
                        <a:t>textarea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verdana"/>
                          <a:hlinkClick r:id="rId4"/>
                        </a:rPr>
                        <a:t>&gt;</a:t>
                      </a:r>
                      <a:endParaRPr lang="en-US" sz="1200" dirty="0">
                        <a:latin typeface="verdana"/>
                      </a:endParaRPr>
                    </a:p>
                  </a:txBody>
                  <a:tcPr marL="22379" marR="22379" marT="31330" marB="31330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 dirty="0">
                          <a:latin typeface="verdana"/>
                        </a:rPr>
                        <a:t>Defines a multiline input control (text area)</a:t>
                      </a:r>
                    </a:p>
                  </a:txBody>
                  <a:tcPr marL="22379" marR="22379" marT="31330" marB="31330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1934">
                <a:tc>
                  <a:txBody>
                    <a:bodyPr/>
                    <a:lstStyle/>
                    <a:p>
                      <a:pPr fontAlgn="t"/>
                      <a:r>
                        <a:rPr lang="en-US" sz="1200" dirty="0">
                          <a:solidFill>
                            <a:srgbClr val="000000"/>
                          </a:solidFill>
                          <a:latin typeface="verdana"/>
                          <a:hlinkClick r:id="rId5"/>
                        </a:rPr>
                        <a:t>&lt;label&gt;</a:t>
                      </a:r>
                      <a:endParaRPr lang="en-US" sz="1200" dirty="0">
                        <a:latin typeface="verdana"/>
                      </a:endParaRPr>
                    </a:p>
                  </a:txBody>
                  <a:tcPr marL="22379" marR="22379" marT="31330" marB="31330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>
                          <a:latin typeface="verdana"/>
                        </a:rPr>
                        <a:t>Defines a label for an &lt;input&gt; element</a:t>
                      </a:r>
                    </a:p>
                  </a:txBody>
                  <a:tcPr marL="22379" marR="22379" marT="31330" marB="31330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  <a:tr h="341934">
                <a:tc>
                  <a:txBody>
                    <a:bodyPr/>
                    <a:lstStyle/>
                    <a:p>
                      <a:pPr fontAlgn="t"/>
                      <a:r>
                        <a:rPr lang="en-US" sz="1200" dirty="0">
                          <a:solidFill>
                            <a:srgbClr val="000000"/>
                          </a:solidFill>
                          <a:latin typeface="verdana"/>
                          <a:hlinkClick r:id="rId6"/>
                        </a:rPr>
                        <a:t>&lt;</a:t>
                      </a:r>
                      <a:r>
                        <a:rPr lang="en-US" sz="1200" dirty="0" err="1">
                          <a:solidFill>
                            <a:srgbClr val="000000"/>
                          </a:solidFill>
                          <a:latin typeface="verdana"/>
                          <a:hlinkClick r:id="rId6"/>
                        </a:rPr>
                        <a:t>fieldset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verdana"/>
                          <a:hlinkClick r:id="rId6"/>
                        </a:rPr>
                        <a:t>&gt;</a:t>
                      </a:r>
                      <a:endParaRPr lang="en-US" sz="1200" dirty="0">
                        <a:latin typeface="verdana"/>
                      </a:endParaRPr>
                    </a:p>
                  </a:txBody>
                  <a:tcPr marL="22379" marR="22379" marT="31330" marB="31330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>
                          <a:latin typeface="verdana"/>
                        </a:rPr>
                        <a:t>Groups related elements in a form</a:t>
                      </a:r>
                    </a:p>
                  </a:txBody>
                  <a:tcPr marL="22379" marR="22379" marT="31330" marB="31330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1934">
                <a:tc>
                  <a:txBody>
                    <a:bodyPr/>
                    <a:lstStyle/>
                    <a:p>
                      <a:pPr fontAlgn="t"/>
                      <a:r>
                        <a:rPr lang="en-US" sz="1200" dirty="0">
                          <a:solidFill>
                            <a:srgbClr val="000000"/>
                          </a:solidFill>
                          <a:latin typeface="verdana"/>
                          <a:hlinkClick r:id="rId7"/>
                        </a:rPr>
                        <a:t>&lt;legend&gt;</a:t>
                      </a:r>
                      <a:endParaRPr lang="en-US" sz="1200" dirty="0">
                        <a:latin typeface="verdana"/>
                      </a:endParaRPr>
                    </a:p>
                  </a:txBody>
                  <a:tcPr marL="22379" marR="22379" marT="31330" marB="31330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>
                          <a:latin typeface="verdana"/>
                        </a:rPr>
                        <a:t>Defines a caption for a &lt;fieldset&gt; element</a:t>
                      </a:r>
                    </a:p>
                  </a:txBody>
                  <a:tcPr marL="22379" marR="22379" marT="31330" marB="31330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  <a:tr h="204396">
                <a:tc>
                  <a:txBody>
                    <a:bodyPr/>
                    <a:lstStyle/>
                    <a:p>
                      <a:pPr fontAlgn="t"/>
                      <a:r>
                        <a:rPr lang="en-US" sz="1200" dirty="0">
                          <a:solidFill>
                            <a:srgbClr val="000000"/>
                          </a:solidFill>
                          <a:latin typeface="verdana"/>
                          <a:hlinkClick r:id="rId8"/>
                        </a:rPr>
                        <a:t>&lt;select&gt;</a:t>
                      </a:r>
                      <a:endParaRPr lang="en-US" sz="1200" dirty="0">
                        <a:latin typeface="verdana"/>
                      </a:endParaRPr>
                    </a:p>
                  </a:txBody>
                  <a:tcPr marL="22379" marR="22379" marT="31330" marB="31330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>
                          <a:latin typeface="verdana"/>
                        </a:rPr>
                        <a:t>Defines a drop-down list</a:t>
                      </a:r>
                    </a:p>
                  </a:txBody>
                  <a:tcPr marL="22379" marR="22379" marT="31330" marB="31330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1934">
                <a:tc>
                  <a:txBody>
                    <a:bodyPr/>
                    <a:lstStyle/>
                    <a:p>
                      <a:pPr fontAlgn="t"/>
                      <a:r>
                        <a:rPr lang="en-US" sz="1200" dirty="0">
                          <a:solidFill>
                            <a:srgbClr val="000000"/>
                          </a:solidFill>
                          <a:latin typeface="verdana"/>
                          <a:hlinkClick r:id="rId9"/>
                        </a:rPr>
                        <a:t>&lt;</a:t>
                      </a:r>
                      <a:r>
                        <a:rPr lang="en-US" sz="1200" dirty="0" err="1">
                          <a:solidFill>
                            <a:srgbClr val="000000"/>
                          </a:solidFill>
                          <a:latin typeface="verdana"/>
                          <a:hlinkClick r:id="rId9"/>
                        </a:rPr>
                        <a:t>optgroup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verdana"/>
                          <a:hlinkClick r:id="rId9"/>
                        </a:rPr>
                        <a:t>&gt;</a:t>
                      </a:r>
                      <a:endParaRPr lang="en-US" sz="1200" dirty="0">
                        <a:latin typeface="verdana"/>
                      </a:endParaRPr>
                    </a:p>
                  </a:txBody>
                  <a:tcPr marL="22379" marR="22379" marT="31330" marB="31330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>
                          <a:latin typeface="verdana"/>
                        </a:rPr>
                        <a:t>Defines a group of related options in a drop-down list</a:t>
                      </a:r>
                    </a:p>
                  </a:txBody>
                  <a:tcPr marL="22379" marR="22379" marT="31330" marB="31330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  <a:tr h="341934">
                <a:tc>
                  <a:txBody>
                    <a:bodyPr/>
                    <a:lstStyle/>
                    <a:p>
                      <a:pPr fontAlgn="t"/>
                      <a:r>
                        <a:rPr lang="en-US" sz="1200" dirty="0">
                          <a:solidFill>
                            <a:srgbClr val="000000"/>
                          </a:solidFill>
                          <a:latin typeface="verdana"/>
                          <a:hlinkClick r:id="rId10"/>
                        </a:rPr>
                        <a:t>&lt;option&gt;</a:t>
                      </a:r>
                      <a:endParaRPr lang="en-US" sz="1200" dirty="0">
                        <a:latin typeface="verdana"/>
                      </a:endParaRPr>
                    </a:p>
                  </a:txBody>
                  <a:tcPr marL="22379" marR="22379" marT="31330" marB="31330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>
                          <a:latin typeface="verdana"/>
                        </a:rPr>
                        <a:t>Defines an option in a drop-down list</a:t>
                      </a:r>
                    </a:p>
                  </a:txBody>
                  <a:tcPr marL="22379" marR="22379" marT="31330" marB="31330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4396">
                <a:tc>
                  <a:txBody>
                    <a:bodyPr/>
                    <a:lstStyle/>
                    <a:p>
                      <a:pPr fontAlgn="t"/>
                      <a:r>
                        <a:rPr lang="en-US" sz="1200" dirty="0">
                          <a:solidFill>
                            <a:srgbClr val="000000"/>
                          </a:solidFill>
                          <a:latin typeface="verdana"/>
                          <a:hlinkClick r:id="rId11"/>
                        </a:rPr>
                        <a:t>&lt;button&gt;</a:t>
                      </a:r>
                      <a:endParaRPr lang="en-US" sz="1200" dirty="0">
                        <a:latin typeface="verdana"/>
                      </a:endParaRPr>
                    </a:p>
                  </a:txBody>
                  <a:tcPr marL="22379" marR="22379" marT="31330" marB="31330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 dirty="0">
                          <a:latin typeface="verdana"/>
                        </a:rPr>
                        <a:t>Defines a clickable button</a:t>
                      </a:r>
                    </a:p>
                  </a:txBody>
                  <a:tcPr marL="22379" marR="22379" marT="31330" marB="31330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99592" y="1196752"/>
            <a:ext cx="1800200" cy="923330"/>
          </a:xfrm>
          <a:prstGeom prst="rect">
            <a:avLst/>
          </a:prstGeom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hy-AM" b="1" dirty="0" smtClean="0">
                <a:solidFill>
                  <a:srgbClr val="FF0000"/>
                </a:solidFill>
              </a:rPr>
              <a:t>&lt;form&gt;</a:t>
            </a:r>
          </a:p>
          <a:p>
            <a:r>
              <a:rPr lang="hy-AM" b="1" dirty="0" smtClean="0"/>
              <a:t>	.......</a:t>
            </a:r>
          </a:p>
          <a:p>
            <a:r>
              <a:rPr lang="hy-AM" b="1" dirty="0" smtClean="0">
                <a:solidFill>
                  <a:srgbClr val="FF0000"/>
                </a:solidFill>
              </a:rPr>
              <a:t>&lt;/form&gt;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3848" y="1484784"/>
            <a:ext cx="46040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chemeClr val="accent2"/>
                </a:solidFill>
              </a:rPr>
              <a:t>HTML forms are used to pass data to a server.</a:t>
            </a:r>
            <a:endParaRPr lang="en-US" b="1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683568" y="260648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HTML</a:t>
            </a:r>
            <a:r>
              <a:rPr lang="en-US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– </a:t>
            </a:r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Forms</a:t>
            </a:r>
            <a:endParaRPr lang="en-US" sz="4800" dirty="0" smtClean="0"/>
          </a:p>
        </p:txBody>
      </p:sp>
      <p:sp>
        <p:nvSpPr>
          <p:cNvPr id="13" name="Rectangle 12"/>
          <p:cNvSpPr/>
          <p:nvPr/>
        </p:nvSpPr>
        <p:spPr>
          <a:xfrm>
            <a:off x="683568" y="1052736"/>
            <a:ext cx="283282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The</a:t>
            </a:r>
            <a:r>
              <a:rPr lang="hy-AM" sz="24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</a:t>
            </a:r>
            <a:r>
              <a:rPr lang="en-US" sz="24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Input </a:t>
            </a:r>
            <a:r>
              <a:rPr lang="hy-AM" sz="24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</a:t>
            </a:r>
            <a:r>
              <a:rPr lang="en-US" sz="24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Element</a:t>
            </a:r>
            <a:r>
              <a:rPr lang="hy-AM" sz="24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:</a:t>
            </a:r>
            <a:endParaRPr lang="en-US" sz="2400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chemeClr val="accent2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43608" y="2204864"/>
            <a:ext cx="7128792" cy="1200329"/>
          </a:xfrm>
          <a:prstGeom prst="rect">
            <a:avLst/>
          </a:prstGeom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hy-AM" b="1" dirty="0" smtClean="0">
                <a:solidFill>
                  <a:schemeClr val="accent1"/>
                </a:solidFill>
              </a:rPr>
              <a:t>&lt;form&gt;</a:t>
            </a:r>
          </a:p>
          <a:p>
            <a:r>
              <a:rPr lang="hy-AM" b="1" dirty="0" smtClean="0"/>
              <a:t>	</a:t>
            </a:r>
            <a:r>
              <a:rPr lang="en-US" b="1" dirty="0" smtClean="0"/>
              <a:t> First name: </a:t>
            </a:r>
            <a:r>
              <a:rPr lang="en-US" b="1" dirty="0" smtClean="0">
                <a:solidFill>
                  <a:srgbClr val="00B050"/>
                </a:solidFill>
              </a:rPr>
              <a:t>&lt;input</a:t>
            </a:r>
            <a:r>
              <a:rPr lang="en-US" b="1" dirty="0" smtClean="0"/>
              <a:t> </a:t>
            </a:r>
            <a:r>
              <a:rPr lang="hy-AM" b="1" dirty="0" smtClean="0"/>
              <a:t> </a:t>
            </a:r>
            <a:r>
              <a:rPr lang="en-US" b="1" dirty="0" smtClean="0">
                <a:solidFill>
                  <a:srgbClr val="7030A0"/>
                </a:solidFill>
              </a:rPr>
              <a:t>type="text" </a:t>
            </a:r>
            <a:r>
              <a:rPr lang="hy-AM" b="1" dirty="0" smtClean="0">
                <a:solidFill>
                  <a:srgbClr val="7030A0"/>
                </a:solidFill>
              </a:rPr>
              <a:t> </a:t>
            </a:r>
            <a:r>
              <a:rPr lang="en-US" b="1" dirty="0" smtClean="0">
                <a:solidFill>
                  <a:srgbClr val="00B0F0"/>
                </a:solidFill>
              </a:rPr>
              <a:t>name="</a:t>
            </a:r>
            <a:r>
              <a:rPr lang="en-US" b="1" dirty="0" err="1" smtClean="0">
                <a:solidFill>
                  <a:srgbClr val="00B0F0"/>
                </a:solidFill>
              </a:rPr>
              <a:t>firstname</a:t>
            </a:r>
            <a:r>
              <a:rPr lang="en-US" b="1" dirty="0" smtClean="0">
                <a:solidFill>
                  <a:srgbClr val="00B0F0"/>
                </a:solidFill>
              </a:rPr>
              <a:t>"</a:t>
            </a:r>
            <a:r>
              <a:rPr lang="en-US" b="1" dirty="0" smtClean="0">
                <a:solidFill>
                  <a:srgbClr val="00B050"/>
                </a:solidFill>
              </a:rPr>
              <a:t>&gt;</a:t>
            </a:r>
            <a:r>
              <a:rPr lang="hy-AM" b="1" dirty="0" smtClean="0">
                <a:solidFill>
                  <a:srgbClr val="00B050"/>
                </a:solidFill>
              </a:rPr>
              <a:t> </a:t>
            </a:r>
            <a:r>
              <a:rPr lang="en-US" b="1" dirty="0" smtClean="0">
                <a:solidFill>
                  <a:srgbClr val="FF0000"/>
                </a:solidFill>
              </a:rPr>
              <a:t>&lt;</a:t>
            </a:r>
            <a:r>
              <a:rPr lang="en-US" b="1" dirty="0" err="1" smtClean="0">
                <a:solidFill>
                  <a:srgbClr val="FF0000"/>
                </a:solidFill>
              </a:rPr>
              <a:t>br</a:t>
            </a:r>
            <a:r>
              <a:rPr lang="en-US" b="1" dirty="0" smtClean="0">
                <a:solidFill>
                  <a:srgbClr val="FF0000"/>
                </a:solidFill>
              </a:rPr>
              <a:t>&gt;</a:t>
            </a:r>
            <a:r>
              <a:rPr lang="en-US" b="1" dirty="0" smtClean="0"/>
              <a:t/>
            </a:r>
            <a:br>
              <a:rPr lang="en-US" b="1" dirty="0" smtClean="0"/>
            </a:br>
            <a:r>
              <a:rPr lang="hy-AM" b="1" dirty="0" smtClean="0"/>
              <a:t>	 </a:t>
            </a:r>
            <a:r>
              <a:rPr lang="en-US" b="1" dirty="0" smtClean="0"/>
              <a:t>Last name: </a:t>
            </a:r>
            <a:r>
              <a:rPr lang="en-US" b="1" dirty="0" smtClean="0">
                <a:solidFill>
                  <a:srgbClr val="00B050"/>
                </a:solidFill>
              </a:rPr>
              <a:t>&lt;input </a:t>
            </a:r>
            <a:r>
              <a:rPr lang="hy-AM" b="1" dirty="0" smtClean="0">
                <a:solidFill>
                  <a:srgbClr val="00B050"/>
                </a:solidFill>
              </a:rPr>
              <a:t> </a:t>
            </a:r>
            <a:r>
              <a:rPr lang="en-US" b="1" dirty="0" smtClean="0">
                <a:solidFill>
                  <a:srgbClr val="7030A0"/>
                </a:solidFill>
              </a:rPr>
              <a:t>type="text" </a:t>
            </a:r>
            <a:r>
              <a:rPr lang="hy-AM" b="1" dirty="0" smtClean="0">
                <a:solidFill>
                  <a:srgbClr val="7030A0"/>
                </a:solidFill>
              </a:rPr>
              <a:t>  </a:t>
            </a:r>
            <a:r>
              <a:rPr lang="en-US" b="1" dirty="0" smtClean="0">
                <a:solidFill>
                  <a:srgbClr val="00B0F0"/>
                </a:solidFill>
              </a:rPr>
              <a:t>name="</a:t>
            </a:r>
            <a:r>
              <a:rPr lang="en-US" b="1" dirty="0" err="1" smtClean="0">
                <a:solidFill>
                  <a:srgbClr val="00B0F0"/>
                </a:solidFill>
              </a:rPr>
              <a:t>lastname</a:t>
            </a:r>
            <a:r>
              <a:rPr lang="en-US" b="1" dirty="0" smtClean="0">
                <a:solidFill>
                  <a:srgbClr val="00B0F0"/>
                </a:solidFill>
              </a:rPr>
              <a:t>"</a:t>
            </a:r>
            <a:r>
              <a:rPr lang="en-US" b="1" dirty="0" smtClean="0">
                <a:solidFill>
                  <a:srgbClr val="00B050"/>
                </a:solidFill>
              </a:rPr>
              <a:t>&gt;</a:t>
            </a:r>
            <a:endParaRPr lang="hy-AM" b="1" dirty="0" smtClean="0">
              <a:solidFill>
                <a:srgbClr val="00B050"/>
              </a:solidFill>
            </a:endParaRPr>
          </a:p>
          <a:p>
            <a:r>
              <a:rPr lang="hy-AM" b="1" dirty="0" smtClean="0">
                <a:solidFill>
                  <a:schemeClr val="accent1"/>
                </a:solidFill>
              </a:rPr>
              <a:t>&lt;/form&gt;</a:t>
            </a:r>
            <a:endParaRPr lang="en-US" b="1" dirty="0">
              <a:solidFill>
                <a:schemeClr val="accent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11560" y="1556792"/>
            <a:ext cx="676875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>
                <a:solidFill>
                  <a:schemeClr val="accent2"/>
                </a:solidFill>
              </a:rPr>
              <a:t>The </a:t>
            </a:r>
            <a:r>
              <a:rPr lang="en-US" sz="2000" b="1" dirty="0" smtClean="0">
                <a:solidFill>
                  <a:srgbClr val="00B050"/>
                </a:solidFill>
              </a:rPr>
              <a:t>&lt;input&gt; </a:t>
            </a:r>
            <a:r>
              <a:rPr lang="en-US" sz="2000" b="1" dirty="0" smtClean="0">
                <a:solidFill>
                  <a:schemeClr val="accent2"/>
                </a:solidFill>
              </a:rPr>
              <a:t>element is used to select user information.</a:t>
            </a:r>
            <a:endParaRPr lang="en-US" sz="2000" b="1" dirty="0">
              <a:solidFill>
                <a:schemeClr val="accent2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23528" y="2420888"/>
            <a:ext cx="360040" cy="369332"/>
          </a:xfrm>
          <a:prstGeom prst="rect">
            <a:avLst/>
          </a:prstGeom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hy-AM" b="1" dirty="0" smtClean="0">
                <a:solidFill>
                  <a:schemeClr val="accent2"/>
                </a:solidFill>
              </a:rPr>
              <a:t>1.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43608" y="3933056"/>
            <a:ext cx="7128792" cy="923330"/>
          </a:xfrm>
          <a:prstGeom prst="rect">
            <a:avLst/>
          </a:prstGeom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hy-AM" b="1" dirty="0" smtClean="0">
                <a:solidFill>
                  <a:schemeClr val="accent1"/>
                </a:solidFill>
              </a:rPr>
              <a:t>&lt;form&gt;</a:t>
            </a:r>
          </a:p>
          <a:p>
            <a:r>
              <a:rPr lang="hy-AM" b="1" dirty="0" smtClean="0"/>
              <a:t>	</a:t>
            </a:r>
            <a:r>
              <a:rPr lang="en-US" b="1" dirty="0" smtClean="0"/>
              <a:t> </a:t>
            </a:r>
            <a:r>
              <a:rPr lang="hy-AM" b="1" dirty="0" smtClean="0"/>
              <a:t>Password</a:t>
            </a:r>
            <a:r>
              <a:rPr lang="en-US" b="1" dirty="0" smtClean="0"/>
              <a:t>: </a:t>
            </a:r>
            <a:r>
              <a:rPr lang="en-US" b="1" dirty="0" smtClean="0">
                <a:solidFill>
                  <a:srgbClr val="00B050"/>
                </a:solidFill>
              </a:rPr>
              <a:t>&lt;input</a:t>
            </a:r>
            <a:r>
              <a:rPr lang="en-US" b="1" dirty="0" smtClean="0"/>
              <a:t> </a:t>
            </a:r>
            <a:r>
              <a:rPr lang="hy-AM" b="1" dirty="0" smtClean="0"/>
              <a:t> </a:t>
            </a:r>
            <a:r>
              <a:rPr lang="en-US" b="1" dirty="0" smtClean="0">
                <a:solidFill>
                  <a:srgbClr val="7030A0"/>
                </a:solidFill>
              </a:rPr>
              <a:t>type=" password " </a:t>
            </a:r>
            <a:r>
              <a:rPr lang="hy-AM" b="1" dirty="0" smtClean="0">
                <a:solidFill>
                  <a:srgbClr val="7030A0"/>
                </a:solidFill>
              </a:rPr>
              <a:t> </a:t>
            </a:r>
            <a:r>
              <a:rPr lang="en-US" b="1" dirty="0" smtClean="0">
                <a:solidFill>
                  <a:srgbClr val="00B0F0"/>
                </a:solidFill>
              </a:rPr>
              <a:t>name="</a:t>
            </a:r>
            <a:r>
              <a:rPr lang="hy-AM" b="1" dirty="0" smtClean="0">
                <a:solidFill>
                  <a:srgbClr val="00B0F0"/>
                </a:solidFill>
              </a:rPr>
              <a:t>password</a:t>
            </a:r>
            <a:r>
              <a:rPr lang="en-US" b="1" dirty="0" smtClean="0">
                <a:solidFill>
                  <a:srgbClr val="00B0F0"/>
                </a:solidFill>
              </a:rPr>
              <a:t>"</a:t>
            </a:r>
            <a:r>
              <a:rPr lang="en-US" b="1" dirty="0" smtClean="0">
                <a:solidFill>
                  <a:srgbClr val="00B050"/>
                </a:solidFill>
              </a:rPr>
              <a:t>&gt;</a:t>
            </a:r>
            <a:endParaRPr lang="hy-AM" b="1" dirty="0" smtClean="0">
              <a:solidFill>
                <a:srgbClr val="00B050"/>
              </a:solidFill>
            </a:endParaRPr>
          </a:p>
          <a:p>
            <a:r>
              <a:rPr lang="hy-AM" b="1" dirty="0" smtClean="0">
                <a:solidFill>
                  <a:schemeClr val="accent1"/>
                </a:solidFill>
              </a:rPr>
              <a:t>&lt;/form&gt;</a:t>
            </a:r>
            <a:endParaRPr lang="en-US" b="1" dirty="0">
              <a:solidFill>
                <a:schemeClr val="accent1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23528" y="4149080"/>
            <a:ext cx="360040" cy="369332"/>
          </a:xfrm>
          <a:prstGeom prst="rect">
            <a:avLst/>
          </a:prstGeom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hy-AM" b="1" dirty="0" smtClean="0">
                <a:solidFill>
                  <a:schemeClr val="accent2"/>
                </a:solidFill>
              </a:rPr>
              <a:t>2.</a:t>
            </a:r>
            <a:endParaRPr lang="en-US" b="1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683568" y="260648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HTML</a:t>
            </a:r>
            <a:r>
              <a:rPr lang="en-US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– </a:t>
            </a:r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Forms</a:t>
            </a:r>
            <a:endParaRPr lang="en-US" sz="4800" dirty="0" smtClean="0"/>
          </a:p>
        </p:txBody>
      </p:sp>
      <p:sp>
        <p:nvSpPr>
          <p:cNvPr id="10" name="Rectangle 9"/>
          <p:cNvSpPr/>
          <p:nvPr/>
        </p:nvSpPr>
        <p:spPr>
          <a:xfrm>
            <a:off x="683568" y="1052736"/>
            <a:ext cx="283282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The</a:t>
            </a:r>
            <a:r>
              <a:rPr lang="hy-AM" sz="24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</a:t>
            </a:r>
            <a:r>
              <a:rPr lang="en-US" sz="24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Input </a:t>
            </a:r>
            <a:r>
              <a:rPr lang="hy-AM" sz="24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</a:t>
            </a:r>
            <a:r>
              <a:rPr lang="en-US" sz="24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Element</a:t>
            </a:r>
            <a:r>
              <a:rPr lang="hy-AM" sz="24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:</a:t>
            </a:r>
            <a:endParaRPr lang="en-US" sz="2400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chemeClr val="accent2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43608" y="1844824"/>
            <a:ext cx="7632848" cy="1200329"/>
          </a:xfrm>
          <a:prstGeom prst="rect">
            <a:avLst/>
          </a:prstGeom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hy-AM" b="1" dirty="0" smtClean="0">
                <a:solidFill>
                  <a:schemeClr val="accent1"/>
                </a:solidFill>
              </a:rPr>
              <a:t>&lt;form&gt;</a:t>
            </a:r>
            <a:endParaRPr lang="en-US" b="1" dirty="0">
              <a:solidFill>
                <a:schemeClr val="accent1"/>
              </a:solidFill>
            </a:endParaRPr>
          </a:p>
          <a:p>
            <a:r>
              <a:rPr lang="en-US" b="1" dirty="0" smtClean="0">
                <a:solidFill>
                  <a:srgbClr val="00B050"/>
                </a:solidFill>
              </a:rPr>
              <a:t>        &lt;input</a:t>
            </a:r>
            <a:r>
              <a:rPr lang="en-US" b="1" dirty="0" smtClean="0"/>
              <a:t> </a:t>
            </a:r>
            <a:r>
              <a:rPr lang="hy-AM" b="1" dirty="0" smtClean="0"/>
              <a:t> </a:t>
            </a:r>
            <a:r>
              <a:rPr lang="en-US" b="1" dirty="0" smtClean="0">
                <a:solidFill>
                  <a:srgbClr val="7030A0"/>
                </a:solidFill>
              </a:rPr>
              <a:t>type= "</a:t>
            </a:r>
            <a:r>
              <a:rPr lang="hy-AM" b="1" dirty="0" smtClean="0">
                <a:solidFill>
                  <a:srgbClr val="7030A0"/>
                </a:solidFill>
              </a:rPr>
              <a:t>radio</a:t>
            </a:r>
            <a:r>
              <a:rPr lang="en-US" b="1" dirty="0" smtClean="0">
                <a:solidFill>
                  <a:srgbClr val="7030A0"/>
                </a:solidFill>
              </a:rPr>
              <a:t>" </a:t>
            </a:r>
            <a:r>
              <a:rPr lang="hy-AM" b="1" dirty="0" smtClean="0">
                <a:solidFill>
                  <a:srgbClr val="7030A0"/>
                </a:solidFill>
              </a:rPr>
              <a:t> </a:t>
            </a:r>
            <a:r>
              <a:rPr lang="en-US" b="1" dirty="0" smtClean="0">
                <a:solidFill>
                  <a:srgbClr val="00B0F0"/>
                </a:solidFill>
              </a:rPr>
              <a:t>name="gender"</a:t>
            </a:r>
            <a:r>
              <a:rPr lang="hy-AM" b="1" dirty="0" smtClean="0">
                <a:solidFill>
                  <a:srgbClr val="00B0F0"/>
                </a:solidFill>
              </a:rPr>
              <a:t>   </a:t>
            </a:r>
            <a:r>
              <a:rPr lang="en-US" b="1" dirty="0" smtClean="0">
                <a:solidFill>
                  <a:srgbClr val="002060"/>
                </a:solidFill>
              </a:rPr>
              <a:t>value="male"</a:t>
            </a:r>
            <a:r>
              <a:rPr lang="hy-AM" b="1" dirty="0" smtClean="0">
                <a:solidFill>
                  <a:srgbClr val="002060"/>
                </a:solidFill>
              </a:rPr>
              <a:t> </a:t>
            </a:r>
            <a:r>
              <a:rPr lang="en-US" b="1" dirty="0" smtClean="0">
                <a:solidFill>
                  <a:srgbClr val="00B050"/>
                </a:solidFill>
              </a:rPr>
              <a:t>&gt;</a:t>
            </a:r>
            <a:r>
              <a:rPr lang="hy-AM" b="1" dirty="0" smtClean="0">
                <a:solidFill>
                  <a:srgbClr val="00B050"/>
                </a:solidFill>
              </a:rPr>
              <a:t> </a:t>
            </a:r>
            <a:r>
              <a:rPr lang="hy-AM" b="1" dirty="0" smtClean="0">
                <a:solidFill>
                  <a:schemeClr val="tx1"/>
                </a:solidFill>
              </a:rPr>
              <a:t>Male</a:t>
            </a:r>
            <a:r>
              <a:rPr lang="en-US" b="1" dirty="0" smtClean="0">
                <a:solidFill>
                  <a:srgbClr val="FF0000"/>
                </a:solidFill>
              </a:rPr>
              <a:t>&lt;</a:t>
            </a:r>
            <a:r>
              <a:rPr lang="en-US" b="1" dirty="0" err="1" smtClean="0">
                <a:solidFill>
                  <a:srgbClr val="FF0000"/>
                </a:solidFill>
              </a:rPr>
              <a:t>br</a:t>
            </a:r>
            <a:r>
              <a:rPr lang="en-US" b="1" dirty="0" smtClean="0">
                <a:solidFill>
                  <a:srgbClr val="FF0000"/>
                </a:solidFill>
              </a:rPr>
              <a:t>&gt;</a:t>
            </a: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      </a:t>
            </a:r>
            <a:r>
              <a:rPr lang="hy-AM" b="1" dirty="0" smtClean="0"/>
              <a:t> </a:t>
            </a:r>
            <a:r>
              <a:rPr lang="en-US" b="1" dirty="0" smtClean="0">
                <a:solidFill>
                  <a:srgbClr val="00B050"/>
                </a:solidFill>
              </a:rPr>
              <a:t>&lt;input </a:t>
            </a:r>
            <a:r>
              <a:rPr lang="hy-AM" b="1" dirty="0" smtClean="0">
                <a:solidFill>
                  <a:srgbClr val="00B050"/>
                </a:solidFill>
              </a:rPr>
              <a:t> </a:t>
            </a:r>
            <a:r>
              <a:rPr lang="en-US" b="1" dirty="0" smtClean="0">
                <a:solidFill>
                  <a:srgbClr val="7030A0"/>
                </a:solidFill>
              </a:rPr>
              <a:t>type= "</a:t>
            </a:r>
            <a:r>
              <a:rPr lang="hy-AM" b="1" dirty="0" smtClean="0">
                <a:solidFill>
                  <a:srgbClr val="7030A0"/>
                </a:solidFill>
              </a:rPr>
              <a:t>radio</a:t>
            </a:r>
            <a:r>
              <a:rPr lang="en-US" b="1" dirty="0" smtClean="0">
                <a:solidFill>
                  <a:srgbClr val="7030A0"/>
                </a:solidFill>
              </a:rPr>
              <a:t>" </a:t>
            </a:r>
            <a:r>
              <a:rPr lang="hy-AM" b="1" dirty="0" smtClean="0">
                <a:solidFill>
                  <a:srgbClr val="7030A0"/>
                </a:solidFill>
              </a:rPr>
              <a:t>  </a:t>
            </a:r>
            <a:r>
              <a:rPr lang="en-US" b="1" dirty="0" smtClean="0">
                <a:solidFill>
                  <a:srgbClr val="00B0F0"/>
                </a:solidFill>
              </a:rPr>
              <a:t>name ="gender"</a:t>
            </a:r>
            <a:r>
              <a:rPr lang="hy-AM" b="1" dirty="0" smtClean="0">
                <a:solidFill>
                  <a:srgbClr val="00B0F0"/>
                </a:solidFill>
              </a:rPr>
              <a:t>   </a:t>
            </a:r>
            <a:r>
              <a:rPr lang="en-US" b="1" dirty="0" smtClean="0">
                <a:solidFill>
                  <a:srgbClr val="002060"/>
                </a:solidFill>
              </a:rPr>
              <a:t>value="</a:t>
            </a:r>
            <a:r>
              <a:rPr lang="hy-AM" b="1" dirty="0" smtClean="0">
                <a:solidFill>
                  <a:srgbClr val="002060"/>
                </a:solidFill>
              </a:rPr>
              <a:t>fe</a:t>
            </a:r>
            <a:r>
              <a:rPr lang="en-US" b="1" dirty="0" smtClean="0">
                <a:solidFill>
                  <a:srgbClr val="002060"/>
                </a:solidFill>
              </a:rPr>
              <a:t>male"</a:t>
            </a:r>
            <a:r>
              <a:rPr lang="hy-AM" b="1" dirty="0" smtClean="0">
                <a:solidFill>
                  <a:srgbClr val="002060"/>
                </a:solidFill>
              </a:rPr>
              <a:t> </a:t>
            </a:r>
            <a:r>
              <a:rPr lang="en-US" b="1" dirty="0" smtClean="0">
                <a:solidFill>
                  <a:srgbClr val="00B050"/>
                </a:solidFill>
              </a:rPr>
              <a:t>&gt;</a:t>
            </a:r>
            <a:r>
              <a:rPr lang="hy-AM" b="1" dirty="0" smtClean="0">
                <a:solidFill>
                  <a:schemeClr val="tx1"/>
                </a:solidFill>
              </a:rPr>
              <a:t>Female</a:t>
            </a:r>
          </a:p>
          <a:p>
            <a:r>
              <a:rPr lang="hy-AM" b="1" dirty="0" smtClean="0">
                <a:solidFill>
                  <a:schemeClr val="accent1"/>
                </a:solidFill>
              </a:rPr>
              <a:t>&lt;/form&gt;</a:t>
            </a:r>
            <a:endParaRPr lang="en-US" b="1" dirty="0">
              <a:solidFill>
                <a:schemeClr val="accent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23528" y="2060848"/>
            <a:ext cx="360040" cy="369332"/>
          </a:xfrm>
          <a:prstGeom prst="rect">
            <a:avLst/>
          </a:prstGeom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hy-AM" b="1" dirty="0" smtClean="0">
                <a:solidFill>
                  <a:schemeClr val="accent2"/>
                </a:solidFill>
              </a:rPr>
              <a:t>3.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43608" y="3573016"/>
            <a:ext cx="7632848" cy="1754326"/>
          </a:xfrm>
          <a:prstGeom prst="rect">
            <a:avLst/>
          </a:prstGeom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hy-AM" b="1" dirty="0" smtClean="0">
                <a:solidFill>
                  <a:schemeClr val="accent1"/>
                </a:solidFill>
              </a:rPr>
              <a:t>&lt;form&gt;</a:t>
            </a:r>
            <a:endParaRPr lang="en-US" b="1" dirty="0">
              <a:solidFill>
                <a:schemeClr val="accent1"/>
              </a:solidFill>
            </a:endParaRPr>
          </a:p>
          <a:p>
            <a:r>
              <a:rPr lang="en-US" b="1" dirty="0" smtClean="0">
                <a:solidFill>
                  <a:srgbClr val="00B050"/>
                </a:solidFill>
              </a:rPr>
              <a:t>     &lt;input</a:t>
            </a:r>
            <a:r>
              <a:rPr lang="en-US" b="1" dirty="0" smtClean="0"/>
              <a:t> </a:t>
            </a:r>
            <a:r>
              <a:rPr lang="hy-AM" b="1" dirty="0" smtClean="0"/>
              <a:t> </a:t>
            </a:r>
            <a:r>
              <a:rPr lang="en-US" b="1" dirty="0" smtClean="0">
                <a:solidFill>
                  <a:srgbClr val="7030A0"/>
                </a:solidFill>
              </a:rPr>
              <a:t>type= "checkbox" </a:t>
            </a:r>
            <a:r>
              <a:rPr lang="hy-AM" b="1" dirty="0" smtClean="0">
                <a:solidFill>
                  <a:srgbClr val="7030A0"/>
                </a:solidFill>
              </a:rPr>
              <a:t> </a:t>
            </a:r>
            <a:r>
              <a:rPr lang="en-US" b="1" dirty="0" smtClean="0">
                <a:solidFill>
                  <a:srgbClr val="00B0F0"/>
                </a:solidFill>
              </a:rPr>
              <a:t>name="vehicle1"</a:t>
            </a:r>
            <a:r>
              <a:rPr lang="hy-AM" b="1" dirty="0" smtClean="0">
                <a:solidFill>
                  <a:srgbClr val="00B0F0"/>
                </a:solidFill>
              </a:rPr>
              <a:t>   </a:t>
            </a:r>
            <a:r>
              <a:rPr lang="en-US" b="1" dirty="0" smtClean="0">
                <a:solidFill>
                  <a:srgbClr val="002060"/>
                </a:solidFill>
              </a:rPr>
              <a:t>value="Bike"</a:t>
            </a:r>
            <a:r>
              <a:rPr lang="hy-AM" b="1" dirty="0" smtClean="0">
                <a:solidFill>
                  <a:srgbClr val="002060"/>
                </a:solidFill>
              </a:rPr>
              <a:t> </a:t>
            </a:r>
            <a:r>
              <a:rPr lang="en-US" b="1" dirty="0" smtClean="0">
                <a:solidFill>
                  <a:srgbClr val="00B050"/>
                </a:solidFill>
              </a:rPr>
              <a:t>&gt;</a:t>
            </a:r>
            <a:r>
              <a:rPr lang="hy-AM" b="1" dirty="0" smtClean="0">
                <a:solidFill>
                  <a:srgbClr val="00B050"/>
                </a:solidFill>
              </a:rPr>
              <a:t> </a:t>
            </a:r>
          </a:p>
          <a:p>
            <a:r>
              <a:rPr lang="hy-AM" b="1" dirty="0" smtClean="0">
                <a:solidFill>
                  <a:srgbClr val="00B050"/>
                </a:solidFill>
              </a:rPr>
              <a:t>	 </a:t>
            </a:r>
            <a:r>
              <a:rPr lang="en-US" b="1" dirty="0" smtClean="0"/>
              <a:t>I have a bike</a:t>
            </a:r>
            <a:r>
              <a:rPr lang="en-US" b="1" dirty="0" smtClean="0">
                <a:solidFill>
                  <a:srgbClr val="FF0000"/>
                </a:solidFill>
              </a:rPr>
              <a:t>&lt;</a:t>
            </a:r>
            <a:r>
              <a:rPr lang="en-US" b="1" dirty="0" err="1" smtClean="0">
                <a:solidFill>
                  <a:srgbClr val="FF0000"/>
                </a:solidFill>
              </a:rPr>
              <a:t>br</a:t>
            </a:r>
            <a:r>
              <a:rPr lang="en-US" b="1" dirty="0" smtClean="0">
                <a:solidFill>
                  <a:srgbClr val="FF0000"/>
                </a:solidFill>
              </a:rPr>
              <a:t>&gt;</a:t>
            </a: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/>
              <a:t> </a:t>
            </a:r>
            <a:r>
              <a:rPr lang="en-US" b="1" dirty="0" smtClean="0"/>
              <a:t>    </a:t>
            </a:r>
            <a:r>
              <a:rPr lang="hy-AM" b="1" dirty="0" smtClean="0"/>
              <a:t> </a:t>
            </a:r>
            <a:r>
              <a:rPr lang="en-US" b="1" dirty="0" smtClean="0">
                <a:solidFill>
                  <a:srgbClr val="00B050"/>
                </a:solidFill>
              </a:rPr>
              <a:t>&lt;input </a:t>
            </a:r>
            <a:r>
              <a:rPr lang="hy-AM" b="1" dirty="0" smtClean="0">
                <a:solidFill>
                  <a:srgbClr val="00B050"/>
                </a:solidFill>
              </a:rPr>
              <a:t> </a:t>
            </a:r>
            <a:r>
              <a:rPr lang="en-US" b="1" dirty="0" smtClean="0">
                <a:solidFill>
                  <a:srgbClr val="7030A0"/>
                </a:solidFill>
              </a:rPr>
              <a:t>type= "checkbox" </a:t>
            </a:r>
            <a:r>
              <a:rPr lang="hy-AM" b="1" dirty="0" smtClean="0">
                <a:solidFill>
                  <a:srgbClr val="7030A0"/>
                </a:solidFill>
              </a:rPr>
              <a:t>  </a:t>
            </a:r>
            <a:r>
              <a:rPr lang="en-US" b="1" dirty="0" smtClean="0">
                <a:solidFill>
                  <a:srgbClr val="00B0F0"/>
                </a:solidFill>
              </a:rPr>
              <a:t>name="vehicle2"</a:t>
            </a:r>
            <a:r>
              <a:rPr lang="hy-AM" b="1" dirty="0" smtClean="0">
                <a:solidFill>
                  <a:srgbClr val="00B0F0"/>
                </a:solidFill>
              </a:rPr>
              <a:t>  </a:t>
            </a:r>
            <a:r>
              <a:rPr lang="en-US" b="1" dirty="0" smtClean="0">
                <a:solidFill>
                  <a:srgbClr val="002060"/>
                </a:solidFill>
              </a:rPr>
              <a:t>value="Car"</a:t>
            </a:r>
            <a:r>
              <a:rPr lang="hy-AM" b="1" dirty="0" smtClean="0">
                <a:solidFill>
                  <a:srgbClr val="002060"/>
                </a:solidFill>
              </a:rPr>
              <a:t> </a:t>
            </a:r>
            <a:r>
              <a:rPr lang="en-US" b="1" dirty="0" smtClean="0">
                <a:solidFill>
                  <a:srgbClr val="00B050"/>
                </a:solidFill>
              </a:rPr>
              <a:t>&gt;</a:t>
            </a:r>
            <a:endParaRPr lang="hy-AM" b="1" dirty="0" smtClean="0">
              <a:solidFill>
                <a:srgbClr val="00B050"/>
              </a:solidFill>
            </a:endParaRPr>
          </a:p>
          <a:p>
            <a:r>
              <a:rPr lang="hy-AM" b="1" dirty="0" smtClean="0">
                <a:solidFill>
                  <a:srgbClr val="00B050"/>
                </a:solidFill>
              </a:rPr>
              <a:t>	 </a:t>
            </a:r>
            <a:r>
              <a:rPr lang="en-US" b="1" dirty="0" smtClean="0"/>
              <a:t>I have a </a:t>
            </a:r>
            <a:r>
              <a:rPr lang="hy-AM" b="1" dirty="0" smtClean="0"/>
              <a:t>car</a:t>
            </a:r>
            <a:endParaRPr lang="hy-AM" b="1" dirty="0" smtClean="0">
              <a:solidFill>
                <a:srgbClr val="00B050"/>
              </a:solidFill>
            </a:endParaRPr>
          </a:p>
          <a:p>
            <a:r>
              <a:rPr lang="hy-AM" b="1" dirty="0" smtClean="0">
                <a:solidFill>
                  <a:schemeClr val="accent1"/>
                </a:solidFill>
              </a:rPr>
              <a:t>&lt;/form&gt;</a:t>
            </a:r>
            <a:endParaRPr lang="en-US" b="1" dirty="0">
              <a:solidFill>
                <a:schemeClr val="accent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23528" y="3789040"/>
            <a:ext cx="360040" cy="369332"/>
          </a:xfrm>
          <a:prstGeom prst="rect">
            <a:avLst/>
          </a:prstGeom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hy-AM" b="1" dirty="0" smtClean="0">
                <a:solidFill>
                  <a:schemeClr val="accent2"/>
                </a:solidFill>
              </a:rPr>
              <a:t>4.</a:t>
            </a:r>
            <a:endParaRPr lang="en-US" b="1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/>
          <p:cNvSpPr txBox="1"/>
          <p:nvPr/>
        </p:nvSpPr>
        <p:spPr>
          <a:xfrm>
            <a:off x="683568" y="260648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HTML</a:t>
            </a:r>
            <a:r>
              <a:rPr lang="en-US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– </a:t>
            </a:r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Forms</a:t>
            </a:r>
            <a:endParaRPr lang="en-US" sz="4800" dirty="0" smtClean="0"/>
          </a:p>
        </p:txBody>
      </p:sp>
      <p:sp>
        <p:nvSpPr>
          <p:cNvPr id="22" name="Rectangle 21"/>
          <p:cNvSpPr/>
          <p:nvPr/>
        </p:nvSpPr>
        <p:spPr>
          <a:xfrm>
            <a:off x="683568" y="1052736"/>
            <a:ext cx="283282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The</a:t>
            </a:r>
            <a:r>
              <a:rPr lang="hy-AM" sz="24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</a:t>
            </a:r>
            <a:r>
              <a:rPr lang="en-US" sz="24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Input </a:t>
            </a:r>
            <a:r>
              <a:rPr lang="hy-AM" sz="24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</a:t>
            </a:r>
            <a:r>
              <a:rPr lang="en-US" sz="24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Element</a:t>
            </a:r>
            <a:r>
              <a:rPr lang="hy-AM" sz="24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:</a:t>
            </a:r>
            <a:endParaRPr lang="en-US" sz="2400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chemeClr val="accent2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43608" y="1988840"/>
            <a:ext cx="7560840" cy="923330"/>
          </a:xfrm>
          <a:prstGeom prst="rect">
            <a:avLst/>
          </a:prstGeom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hy-AM" b="1" dirty="0" smtClean="0">
                <a:solidFill>
                  <a:schemeClr val="accent1"/>
                </a:solidFill>
              </a:rPr>
              <a:t>&lt;form&gt;</a:t>
            </a:r>
          </a:p>
          <a:p>
            <a:r>
              <a:rPr lang="hy-AM" b="1" dirty="0" smtClean="0"/>
              <a:t>	 </a:t>
            </a:r>
            <a:r>
              <a:rPr lang="en-US" b="1" dirty="0" smtClean="0">
                <a:solidFill>
                  <a:srgbClr val="00B050"/>
                </a:solidFill>
              </a:rPr>
              <a:t>&lt;input</a:t>
            </a:r>
            <a:r>
              <a:rPr lang="en-US" b="1" dirty="0" smtClean="0"/>
              <a:t> </a:t>
            </a:r>
            <a:r>
              <a:rPr lang="hy-AM" b="1" dirty="0" smtClean="0"/>
              <a:t> </a:t>
            </a:r>
            <a:r>
              <a:rPr lang="en-US" b="1" dirty="0" smtClean="0">
                <a:solidFill>
                  <a:srgbClr val="7030A0"/>
                </a:solidFill>
              </a:rPr>
              <a:t>type= "</a:t>
            </a:r>
            <a:r>
              <a:rPr lang="hy-AM" b="1" dirty="0" smtClean="0">
                <a:solidFill>
                  <a:srgbClr val="7030A0"/>
                </a:solidFill>
              </a:rPr>
              <a:t>button</a:t>
            </a:r>
            <a:r>
              <a:rPr lang="en-US" b="1" dirty="0" smtClean="0">
                <a:solidFill>
                  <a:srgbClr val="7030A0"/>
                </a:solidFill>
              </a:rPr>
              <a:t>" </a:t>
            </a:r>
            <a:r>
              <a:rPr lang="hy-AM" b="1" dirty="0" smtClean="0">
                <a:solidFill>
                  <a:srgbClr val="7030A0"/>
                </a:solidFill>
              </a:rPr>
              <a:t> </a:t>
            </a:r>
            <a:r>
              <a:rPr lang="en-US" b="1" dirty="0" smtClean="0">
                <a:solidFill>
                  <a:srgbClr val="002060"/>
                </a:solidFill>
              </a:rPr>
              <a:t>value= " </a:t>
            </a:r>
            <a:r>
              <a:rPr lang="hy-AM" b="1" dirty="0" smtClean="0">
                <a:solidFill>
                  <a:srgbClr val="002060"/>
                </a:solidFill>
              </a:rPr>
              <a:t>Hello World!</a:t>
            </a:r>
            <a:r>
              <a:rPr lang="en-US" b="1" dirty="0" smtClean="0">
                <a:solidFill>
                  <a:srgbClr val="002060"/>
                </a:solidFill>
              </a:rPr>
              <a:t>"</a:t>
            </a:r>
            <a:r>
              <a:rPr lang="hy-AM" b="1" dirty="0" smtClean="0">
                <a:solidFill>
                  <a:srgbClr val="002060"/>
                </a:solidFill>
              </a:rPr>
              <a:t> </a:t>
            </a:r>
            <a:r>
              <a:rPr lang="en-US" b="1" dirty="0" smtClean="0">
                <a:solidFill>
                  <a:srgbClr val="00B050"/>
                </a:solidFill>
              </a:rPr>
              <a:t>&gt;</a:t>
            </a:r>
            <a:r>
              <a:rPr lang="hy-AM" b="1" dirty="0" smtClean="0">
                <a:solidFill>
                  <a:srgbClr val="00B050"/>
                </a:solidFill>
              </a:rPr>
              <a:t> </a:t>
            </a:r>
          </a:p>
          <a:p>
            <a:r>
              <a:rPr lang="hy-AM" b="1" dirty="0" smtClean="0">
                <a:solidFill>
                  <a:schemeClr val="accent1"/>
                </a:solidFill>
              </a:rPr>
              <a:t>&lt;/form&gt;</a:t>
            </a:r>
            <a:endParaRPr lang="en-US" b="1" dirty="0">
              <a:solidFill>
                <a:schemeClr val="accent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23528" y="2204864"/>
            <a:ext cx="360040" cy="369332"/>
          </a:xfrm>
          <a:prstGeom prst="rect">
            <a:avLst/>
          </a:prstGeom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hy-AM" b="1" dirty="0" smtClean="0">
                <a:solidFill>
                  <a:schemeClr val="accent2"/>
                </a:solidFill>
              </a:rPr>
              <a:t>5.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043608" y="4077072"/>
            <a:ext cx="7632848" cy="1200329"/>
          </a:xfrm>
          <a:prstGeom prst="rect">
            <a:avLst/>
          </a:prstGeom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hy-AM" b="1" dirty="0" smtClean="0">
                <a:solidFill>
                  <a:schemeClr val="accent1"/>
                </a:solidFill>
              </a:rPr>
              <a:t>&lt;form  </a:t>
            </a:r>
            <a:r>
              <a:rPr lang="en-US" b="1" dirty="0" smtClean="0">
                <a:solidFill>
                  <a:srgbClr val="00B0F0"/>
                </a:solidFill>
              </a:rPr>
              <a:t> </a:t>
            </a:r>
            <a:r>
              <a:rPr lang="en-US" b="1" dirty="0" smtClean="0">
                <a:solidFill>
                  <a:srgbClr val="92D050"/>
                </a:solidFill>
              </a:rPr>
              <a:t>action="</a:t>
            </a:r>
            <a:r>
              <a:rPr lang="en-US" b="1" dirty="0" err="1" smtClean="0">
                <a:solidFill>
                  <a:srgbClr val="92D050"/>
                </a:solidFill>
              </a:rPr>
              <a:t>html_form_action.php</a:t>
            </a:r>
            <a:r>
              <a:rPr lang="en-US" b="1" dirty="0" smtClean="0">
                <a:solidFill>
                  <a:srgbClr val="92D050"/>
                </a:solidFill>
              </a:rPr>
              <a:t>" </a:t>
            </a:r>
            <a:r>
              <a:rPr lang="en-US" b="1" dirty="0" smtClean="0">
                <a:solidFill>
                  <a:schemeClr val="accent2"/>
                </a:solidFill>
              </a:rPr>
              <a:t>method="get" </a:t>
            </a:r>
            <a:r>
              <a:rPr lang="hy-AM" b="1" dirty="0" smtClean="0">
                <a:solidFill>
                  <a:schemeClr val="accent1"/>
                </a:solidFill>
              </a:rPr>
              <a:t>&gt;</a:t>
            </a:r>
          </a:p>
          <a:p>
            <a:r>
              <a:rPr lang="hy-AM" b="1" dirty="0" smtClean="0"/>
              <a:t>	</a:t>
            </a:r>
            <a:r>
              <a:rPr lang="en-US" b="1" dirty="0" smtClean="0"/>
              <a:t> Username: </a:t>
            </a:r>
            <a:r>
              <a:rPr lang="en-US" b="1" dirty="0" smtClean="0">
                <a:solidFill>
                  <a:srgbClr val="00B050"/>
                </a:solidFill>
              </a:rPr>
              <a:t>&lt;input </a:t>
            </a:r>
            <a:r>
              <a:rPr lang="hy-AM" b="1" dirty="0" smtClean="0">
                <a:solidFill>
                  <a:srgbClr val="00B050"/>
                </a:solidFill>
              </a:rPr>
              <a:t> </a:t>
            </a:r>
            <a:r>
              <a:rPr lang="en-US" b="1" dirty="0" smtClean="0">
                <a:solidFill>
                  <a:srgbClr val="7030A0"/>
                </a:solidFill>
              </a:rPr>
              <a:t>type="text" </a:t>
            </a:r>
            <a:r>
              <a:rPr lang="en-US" b="1" dirty="0" smtClean="0">
                <a:solidFill>
                  <a:srgbClr val="00B0F0"/>
                </a:solidFill>
              </a:rPr>
              <a:t>name="user"</a:t>
            </a:r>
            <a:r>
              <a:rPr lang="en-US" b="1" dirty="0" smtClean="0">
                <a:solidFill>
                  <a:srgbClr val="00B050"/>
                </a:solidFill>
              </a:rPr>
              <a:t>&gt;</a:t>
            </a:r>
            <a:r>
              <a:rPr lang="en-US" b="1" dirty="0" smtClean="0"/>
              <a:t/>
            </a:r>
            <a:br>
              <a:rPr lang="en-US" b="1" dirty="0" smtClean="0"/>
            </a:br>
            <a:r>
              <a:rPr lang="hy-AM" b="1" dirty="0" smtClean="0"/>
              <a:t>	</a:t>
            </a:r>
            <a:r>
              <a:rPr lang="en-US" b="1" dirty="0" smtClean="0">
                <a:solidFill>
                  <a:srgbClr val="00B050"/>
                </a:solidFill>
              </a:rPr>
              <a:t>&lt;input  </a:t>
            </a:r>
            <a:r>
              <a:rPr lang="en-US" b="1" dirty="0" smtClean="0">
                <a:solidFill>
                  <a:srgbClr val="7030A0"/>
                </a:solidFill>
              </a:rPr>
              <a:t>type="submit"  </a:t>
            </a:r>
            <a:r>
              <a:rPr lang="en-US" b="1" dirty="0" smtClean="0">
                <a:solidFill>
                  <a:srgbClr val="002060"/>
                </a:solidFill>
              </a:rPr>
              <a:t>value="Submit"</a:t>
            </a:r>
            <a:r>
              <a:rPr lang="en-US" b="1" dirty="0" smtClean="0">
                <a:solidFill>
                  <a:srgbClr val="00B050"/>
                </a:solidFill>
              </a:rPr>
              <a:t>&gt;</a:t>
            </a:r>
            <a:endParaRPr lang="hy-AM" b="1" dirty="0" smtClean="0">
              <a:solidFill>
                <a:srgbClr val="00B050"/>
              </a:solidFill>
            </a:endParaRPr>
          </a:p>
          <a:p>
            <a:r>
              <a:rPr lang="hy-AM" b="1" dirty="0" smtClean="0">
                <a:solidFill>
                  <a:schemeClr val="accent1"/>
                </a:solidFill>
              </a:rPr>
              <a:t>&lt;/form&gt;</a:t>
            </a:r>
            <a:endParaRPr lang="en-US" b="1" dirty="0">
              <a:solidFill>
                <a:schemeClr val="accent1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23528" y="4293096"/>
            <a:ext cx="360040" cy="369332"/>
          </a:xfrm>
          <a:prstGeom prst="rect">
            <a:avLst/>
          </a:prstGeom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hy-AM" b="1" dirty="0" smtClean="0">
                <a:solidFill>
                  <a:schemeClr val="accent2"/>
                </a:solidFill>
              </a:rPr>
              <a:t>6.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467544" y="3356992"/>
            <a:ext cx="576064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chemeClr val="accent2"/>
                </a:solidFill>
              </a:rPr>
              <a:t>A submit button is used to send form data to a server. </a:t>
            </a:r>
            <a:endParaRPr lang="en-US" b="1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683568" y="260648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HTML</a:t>
            </a:r>
            <a:r>
              <a:rPr lang="en-US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– </a:t>
            </a:r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Forms</a:t>
            </a:r>
            <a:endParaRPr lang="en-US" sz="4800" dirty="0" smtClean="0"/>
          </a:p>
        </p:txBody>
      </p:sp>
      <p:sp>
        <p:nvSpPr>
          <p:cNvPr id="11" name="Rectangle 10"/>
          <p:cNvSpPr/>
          <p:nvPr/>
        </p:nvSpPr>
        <p:spPr>
          <a:xfrm>
            <a:off x="683568" y="1052736"/>
            <a:ext cx="13831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T</a:t>
            </a:r>
            <a:r>
              <a:rPr lang="hy-AM" sz="24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extarea:</a:t>
            </a:r>
            <a:endParaRPr lang="en-US" sz="2400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chemeClr val="accent2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83568" y="1916832"/>
            <a:ext cx="6048672" cy="923330"/>
          </a:xfrm>
          <a:prstGeom prst="rect">
            <a:avLst/>
          </a:prstGeom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&lt;</a:t>
            </a:r>
            <a:r>
              <a:rPr lang="en-US" b="1" dirty="0" err="1" smtClean="0">
                <a:solidFill>
                  <a:srgbClr val="FF0000"/>
                </a:solidFill>
              </a:rPr>
              <a:t>textarea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smtClean="0">
                <a:solidFill>
                  <a:srgbClr val="00B0F0"/>
                </a:solidFill>
              </a:rPr>
              <a:t>rows="10" cols="30" </a:t>
            </a:r>
            <a:r>
              <a:rPr lang="en-US" b="1" dirty="0">
                <a:solidFill>
                  <a:srgbClr val="00B0F0"/>
                </a:solidFill>
              </a:rPr>
              <a:t>name= " </a:t>
            </a:r>
            <a:r>
              <a:rPr lang="en-US" b="1" dirty="0" smtClean="0">
                <a:solidFill>
                  <a:srgbClr val="00B0F0"/>
                </a:solidFill>
              </a:rPr>
              <a:t>message" </a:t>
            </a:r>
            <a:r>
              <a:rPr lang="en-US" b="1" dirty="0" smtClean="0">
                <a:solidFill>
                  <a:srgbClr val="FF0000"/>
                </a:solidFill>
              </a:rPr>
              <a:t>&gt;</a:t>
            </a:r>
          </a:p>
          <a:p>
            <a:r>
              <a:rPr lang="hy-AM" b="1" dirty="0" smtClean="0">
                <a:solidFill>
                  <a:schemeClr val="accent1"/>
                </a:solidFill>
              </a:rPr>
              <a:t>	</a:t>
            </a:r>
            <a:r>
              <a:rPr lang="en-US" b="1" dirty="0" smtClean="0">
                <a:solidFill>
                  <a:schemeClr val="tx1"/>
                </a:solidFill>
              </a:rPr>
              <a:t>The cat was playing in the garden.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&lt;/</a:t>
            </a:r>
            <a:r>
              <a:rPr lang="en-US" b="1" dirty="0" err="1" smtClean="0">
                <a:solidFill>
                  <a:srgbClr val="FF0000"/>
                </a:solidFill>
              </a:rPr>
              <a:t>textarea</a:t>
            </a:r>
            <a:r>
              <a:rPr lang="en-US" b="1" dirty="0" smtClean="0">
                <a:solidFill>
                  <a:srgbClr val="FF0000"/>
                </a:solidFill>
              </a:rPr>
              <a:t>&gt;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83568" y="3789040"/>
            <a:ext cx="6048672" cy="2308324"/>
          </a:xfrm>
          <a:prstGeom prst="rect">
            <a:avLst/>
          </a:prstGeom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&lt;form &gt;</a:t>
            </a:r>
          </a:p>
          <a:p>
            <a:pPr lvl="1"/>
            <a:r>
              <a:rPr lang="en-US" b="1" dirty="0" smtClean="0">
                <a:solidFill>
                  <a:srgbClr val="00B050"/>
                </a:solidFill>
              </a:rPr>
              <a:t>&lt;select </a:t>
            </a:r>
            <a:r>
              <a:rPr lang="hy-AM" b="1" dirty="0" smtClean="0">
                <a:solidFill>
                  <a:srgbClr val="00B050"/>
                </a:solidFill>
              </a:rPr>
              <a:t> </a:t>
            </a:r>
            <a:r>
              <a:rPr lang="en-US" b="1" dirty="0" smtClean="0">
                <a:solidFill>
                  <a:srgbClr val="0070C0"/>
                </a:solidFill>
              </a:rPr>
              <a:t>name="cars"</a:t>
            </a:r>
            <a:r>
              <a:rPr lang="en-US" b="1" dirty="0" smtClean="0">
                <a:solidFill>
                  <a:srgbClr val="00B050"/>
                </a:solidFill>
              </a:rPr>
              <a:t>&gt;</a:t>
            </a:r>
          </a:p>
          <a:p>
            <a:pPr lvl="2"/>
            <a:r>
              <a:rPr lang="en-US" b="1" dirty="0" smtClean="0">
                <a:solidFill>
                  <a:srgbClr val="7030A0"/>
                </a:solidFill>
              </a:rPr>
              <a:t>&lt;option </a:t>
            </a:r>
            <a:r>
              <a:rPr lang="hy-AM" b="1" dirty="0" smtClean="0">
                <a:solidFill>
                  <a:srgbClr val="7030A0"/>
                </a:solidFill>
              </a:rPr>
              <a:t> </a:t>
            </a:r>
            <a:r>
              <a:rPr lang="en-US" b="1" dirty="0" smtClean="0">
                <a:solidFill>
                  <a:srgbClr val="002060"/>
                </a:solidFill>
              </a:rPr>
              <a:t>value="</a:t>
            </a:r>
            <a:r>
              <a:rPr lang="en-US" b="1" dirty="0" err="1" smtClean="0">
                <a:solidFill>
                  <a:srgbClr val="002060"/>
                </a:solidFill>
              </a:rPr>
              <a:t>volvo</a:t>
            </a:r>
            <a:r>
              <a:rPr lang="en-US" b="1" dirty="0" smtClean="0">
                <a:solidFill>
                  <a:srgbClr val="002060"/>
                </a:solidFill>
              </a:rPr>
              <a:t>"</a:t>
            </a:r>
            <a:r>
              <a:rPr lang="en-US" b="1" dirty="0" smtClean="0">
                <a:solidFill>
                  <a:srgbClr val="7030A0"/>
                </a:solidFill>
              </a:rPr>
              <a:t>&gt;</a:t>
            </a:r>
            <a:r>
              <a:rPr lang="en-US" b="1" dirty="0" smtClean="0"/>
              <a:t>Volvo</a:t>
            </a:r>
            <a:r>
              <a:rPr lang="en-US" b="1" dirty="0" smtClean="0">
                <a:solidFill>
                  <a:srgbClr val="7030A0"/>
                </a:solidFill>
              </a:rPr>
              <a:t>&lt;/option&gt;</a:t>
            </a:r>
          </a:p>
          <a:p>
            <a:pPr lvl="2"/>
            <a:r>
              <a:rPr lang="en-US" b="1" dirty="0" smtClean="0">
                <a:solidFill>
                  <a:srgbClr val="7030A0"/>
                </a:solidFill>
              </a:rPr>
              <a:t>&lt;option </a:t>
            </a:r>
            <a:r>
              <a:rPr lang="hy-AM" b="1" dirty="0" smtClean="0">
                <a:solidFill>
                  <a:srgbClr val="7030A0"/>
                </a:solidFill>
              </a:rPr>
              <a:t> </a:t>
            </a:r>
            <a:r>
              <a:rPr lang="en-US" b="1" dirty="0" smtClean="0">
                <a:solidFill>
                  <a:srgbClr val="002060"/>
                </a:solidFill>
              </a:rPr>
              <a:t>value="</a:t>
            </a:r>
            <a:r>
              <a:rPr lang="en-US" b="1" dirty="0" err="1" smtClean="0">
                <a:solidFill>
                  <a:srgbClr val="002060"/>
                </a:solidFill>
              </a:rPr>
              <a:t>saab</a:t>
            </a:r>
            <a:r>
              <a:rPr lang="en-US" b="1" dirty="0" smtClean="0">
                <a:solidFill>
                  <a:srgbClr val="002060"/>
                </a:solidFill>
              </a:rPr>
              <a:t>"</a:t>
            </a:r>
            <a:r>
              <a:rPr lang="en-US" b="1" dirty="0" smtClean="0">
                <a:solidFill>
                  <a:srgbClr val="7030A0"/>
                </a:solidFill>
              </a:rPr>
              <a:t>&gt;</a:t>
            </a:r>
            <a:r>
              <a:rPr lang="en-US" b="1" dirty="0" smtClean="0"/>
              <a:t>Saab</a:t>
            </a:r>
            <a:r>
              <a:rPr lang="en-US" b="1" dirty="0" smtClean="0">
                <a:solidFill>
                  <a:srgbClr val="7030A0"/>
                </a:solidFill>
              </a:rPr>
              <a:t>&lt;/option&gt;</a:t>
            </a:r>
          </a:p>
          <a:p>
            <a:pPr lvl="2"/>
            <a:r>
              <a:rPr lang="en-US" b="1" dirty="0" smtClean="0">
                <a:solidFill>
                  <a:srgbClr val="7030A0"/>
                </a:solidFill>
              </a:rPr>
              <a:t>&lt;option </a:t>
            </a:r>
            <a:r>
              <a:rPr lang="hy-AM" b="1" dirty="0" smtClean="0">
                <a:solidFill>
                  <a:srgbClr val="7030A0"/>
                </a:solidFill>
              </a:rPr>
              <a:t> </a:t>
            </a:r>
            <a:r>
              <a:rPr lang="en-US" b="1" dirty="0" smtClean="0">
                <a:solidFill>
                  <a:srgbClr val="002060"/>
                </a:solidFill>
              </a:rPr>
              <a:t>value="fiat"</a:t>
            </a:r>
            <a:r>
              <a:rPr lang="en-US" b="1" dirty="0" smtClean="0">
                <a:solidFill>
                  <a:srgbClr val="7030A0"/>
                </a:solidFill>
              </a:rPr>
              <a:t>&gt;</a:t>
            </a:r>
            <a:r>
              <a:rPr lang="en-US" b="1" dirty="0" smtClean="0"/>
              <a:t>Fiat</a:t>
            </a:r>
            <a:r>
              <a:rPr lang="en-US" b="1" dirty="0" smtClean="0">
                <a:solidFill>
                  <a:srgbClr val="7030A0"/>
                </a:solidFill>
              </a:rPr>
              <a:t>&lt;/option&gt;</a:t>
            </a:r>
          </a:p>
          <a:p>
            <a:pPr lvl="2"/>
            <a:r>
              <a:rPr lang="en-US" b="1" dirty="0" smtClean="0">
                <a:solidFill>
                  <a:srgbClr val="7030A0"/>
                </a:solidFill>
              </a:rPr>
              <a:t>&lt;option </a:t>
            </a:r>
            <a:r>
              <a:rPr lang="hy-AM" b="1" dirty="0" smtClean="0">
                <a:solidFill>
                  <a:srgbClr val="7030A0"/>
                </a:solidFill>
              </a:rPr>
              <a:t> </a:t>
            </a:r>
            <a:r>
              <a:rPr lang="en-US" b="1" dirty="0" smtClean="0">
                <a:solidFill>
                  <a:srgbClr val="002060"/>
                </a:solidFill>
              </a:rPr>
              <a:t>value="</a:t>
            </a:r>
            <a:r>
              <a:rPr lang="en-US" b="1" dirty="0" err="1" smtClean="0">
                <a:solidFill>
                  <a:srgbClr val="002060"/>
                </a:solidFill>
              </a:rPr>
              <a:t>audi</a:t>
            </a:r>
            <a:r>
              <a:rPr lang="en-US" b="1" dirty="0" smtClean="0">
                <a:solidFill>
                  <a:srgbClr val="002060"/>
                </a:solidFill>
              </a:rPr>
              <a:t>"</a:t>
            </a:r>
            <a:r>
              <a:rPr lang="en-US" b="1" dirty="0" smtClean="0">
                <a:solidFill>
                  <a:srgbClr val="7030A0"/>
                </a:solidFill>
              </a:rPr>
              <a:t>&gt;</a:t>
            </a:r>
            <a:r>
              <a:rPr lang="en-US" b="1" dirty="0" smtClean="0"/>
              <a:t>Audi</a:t>
            </a:r>
            <a:r>
              <a:rPr lang="en-US" b="1" dirty="0" smtClean="0">
                <a:solidFill>
                  <a:srgbClr val="7030A0"/>
                </a:solidFill>
              </a:rPr>
              <a:t>&lt;/option&gt;</a:t>
            </a:r>
          </a:p>
          <a:p>
            <a:pPr lvl="1"/>
            <a:r>
              <a:rPr lang="en-US" b="1" dirty="0" smtClean="0">
                <a:solidFill>
                  <a:srgbClr val="00B050"/>
                </a:solidFill>
              </a:rPr>
              <a:t>&lt;/select&gt;</a:t>
            </a:r>
            <a:endParaRPr lang="hy-AM" b="1" dirty="0" smtClean="0">
              <a:solidFill>
                <a:srgbClr val="00B050"/>
              </a:solidFill>
            </a:endParaRPr>
          </a:p>
          <a:p>
            <a:r>
              <a:rPr lang="hy-AM" b="1" dirty="0" smtClean="0">
                <a:solidFill>
                  <a:srgbClr val="FF0000"/>
                </a:solidFill>
              </a:rPr>
              <a:t>&lt;/form&gt;</a:t>
            </a:r>
            <a:endParaRPr lang="en-US" b="1" dirty="0" smtClean="0">
              <a:solidFill>
                <a:srgbClr val="FF0000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755576" y="3140968"/>
            <a:ext cx="103425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hy-AM" sz="24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Select:</a:t>
            </a:r>
            <a:endParaRPr lang="en-US" sz="2400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chemeClr val="accent2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83568" y="260648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HTML</a:t>
            </a:r>
            <a:r>
              <a:rPr lang="en-US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– </a:t>
            </a:r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Forms</a:t>
            </a:r>
            <a:endParaRPr lang="en-US" sz="4800" dirty="0" smtClean="0"/>
          </a:p>
        </p:txBody>
      </p:sp>
      <p:sp>
        <p:nvSpPr>
          <p:cNvPr id="13" name="TextBox 12"/>
          <p:cNvSpPr txBox="1"/>
          <p:nvPr/>
        </p:nvSpPr>
        <p:spPr>
          <a:xfrm>
            <a:off x="611560" y="1988840"/>
            <a:ext cx="7776864" cy="3416320"/>
          </a:xfrm>
          <a:prstGeom prst="rect">
            <a:avLst/>
          </a:prstGeom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&lt;form &gt;</a:t>
            </a:r>
          </a:p>
          <a:p>
            <a:pPr lvl="1"/>
            <a:r>
              <a:rPr lang="en-US" b="1" dirty="0" smtClean="0">
                <a:solidFill>
                  <a:srgbClr val="00B050"/>
                </a:solidFill>
              </a:rPr>
              <a:t>&lt;select </a:t>
            </a:r>
            <a:r>
              <a:rPr lang="hy-AM" b="1" dirty="0" smtClean="0">
                <a:solidFill>
                  <a:srgbClr val="00B050"/>
                </a:solidFill>
              </a:rPr>
              <a:t> </a:t>
            </a:r>
            <a:r>
              <a:rPr lang="en-US" b="1" dirty="0" smtClean="0">
                <a:solidFill>
                  <a:srgbClr val="0070C0"/>
                </a:solidFill>
              </a:rPr>
              <a:t>name="cars"</a:t>
            </a:r>
            <a:r>
              <a:rPr lang="en-US" b="1" dirty="0" smtClean="0">
                <a:solidFill>
                  <a:srgbClr val="00B050"/>
                </a:solidFill>
              </a:rPr>
              <a:t>&gt;</a:t>
            </a:r>
            <a:endParaRPr lang="hy-AM" b="1" dirty="0" smtClean="0">
              <a:solidFill>
                <a:srgbClr val="00B050"/>
              </a:solidFill>
            </a:endParaRPr>
          </a:p>
          <a:p>
            <a:pPr lvl="1"/>
            <a:r>
              <a:rPr lang="hy-AM" b="1" dirty="0" smtClean="0">
                <a:solidFill>
                  <a:srgbClr val="00B050"/>
                </a:solidFill>
              </a:rPr>
              <a:t>	</a:t>
            </a:r>
            <a:r>
              <a:rPr lang="en-US" b="1" dirty="0" smtClean="0">
                <a:solidFill>
                  <a:srgbClr val="FF0000"/>
                </a:solidFill>
              </a:rPr>
              <a:t> &lt;</a:t>
            </a:r>
            <a:r>
              <a:rPr lang="en-US" b="1" dirty="0" err="1" smtClean="0">
                <a:solidFill>
                  <a:srgbClr val="FF0000"/>
                </a:solidFill>
              </a:rPr>
              <a:t>optgroup</a:t>
            </a:r>
            <a:r>
              <a:rPr lang="en-US" b="1" dirty="0" smtClean="0">
                <a:solidFill>
                  <a:srgbClr val="FF0000"/>
                </a:solidFill>
              </a:rPr>
              <a:t>  </a:t>
            </a:r>
            <a:r>
              <a:rPr lang="en-US" b="1" dirty="0" smtClean="0">
                <a:solidFill>
                  <a:srgbClr val="00B0F0"/>
                </a:solidFill>
              </a:rPr>
              <a:t>label="Swedish Cars"</a:t>
            </a:r>
            <a:r>
              <a:rPr lang="en-US" b="1" dirty="0" smtClean="0">
                <a:solidFill>
                  <a:srgbClr val="FF0000"/>
                </a:solidFill>
              </a:rPr>
              <a:t>&gt;</a:t>
            </a:r>
          </a:p>
          <a:p>
            <a:pPr lvl="2"/>
            <a:r>
              <a:rPr lang="en-US" b="1" dirty="0" smtClean="0">
                <a:solidFill>
                  <a:srgbClr val="7030A0"/>
                </a:solidFill>
              </a:rPr>
              <a:t>	&lt;option </a:t>
            </a:r>
            <a:r>
              <a:rPr lang="hy-AM" b="1" dirty="0" smtClean="0">
                <a:solidFill>
                  <a:srgbClr val="7030A0"/>
                </a:solidFill>
              </a:rPr>
              <a:t> </a:t>
            </a:r>
            <a:r>
              <a:rPr lang="en-US" b="1" dirty="0" smtClean="0">
                <a:solidFill>
                  <a:srgbClr val="002060"/>
                </a:solidFill>
              </a:rPr>
              <a:t>value="</a:t>
            </a:r>
            <a:r>
              <a:rPr lang="en-US" b="1" dirty="0" err="1" smtClean="0">
                <a:solidFill>
                  <a:srgbClr val="002060"/>
                </a:solidFill>
              </a:rPr>
              <a:t>volvo</a:t>
            </a:r>
            <a:r>
              <a:rPr lang="en-US" b="1" dirty="0" smtClean="0">
                <a:solidFill>
                  <a:srgbClr val="002060"/>
                </a:solidFill>
              </a:rPr>
              <a:t>"</a:t>
            </a:r>
            <a:r>
              <a:rPr lang="en-US" b="1" dirty="0" smtClean="0">
                <a:solidFill>
                  <a:srgbClr val="7030A0"/>
                </a:solidFill>
              </a:rPr>
              <a:t>&gt;</a:t>
            </a:r>
            <a:r>
              <a:rPr lang="en-US" b="1" dirty="0" smtClean="0"/>
              <a:t>Volvo</a:t>
            </a:r>
            <a:r>
              <a:rPr lang="en-US" b="1" dirty="0" smtClean="0">
                <a:solidFill>
                  <a:srgbClr val="7030A0"/>
                </a:solidFill>
              </a:rPr>
              <a:t>&lt;/option&gt;</a:t>
            </a:r>
          </a:p>
          <a:p>
            <a:pPr lvl="2"/>
            <a:r>
              <a:rPr lang="en-US" b="1" dirty="0" smtClean="0">
                <a:solidFill>
                  <a:srgbClr val="7030A0"/>
                </a:solidFill>
              </a:rPr>
              <a:t>	&lt;option </a:t>
            </a:r>
            <a:r>
              <a:rPr lang="hy-AM" b="1" dirty="0" smtClean="0">
                <a:solidFill>
                  <a:srgbClr val="7030A0"/>
                </a:solidFill>
              </a:rPr>
              <a:t> </a:t>
            </a:r>
            <a:r>
              <a:rPr lang="en-US" b="1" dirty="0" smtClean="0">
                <a:solidFill>
                  <a:srgbClr val="002060"/>
                </a:solidFill>
              </a:rPr>
              <a:t>value="</a:t>
            </a:r>
            <a:r>
              <a:rPr lang="en-US" b="1" dirty="0" err="1" smtClean="0">
                <a:solidFill>
                  <a:srgbClr val="002060"/>
                </a:solidFill>
              </a:rPr>
              <a:t>saab</a:t>
            </a:r>
            <a:r>
              <a:rPr lang="en-US" b="1" dirty="0" smtClean="0">
                <a:solidFill>
                  <a:srgbClr val="002060"/>
                </a:solidFill>
              </a:rPr>
              <a:t>"</a:t>
            </a:r>
            <a:r>
              <a:rPr lang="en-US" b="1" dirty="0" smtClean="0">
                <a:solidFill>
                  <a:srgbClr val="7030A0"/>
                </a:solidFill>
              </a:rPr>
              <a:t>&gt;</a:t>
            </a:r>
            <a:r>
              <a:rPr lang="en-US" b="1" dirty="0" smtClean="0"/>
              <a:t>Saab</a:t>
            </a:r>
            <a:r>
              <a:rPr lang="en-US" b="1" dirty="0" smtClean="0">
                <a:solidFill>
                  <a:srgbClr val="7030A0"/>
                </a:solidFill>
              </a:rPr>
              <a:t>&lt;/option&gt;</a:t>
            </a:r>
            <a:endParaRPr lang="hy-AM" b="1" dirty="0" smtClean="0">
              <a:solidFill>
                <a:srgbClr val="7030A0"/>
              </a:solidFill>
            </a:endParaRPr>
          </a:p>
          <a:p>
            <a:pPr lvl="2"/>
            <a:r>
              <a:rPr lang="en-US" b="1" dirty="0" smtClean="0">
                <a:solidFill>
                  <a:srgbClr val="FF0000"/>
                </a:solidFill>
              </a:rPr>
              <a:t>&lt;</a:t>
            </a:r>
            <a:r>
              <a:rPr lang="hy-AM" b="1" dirty="0" smtClean="0">
                <a:solidFill>
                  <a:srgbClr val="FF0000"/>
                </a:solidFill>
              </a:rPr>
              <a:t>/</a:t>
            </a:r>
            <a:r>
              <a:rPr lang="en-US" b="1" dirty="0" err="1" smtClean="0">
                <a:solidFill>
                  <a:srgbClr val="FF0000"/>
                </a:solidFill>
              </a:rPr>
              <a:t>optgroup</a:t>
            </a:r>
            <a:r>
              <a:rPr lang="hy-AM" b="1" dirty="0" smtClean="0">
                <a:solidFill>
                  <a:srgbClr val="FF0000"/>
                </a:solidFill>
              </a:rPr>
              <a:t>&gt;</a:t>
            </a:r>
          </a:p>
          <a:p>
            <a:pPr lvl="2"/>
            <a:r>
              <a:rPr lang="en-US" b="1" dirty="0" smtClean="0">
                <a:solidFill>
                  <a:srgbClr val="FF0000"/>
                </a:solidFill>
              </a:rPr>
              <a:t>&lt;</a:t>
            </a:r>
            <a:r>
              <a:rPr lang="en-US" b="1" dirty="0" err="1" smtClean="0">
                <a:solidFill>
                  <a:srgbClr val="FF0000"/>
                </a:solidFill>
              </a:rPr>
              <a:t>optgroup</a:t>
            </a:r>
            <a:r>
              <a:rPr lang="en-US" b="1" dirty="0" smtClean="0">
                <a:solidFill>
                  <a:srgbClr val="FF0000"/>
                </a:solidFill>
              </a:rPr>
              <a:t>  </a:t>
            </a:r>
            <a:r>
              <a:rPr lang="en-US" b="1" dirty="0" smtClean="0">
                <a:solidFill>
                  <a:srgbClr val="00B0F0"/>
                </a:solidFill>
              </a:rPr>
              <a:t>label="German Cars"</a:t>
            </a:r>
            <a:r>
              <a:rPr lang="en-US" b="1" dirty="0" smtClean="0">
                <a:solidFill>
                  <a:srgbClr val="FF0000"/>
                </a:solidFill>
              </a:rPr>
              <a:t>&gt;</a:t>
            </a:r>
          </a:p>
          <a:p>
            <a:pPr lvl="2"/>
            <a:r>
              <a:rPr lang="en-US" b="1" dirty="0" smtClean="0">
                <a:solidFill>
                  <a:srgbClr val="7030A0"/>
                </a:solidFill>
              </a:rPr>
              <a:t>	&lt;option </a:t>
            </a:r>
            <a:r>
              <a:rPr lang="hy-AM" b="1" dirty="0" smtClean="0">
                <a:solidFill>
                  <a:srgbClr val="7030A0"/>
                </a:solidFill>
              </a:rPr>
              <a:t> </a:t>
            </a:r>
            <a:r>
              <a:rPr lang="en-US" b="1" dirty="0" smtClean="0">
                <a:solidFill>
                  <a:srgbClr val="002060"/>
                </a:solidFill>
              </a:rPr>
              <a:t>value=“</a:t>
            </a:r>
            <a:r>
              <a:rPr lang="hy-AM" b="1" dirty="0" smtClean="0">
                <a:solidFill>
                  <a:srgbClr val="002060"/>
                </a:solidFill>
              </a:rPr>
              <a:t>mercedes</a:t>
            </a:r>
            <a:r>
              <a:rPr lang="en-US" b="1" dirty="0" smtClean="0">
                <a:solidFill>
                  <a:srgbClr val="002060"/>
                </a:solidFill>
              </a:rPr>
              <a:t>"</a:t>
            </a:r>
            <a:r>
              <a:rPr lang="en-US" b="1" dirty="0" smtClean="0">
                <a:solidFill>
                  <a:srgbClr val="7030A0"/>
                </a:solidFill>
              </a:rPr>
              <a:t>&gt;</a:t>
            </a:r>
            <a:r>
              <a:rPr lang="en-US" b="1" dirty="0" smtClean="0"/>
              <a:t>Mercedes</a:t>
            </a:r>
            <a:r>
              <a:rPr lang="en-US" b="1" dirty="0" smtClean="0">
                <a:solidFill>
                  <a:srgbClr val="7030A0"/>
                </a:solidFill>
              </a:rPr>
              <a:t>&lt;/option&gt;</a:t>
            </a:r>
          </a:p>
          <a:p>
            <a:pPr lvl="2"/>
            <a:r>
              <a:rPr lang="en-US" b="1" dirty="0" smtClean="0">
                <a:solidFill>
                  <a:srgbClr val="7030A0"/>
                </a:solidFill>
              </a:rPr>
              <a:t>	&lt;option </a:t>
            </a:r>
            <a:r>
              <a:rPr lang="hy-AM" b="1" dirty="0" smtClean="0">
                <a:solidFill>
                  <a:srgbClr val="7030A0"/>
                </a:solidFill>
              </a:rPr>
              <a:t> </a:t>
            </a:r>
            <a:r>
              <a:rPr lang="en-US" b="1" dirty="0" smtClean="0">
                <a:solidFill>
                  <a:srgbClr val="002060"/>
                </a:solidFill>
              </a:rPr>
              <a:t>value="</a:t>
            </a:r>
            <a:r>
              <a:rPr lang="en-US" b="1" dirty="0" err="1" smtClean="0">
                <a:solidFill>
                  <a:srgbClr val="002060"/>
                </a:solidFill>
              </a:rPr>
              <a:t>audi</a:t>
            </a:r>
            <a:r>
              <a:rPr lang="en-US" b="1" dirty="0" smtClean="0">
                <a:solidFill>
                  <a:srgbClr val="002060"/>
                </a:solidFill>
              </a:rPr>
              <a:t>"</a:t>
            </a:r>
            <a:r>
              <a:rPr lang="en-US" b="1" dirty="0" smtClean="0">
                <a:solidFill>
                  <a:srgbClr val="7030A0"/>
                </a:solidFill>
              </a:rPr>
              <a:t> &gt;</a:t>
            </a:r>
            <a:r>
              <a:rPr lang="hy-AM" b="1" dirty="0" smtClean="0">
                <a:solidFill>
                  <a:srgbClr val="002060"/>
                </a:solidFill>
              </a:rPr>
              <a:t>  </a:t>
            </a:r>
            <a:r>
              <a:rPr lang="en-US" b="1" dirty="0" smtClean="0"/>
              <a:t>Audi</a:t>
            </a:r>
            <a:r>
              <a:rPr lang="en-US" b="1" dirty="0" smtClean="0">
                <a:solidFill>
                  <a:srgbClr val="7030A0"/>
                </a:solidFill>
              </a:rPr>
              <a:t>&lt;/option&gt;</a:t>
            </a:r>
            <a:endParaRPr lang="hy-AM" b="1" dirty="0" smtClean="0">
              <a:solidFill>
                <a:srgbClr val="7030A0"/>
              </a:solidFill>
            </a:endParaRPr>
          </a:p>
          <a:p>
            <a:pPr lvl="2"/>
            <a:r>
              <a:rPr lang="en-US" b="1" dirty="0" smtClean="0">
                <a:solidFill>
                  <a:srgbClr val="FF0000"/>
                </a:solidFill>
              </a:rPr>
              <a:t>&lt;</a:t>
            </a:r>
            <a:r>
              <a:rPr lang="hy-AM" b="1" dirty="0" smtClean="0">
                <a:solidFill>
                  <a:srgbClr val="FF0000"/>
                </a:solidFill>
              </a:rPr>
              <a:t>/</a:t>
            </a:r>
            <a:r>
              <a:rPr lang="en-US" b="1" dirty="0" err="1" smtClean="0">
                <a:solidFill>
                  <a:srgbClr val="FF0000"/>
                </a:solidFill>
              </a:rPr>
              <a:t>optgroup</a:t>
            </a:r>
            <a:r>
              <a:rPr lang="hy-AM" b="1" dirty="0" smtClean="0">
                <a:solidFill>
                  <a:srgbClr val="FF0000"/>
                </a:solidFill>
              </a:rPr>
              <a:t>&gt;</a:t>
            </a:r>
            <a:endParaRPr lang="en-US" b="1" dirty="0" smtClean="0">
              <a:solidFill>
                <a:srgbClr val="FF0000"/>
              </a:solidFill>
            </a:endParaRPr>
          </a:p>
          <a:p>
            <a:pPr lvl="1"/>
            <a:r>
              <a:rPr lang="en-US" b="1" dirty="0" smtClean="0">
                <a:solidFill>
                  <a:srgbClr val="00B050"/>
                </a:solidFill>
              </a:rPr>
              <a:t>&lt;/select&gt;</a:t>
            </a:r>
            <a:endParaRPr lang="hy-AM" b="1" dirty="0" smtClean="0">
              <a:solidFill>
                <a:srgbClr val="00B050"/>
              </a:solidFill>
            </a:endParaRPr>
          </a:p>
          <a:p>
            <a:r>
              <a:rPr lang="hy-AM" b="1" dirty="0" smtClean="0">
                <a:solidFill>
                  <a:srgbClr val="FF0000"/>
                </a:solidFill>
              </a:rPr>
              <a:t>&lt;/form&gt;</a:t>
            </a:r>
            <a:endParaRPr lang="en-US" b="1" dirty="0" smtClean="0">
              <a:solidFill>
                <a:srgbClr val="FF0000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83568" y="1340768"/>
            <a:ext cx="25808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hy-AM" sz="24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Select (optgroup):</a:t>
            </a:r>
            <a:endParaRPr lang="en-US" sz="2400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chemeClr val="accent2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683568" y="260648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HTML</a:t>
            </a:r>
            <a:r>
              <a:rPr lang="en-US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– </a:t>
            </a:r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Forms</a:t>
            </a:r>
            <a:endParaRPr lang="en-US" sz="4800" dirty="0" smtClean="0"/>
          </a:p>
        </p:txBody>
      </p:sp>
      <p:sp>
        <p:nvSpPr>
          <p:cNvPr id="12" name="TextBox 11"/>
          <p:cNvSpPr txBox="1"/>
          <p:nvPr/>
        </p:nvSpPr>
        <p:spPr>
          <a:xfrm>
            <a:off x="611560" y="1988840"/>
            <a:ext cx="6984776" cy="2585323"/>
          </a:xfrm>
          <a:prstGeom prst="rect">
            <a:avLst/>
          </a:prstGeom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&lt;form &gt;</a:t>
            </a:r>
            <a:endParaRPr lang="hy-AM" b="1" dirty="0" smtClean="0">
              <a:solidFill>
                <a:srgbClr val="FF0000"/>
              </a:solidFill>
            </a:endParaRPr>
          </a:p>
          <a:p>
            <a:r>
              <a:rPr lang="en-US" b="1" dirty="0">
                <a:solidFill>
                  <a:srgbClr val="FF0000"/>
                </a:solidFill>
              </a:rPr>
              <a:t>	</a:t>
            </a:r>
            <a:r>
              <a:rPr lang="en-US" b="1" dirty="0" smtClean="0">
                <a:solidFill>
                  <a:srgbClr val="00B050"/>
                </a:solidFill>
              </a:rPr>
              <a:t>&lt;</a:t>
            </a:r>
            <a:r>
              <a:rPr lang="en-US" b="1" dirty="0" err="1" smtClean="0">
                <a:solidFill>
                  <a:srgbClr val="00B050"/>
                </a:solidFill>
              </a:rPr>
              <a:t>fieldset</a:t>
            </a:r>
            <a:r>
              <a:rPr lang="en-US" b="1" dirty="0" smtClean="0">
                <a:solidFill>
                  <a:srgbClr val="00B050"/>
                </a:solidFill>
              </a:rPr>
              <a:t>&gt;</a:t>
            </a:r>
          </a:p>
          <a:p>
            <a:pPr lvl="2"/>
            <a:r>
              <a:rPr lang="hy-AM" b="1" dirty="0" smtClean="0">
                <a:solidFill>
                  <a:srgbClr val="FF0000"/>
                </a:solidFill>
              </a:rPr>
              <a:t>	</a:t>
            </a:r>
            <a:r>
              <a:rPr lang="en-US" b="1" dirty="0" smtClean="0">
                <a:solidFill>
                  <a:srgbClr val="0070C0"/>
                </a:solidFill>
              </a:rPr>
              <a:t>&lt;legend&gt;</a:t>
            </a:r>
            <a:r>
              <a:rPr lang="hy-AM" b="1" dirty="0" smtClean="0">
                <a:solidFill>
                  <a:srgbClr val="0070C0"/>
                </a:solidFill>
              </a:rPr>
              <a:t> </a:t>
            </a:r>
            <a:r>
              <a:rPr lang="en-US" b="1" dirty="0" smtClean="0">
                <a:solidFill>
                  <a:schemeClr val="tx1"/>
                </a:solidFill>
              </a:rPr>
              <a:t>Personal information:</a:t>
            </a:r>
            <a:r>
              <a:rPr lang="hy-AM" b="1" dirty="0" smtClean="0">
                <a:solidFill>
                  <a:schemeClr val="tx1"/>
                </a:solidFill>
              </a:rPr>
              <a:t> </a:t>
            </a:r>
            <a:r>
              <a:rPr lang="en-US" b="1" dirty="0" smtClean="0">
                <a:solidFill>
                  <a:srgbClr val="0070C0"/>
                </a:solidFill>
              </a:rPr>
              <a:t>&lt;/legend&gt;</a:t>
            </a:r>
          </a:p>
          <a:p>
            <a:pPr lvl="2"/>
            <a:r>
              <a:rPr lang="hy-AM" b="1" dirty="0" smtClean="0">
                <a:solidFill>
                  <a:srgbClr val="FF0000"/>
                </a:solidFill>
              </a:rPr>
              <a:t>	</a:t>
            </a:r>
            <a:r>
              <a:rPr lang="en-US" b="1" dirty="0" smtClean="0">
                <a:solidFill>
                  <a:schemeClr val="tx1"/>
                </a:solidFill>
              </a:rPr>
              <a:t>Name: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smtClean="0">
                <a:solidFill>
                  <a:srgbClr val="00B050"/>
                </a:solidFill>
              </a:rPr>
              <a:t>&lt;input </a:t>
            </a:r>
            <a:r>
              <a:rPr lang="en-US" b="1" dirty="0" smtClean="0">
                <a:solidFill>
                  <a:srgbClr val="0070C0"/>
                </a:solidFill>
              </a:rPr>
              <a:t>type="text" </a:t>
            </a:r>
            <a:r>
              <a:rPr lang="en-US" b="1" dirty="0" smtClean="0">
                <a:solidFill>
                  <a:srgbClr val="7030A0"/>
                </a:solidFill>
              </a:rPr>
              <a:t>size="30"</a:t>
            </a:r>
            <a:r>
              <a:rPr lang="en-US" b="1" dirty="0" smtClean="0">
                <a:solidFill>
                  <a:srgbClr val="00B050"/>
                </a:solidFill>
              </a:rPr>
              <a:t>&gt;</a:t>
            </a:r>
            <a:r>
              <a:rPr lang="hy-AM" b="1" dirty="0" smtClean="0">
                <a:solidFill>
                  <a:srgbClr val="7030A0"/>
                </a:solidFill>
              </a:rPr>
              <a:t> </a:t>
            </a:r>
            <a:r>
              <a:rPr lang="en-US" b="1" dirty="0" smtClean="0">
                <a:solidFill>
                  <a:srgbClr val="FF0000"/>
                </a:solidFill>
              </a:rPr>
              <a:t>&lt;</a:t>
            </a:r>
            <a:r>
              <a:rPr lang="en-US" b="1" dirty="0" err="1" smtClean="0">
                <a:solidFill>
                  <a:srgbClr val="FF0000"/>
                </a:solidFill>
              </a:rPr>
              <a:t>br</a:t>
            </a:r>
            <a:r>
              <a:rPr lang="en-US" b="1" dirty="0" smtClean="0">
                <a:solidFill>
                  <a:srgbClr val="FF0000"/>
                </a:solidFill>
              </a:rPr>
              <a:t>&gt;</a:t>
            </a:r>
          </a:p>
          <a:p>
            <a:pPr lvl="2"/>
            <a:r>
              <a:rPr lang="hy-AM" b="1" dirty="0" smtClean="0">
                <a:solidFill>
                  <a:srgbClr val="FF0000"/>
                </a:solidFill>
              </a:rPr>
              <a:t>	</a:t>
            </a:r>
            <a:r>
              <a:rPr lang="en-US" b="1" dirty="0" smtClean="0">
                <a:solidFill>
                  <a:schemeClr val="tx1"/>
                </a:solidFill>
              </a:rPr>
              <a:t>E-mail: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smtClean="0">
                <a:solidFill>
                  <a:srgbClr val="00B050"/>
                </a:solidFill>
              </a:rPr>
              <a:t>&lt;input </a:t>
            </a:r>
            <a:r>
              <a:rPr lang="en-US" b="1" dirty="0" smtClean="0">
                <a:solidFill>
                  <a:srgbClr val="0070C0"/>
                </a:solidFill>
              </a:rPr>
              <a:t>type="text" </a:t>
            </a:r>
            <a:r>
              <a:rPr lang="en-US" b="1" dirty="0" smtClean="0">
                <a:solidFill>
                  <a:srgbClr val="7030A0"/>
                </a:solidFill>
              </a:rPr>
              <a:t>size="30"</a:t>
            </a:r>
            <a:r>
              <a:rPr lang="en-US" b="1" dirty="0" smtClean="0">
                <a:solidFill>
                  <a:srgbClr val="00B050"/>
                </a:solidFill>
              </a:rPr>
              <a:t>&gt;</a:t>
            </a:r>
            <a:r>
              <a:rPr lang="hy-AM" b="1" dirty="0" smtClean="0">
                <a:solidFill>
                  <a:srgbClr val="00B050"/>
                </a:solidFill>
              </a:rPr>
              <a:t> </a:t>
            </a:r>
            <a:r>
              <a:rPr lang="en-US" b="1" dirty="0" smtClean="0">
                <a:solidFill>
                  <a:srgbClr val="FF0000"/>
                </a:solidFill>
              </a:rPr>
              <a:t>&lt;</a:t>
            </a:r>
            <a:r>
              <a:rPr lang="en-US" b="1" dirty="0" err="1" smtClean="0">
                <a:solidFill>
                  <a:srgbClr val="FF0000"/>
                </a:solidFill>
              </a:rPr>
              <a:t>br</a:t>
            </a:r>
            <a:r>
              <a:rPr lang="en-US" b="1" dirty="0" smtClean="0">
                <a:solidFill>
                  <a:srgbClr val="FF0000"/>
                </a:solidFill>
              </a:rPr>
              <a:t>&gt;</a:t>
            </a:r>
          </a:p>
          <a:p>
            <a:pPr lvl="2"/>
            <a:r>
              <a:rPr lang="hy-AM" b="1" dirty="0" smtClean="0">
                <a:solidFill>
                  <a:srgbClr val="FF0000"/>
                </a:solidFill>
              </a:rPr>
              <a:t>	</a:t>
            </a:r>
            <a:r>
              <a:rPr lang="en-US" b="1" dirty="0" smtClean="0">
                <a:solidFill>
                  <a:schemeClr val="tx1"/>
                </a:solidFill>
              </a:rPr>
              <a:t>Date of birth: </a:t>
            </a:r>
            <a:r>
              <a:rPr lang="en-US" b="1" dirty="0" smtClean="0">
                <a:solidFill>
                  <a:srgbClr val="00B050"/>
                </a:solidFill>
              </a:rPr>
              <a:t>&lt;input </a:t>
            </a:r>
            <a:r>
              <a:rPr lang="en-US" b="1" dirty="0" smtClean="0">
                <a:solidFill>
                  <a:srgbClr val="0070C0"/>
                </a:solidFill>
              </a:rPr>
              <a:t>type="text" </a:t>
            </a:r>
            <a:r>
              <a:rPr lang="en-US" b="1" dirty="0" smtClean="0">
                <a:solidFill>
                  <a:srgbClr val="7030A0"/>
                </a:solidFill>
              </a:rPr>
              <a:t>size="10"</a:t>
            </a:r>
            <a:r>
              <a:rPr lang="en-US" b="1" dirty="0" smtClean="0">
                <a:solidFill>
                  <a:srgbClr val="00B050"/>
                </a:solidFill>
              </a:rPr>
              <a:t>&gt;</a:t>
            </a:r>
          </a:p>
          <a:p>
            <a:r>
              <a:rPr lang="hy-AM" b="1" dirty="0" smtClean="0">
                <a:solidFill>
                  <a:srgbClr val="00B050"/>
                </a:solidFill>
              </a:rPr>
              <a:t>	</a:t>
            </a:r>
            <a:r>
              <a:rPr lang="en-US" b="1" dirty="0" smtClean="0">
                <a:solidFill>
                  <a:srgbClr val="00B050"/>
                </a:solidFill>
              </a:rPr>
              <a:t>&lt;/</a:t>
            </a:r>
            <a:r>
              <a:rPr lang="en-US" b="1" dirty="0" err="1" smtClean="0">
                <a:solidFill>
                  <a:srgbClr val="00B050"/>
                </a:solidFill>
              </a:rPr>
              <a:t>fieldset</a:t>
            </a:r>
            <a:r>
              <a:rPr lang="en-US" b="1" dirty="0" smtClean="0">
                <a:solidFill>
                  <a:srgbClr val="00B050"/>
                </a:solidFill>
              </a:rPr>
              <a:t>&gt;</a:t>
            </a:r>
            <a:endParaRPr lang="hy-AM" b="1" dirty="0" smtClean="0">
              <a:solidFill>
                <a:srgbClr val="00B05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r>
              <a:rPr lang="hy-AM" b="1" dirty="0" smtClean="0">
                <a:solidFill>
                  <a:srgbClr val="FF0000"/>
                </a:solidFill>
              </a:rPr>
              <a:t>&lt;/form&gt;</a:t>
            </a:r>
            <a:endParaRPr lang="en-US" b="1" dirty="0" smtClean="0">
              <a:solidFill>
                <a:srgbClr val="FF0000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83568" y="1340768"/>
            <a:ext cx="11945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hy-AM" sz="24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Fieldset</a:t>
            </a:r>
            <a:endParaRPr lang="en-US" sz="2400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chemeClr val="accent2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683568" y="260648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HTML</a:t>
            </a:r>
            <a:r>
              <a:rPr lang="en-US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– </a:t>
            </a:r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Forms</a:t>
            </a:r>
            <a:endParaRPr lang="en-US" sz="4800" dirty="0" smtClean="0"/>
          </a:p>
        </p:txBody>
      </p:sp>
      <p:sp>
        <p:nvSpPr>
          <p:cNvPr id="13" name="Rectangle 12"/>
          <p:cNvSpPr/>
          <p:nvPr/>
        </p:nvSpPr>
        <p:spPr>
          <a:xfrm>
            <a:off x="683568" y="1340768"/>
            <a:ext cx="350288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hy-AM" sz="24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Selected and checked:</a:t>
            </a:r>
            <a:endParaRPr lang="en-US" sz="2400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chemeClr val="accent2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95536" y="1988840"/>
            <a:ext cx="8208912" cy="1754326"/>
          </a:xfrm>
          <a:prstGeom prst="rect">
            <a:avLst/>
          </a:prstGeom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hy-AM" b="1" dirty="0" smtClean="0">
                <a:solidFill>
                  <a:schemeClr val="accent1"/>
                </a:solidFill>
              </a:rPr>
              <a:t>&lt;form&gt;</a:t>
            </a:r>
          </a:p>
          <a:p>
            <a:r>
              <a:rPr lang="hy-AM" b="1" dirty="0" smtClean="0"/>
              <a:t>	</a:t>
            </a:r>
            <a:r>
              <a:rPr lang="en-US" b="1" dirty="0" smtClean="0"/>
              <a:t> </a:t>
            </a:r>
            <a:r>
              <a:rPr lang="en-US" b="1" dirty="0" smtClean="0">
                <a:solidFill>
                  <a:srgbClr val="00B050"/>
                </a:solidFill>
              </a:rPr>
              <a:t>&lt;input</a:t>
            </a:r>
            <a:r>
              <a:rPr lang="en-US" b="1" dirty="0" smtClean="0"/>
              <a:t> </a:t>
            </a:r>
            <a:r>
              <a:rPr lang="hy-AM" b="1" dirty="0" smtClean="0"/>
              <a:t> </a:t>
            </a:r>
            <a:r>
              <a:rPr lang="en-US" b="1" dirty="0" smtClean="0">
                <a:solidFill>
                  <a:srgbClr val="7030A0"/>
                </a:solidFill>
              </a:rPr>
              <a:t>type= "</a:t>
            </a:r>
            <a:r>
              <a:rPr lang="hy-AM" b="1" dirty="0" smtClean="0">
                <a:solidFill>
                  <a:srgbClr val="7030A0"/>
                </a:solidFill>
              </a:rPr>
              <a:t>radio</a:t>
            </a:r>
            <a:r>
              <a:rPr lang="en-US" b="1" dirty="0" smtClean="0">
                <a:solidFill>
                  <a:srgbClr val="7030A0"/>
                </a:solidFill>
              </a:rPr>
              <a:t>" </a:t>
            </a:r>
            <a:r>
              <a:rPr lang="hy-AM" b="1" dirty="0" smtClean="0">
                <a:solidFill>
                  <a:srgbClr val="7030A0"/>
                </a:solidFill>
              </a:rPr>
              <a:t> </a:t>
            </a:r>
            <a:r>
              <a:rPr lang="en-US" b="1" dirty="0" smtClean="0">
                <a:solidFill>
                  <a:srgbClr val="00B0F0"/>
                </a:solidFill>
              </a:rPr>
              <a:t>name= "gender"</a:t>
            </a:r>
            <a:r>
              <a:rPr lang="hy-AM" b="1" dirty="0" smtClean="0">
                <a:solidFill>
                  <a:srgbClr val="00B0F0"/>
                </a:solidFill>
              </a:rPr>
              <a:t>   </a:t>
            </a:r>
            <a:r>
              <a:rPr lang="en-US" b="1" dirty="0" smtClean="0">
                <a:solidFill>
                  <a:srgbClr val="002060"/>
                </a:solidFill>
              </a:rPr>
              <a:t>value="male"</a:t>
            </a:r>
            <a:r>
              <a:rPr lang="hy-AM" b="1" dirty="0" smtClean="0">
                <a:solidFill>
                  <a:srgbClr val="002060"/>
                </a:solidFill>
              </a:rPr>
              <a:t>	</a:t>
            </a:r>
            <a:r>
              <a:rPr lang="en-US" b="1" dirty="0" smtClean="0">
                <a:solidFill>
                  <a:srgbClr val="C00000"/>
                </a:solidFill>
              </a:rPr>
              <a:t>checked="checked"</a:t>
            </a:r>
            <a:r>
              <a:rPr lang="hy-AM" b="1" dirty="0" smtClean="0">
                <a:solidFill>
                  <a:srgbClr val="C00000"/>
                </a:solidFill>
              </a:rPr>
              <a:t> </a:t>
            </a:r>
            <a:r>
              <a:rPr lang="en-US" b="1" dirty="0" smtClean="0">
                <a:solidFill>
                  <a:srgbClr val="00B050"/>
                </a:solidFill>
              </a:rPr>
              <a:t>&gt;</a:t>
            </a:r>
            <a:r>
              <a:rPr lang="hy-AM" b="1" dirty="0" smtClean="0">
                <a:solidFill>
                  <a:srgbClr val="00B050"/>
                </a:solidFill>
              </a:rPr>
              <a:t> </a:t>
            </a:r>
            <a:r>
              <a:rPr lang="hy-AM" b="1" dirty="0" smtClean="0">
                <a:solidFill>
                  <a:schemeClr val="tx1"/>
                </a:solidFill>
              </a:rPr>
              <a:t>Male</a:t>
            </a:r>
            <a:r>
              <a:rPr lang="en-US" b="1" dirty="0" smtClean="0">
                <a:solidFill>
                  <a:srgbClr val="FF0000"/>
                </a:solidFill>
              </a:rPr>
              <a:t>&lt;</a:t>
            </a:r>
            <a:r>
              <a:rPr lang="en-US" b="1" dirty="0" err="1" smtClean="0">
                <a:solidFill>
                  <a:srgbClr val="FF0000"/>
                </a:solidFill>
              </a:rPr>
              <a:t>br</a:t>
            </a:r>
            <a:r>
              <a:rPr lang="en-US" b="1" dirty="0" smtClean="0">
                <a:solidFill>
                  <a:srgbClr val="FF0000"/>
                </a:solidFill>
              </a:rPr>
              <a:t>&gt;</a:t>
            </a:r>
            <a:r>
              <a:rPr lang="en-US" b="1" dirty="0" smtClean="0"/>
              <a:t/>
            </a:r>
            <a:br>
              <a:rPr lang="en-US" b="1" dirty="0" smtClean="0"/>
            </a:br>
            <a:r>
              <a:rPr lang="hy-AM" b="1" dirty="0" smtClean="0"/>
              <a:t>	 </a:t>
            </a:r>
            <a:r>
              <a:rPr lang="en-US" b="1" dirty="0" smtClean="0">
                <a:solidFill>
                  <a:srgbClr val="00B050"/>
                </a:solidFill>
              </a:rPr>
              <a:t>&lt;input </a:t>
            </a:r>
            <a:r>
              <a:rPr lang="hy-AM" b="1" dirty="0" smtClean="0">
                <a:solidFill>
                  <a:srgbClr val="00B050"/>
                </a:solidFill>
              </a:rPr>
              <a:t> </a:t>
            </a:r>
            <a:r>
              <a:rPr lang="en-US" b="1" dirty="0" smtClean="0">
                <a:solidFill>
                  <a:srgbClr val="7030A0"/>
                </a:solidFill>
              </a:rPr>
              <a:t>type= "</a:t>
            </a:r>
            <a:r>
              <a:rPr lang="hy-AM" b="1" dirty="0" smtClean="0">
                <a:solidFill>
                  <a:srgbClr val="7030A0"/>
                </a:solidFill>
              </a:rPr>
              <a:t>radio</a:t>
            </a:r>
            <a:r>
              <a:rPr lang="en-US" b="1" dirty="0" smtClean="0">
                <a:solidFill>
                  <a:srgbClr val="7030A0"/>
                </a:solidFill>
              </a:rPr>
              <a:t>" </a:t>
            </a:r>
            <a:r>
              <a:rPr lang="hy-AM" b="1" dirty="0" smtClean="0">
                <a:solidFill>
                  <a:srgbClr val="7030A0"/>
                </a:solidFill>
              </a:rPr>
              <a:t>  </a:t>
            </a:r>
            <a:r>
              <a:rPr lang="en-US" b="1" dirty="0" smtClean="0">
                <a:solidFill>
                  <a:srgbClr val="00B0F0"/>
                </a:solidFill>
              </a:rPr>
              <a:t>name= "gender "</a:t>
            </a:r>
            <a:r>
              <a:rPr lang="hy-AM" b="1" dirty="0" smtClean="0">
                <a:solidFill>
                  <a:srgbClr val="00B0F0"/>
                </a:solidFill>
              </a:rPr>
              <a:t>   </a:t>
            </a:r>
            <a:r>
              <a:rPr lang="en-US" b="1" dirty="0" smtClean="0">
                <a:solidFill>
                  <a:srgbClr val="002060"/>
                </a:solidFill>
              </a:rPr>
              <a:t>value="</a:t>
            </a:r>
            <a:r>
              <a:rPr lang="hy-AM" b="1" dirty="0" smtClean="0">
                <a:solidFill>
                  <a:srgbClr val="002060"/>
                </a:solidFill>
              </a:rPr>
              <a:t>fe</a:t>
            </a:r>
            <a:r>
              <a:rPr lang="en-US" b="1" dirty="0" smtClean="0">
                <a:solidFill>
                  <a:srgbClr val="002060"/>
                </a:solidFill>
              </a:rPr>
              <a:t>male"</a:t>
            </a:r>
            <a:r>
              <a:rPr lang="hy-AM" b="1" dirty="0" smtClean="0">
                <a:solidFill>
                  <a:srgbClr val="002060"/>
                </a:solidFill>
              </a:rPr>
              <a:t> </a:t>
            </a:r>
            <a:r>
              <a:rPr lang="en-US" b="1" dirty="0" smtClean="0">
                <a:solidFill>
                  <a:srgbClr val="00B050"/>
                </a:solidFill>
              </a:rPr>
              <a:t>&gt;</a:t>
            </a:r>
            <a:r>
              <a:rPr lang="hy-AM" b="1" dirty="0" smtClean="0">
                <a:solidFill>
                  <a:schemeClr val="tx1"/>
                </a:solidFill>
              </a:rPr>
              <a:t>Female</a:t>
            </a:r>
          </a:p>
          <a:p>
            <a:r>
              <a:rPr lang="hy-AM" b="1" dirty="0" smtClean="0">
                <a:solidFill>
                  <a:schemeClr val="accent1"/>
                </a:solidFill>
              </a:rPr>
              <a:t>&lt;/form&gt;</a:t>
            </a:r>
            <a:endParaRPr lang="en-US" b="1" dirty="0">
              <a:solidFill>
                <a:schemeClr val="accent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95536" y="3933056"/>
            <a:ext cx="8208912" cy="1754326"/>
          </a:xfrm>
          <a:prstGeom prst="rect">
            <a:avLst/>
          </a:prstGeom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hy-AM" b="1" dirty="0" smtClean="0">
                <a:solidFill>
                  <a:schemeClr val="accent1"/>
                </a:solidFill>
              </a:rPr>
              <a:t>&lt;form&gt;</a:t>
            </a:r>
          </a:p>
          <a:p>
            <a:r>
              <a:rPr lang="hy-AM" b="1" dirty="0" smtClean="0"/>
              <a:t>	 </a:t>
            </a:r>
            <a:r>
              <a:rPr lang="en-US" b="1" dirty="0" smtClean="0">
                <a:solidFill>
                  <a:srgbClr val="00B050"/>
                </a:solidFill>
              </a:rPr>
              <a:t>&lt;input</a:t>
            </a:r>
            <a:r>
              <a:rPr lang="en-US" b="1" dirty="0" smtClean="0"/>
              <a:t> </a:t>
            </a:r>
            <a:r>
              <a:rPr lang="hy-AM" b="1" dirty="0" smtClean="0"/>
              <a:t> </a:t>
            </a:r>
            <a:r>
              <a:rPr lang="en-US" b="1" dirty="0" smtClean="0">
                <a:solidFill>
                  <a:srgbClr val="7030A0"/>
                </a:solidFill>
              </a:rPr>
              <a:t>type= "checkbox" </a:t>
            </a:r>
            <a:r>
              <a:rPr lang="hy-AM" b="1" dirty="0" smtClean="0">
                <a:solidFill>
                  <a:srgbClr val="7030A0"/>
                </a:solidFill>
              </a:rPr>
              <a:t> </a:t>
            </a:r>
            <a:r>
              <a:rPr lang="en-US" b="1" dirty="0" smtClean="0">
                <a:solidFill>
                  <a:srgbClr val="00B0F0"/>
                </a:solidFill>
              </a:rPr>
              <a:t>name= "</a:t>
            </a:r>
            <a:r>
              <a:rPr lang="hy-AM" b="1" dirty="0" smtClean="0">
                <a:solidFill>
                  <a:srgbClr val="00B0F0"/>
                </a:solidFill>
              </a:rPr>
              <a:t>a</a:t>
            </a:r>
            <a:r>
              <a:rPr lang="en-US" b="1" dirty="0" smtClean="0">
                <a:solidFill>
                  <a:srgbClr val="00B0F0"/>
                </a:solidFill>
              </a:rPr>
              <a:t>1"</a:t>
            </a:r>
            <a:r>
              <a:rPr lang="hy-AM" b="1" dirty="0" smtClean="0">
                <a:solidFill>
                  <a:srgbClr val="00B0F0"/>
                </a:solidFill>
              </a:rPr>
              <a:t>   </a:t>
            </a:r>
            <a:r>
              <a:rPr lang="en-US" b="1" dirty="0" smtClean="0">
                <a:solidFill>
                  <a:srgbClr val="002060"/>
                </a:solidFill>
              </a:rPr>
              <a:t>value= "</a:t>
            </a:r>
            <a:r>
              <a:rPr lang="hy-AM" b="1" dirty="0" smtClean="0">
                <a:solidFill>
                  <a:srgbClr val="002060"/>
                </a:solidFill>
              </a:rPr>
              <a:t>Yes</a:t>
            </a:r>
            <a:r>
              <a:rPr lang="en-US" b="1" dirty="0" smtClean="0">
                <a:solidFill>
                  <a:srgbClr val="002060"/>
                </a:solidFill>
              </a:rPr>
              <a:t>"</a:t>
            </a:r>
            <a:r>
              <a:rPr lang="hy-AM" b="1" dirty="0" smtClean="0">
                <a:solidFill>
                  <a:srgbClr val="002060"/>
                </a:solidFill>
              </a:rPr>
              <a:t> 	  		  </a:t>
            </a:r>
            <a:r>
              <a:rPr lang="en-US" b="1" dirty="0" smtClean="0">
                <a:solidFill>
                  <a:srgbClr val="C00000"/>
                </a:solidFill>
              </a:rPr>
              <a:t>checked="checked"</a:t>
            </a:r>
            <a:r>
              <a:rPr lang="hy-AM" b="1" dirty="0" smtClean="0">
                <a:solidFill>
                  <a:srgbClr val="C00000"/>
                </a:solidFill>
              </a:rPr>
              <a:t> </a:t>
            </a:r>
            <a:r>
              <a:rPr lang="en-US" b="1" dirty="0" smtClean="0">
                <a:solidFill>
                  <a:srgbClr val="00B050"/>
                </a:solidFill>
              </a:rPr>
              <a:t>&gt;</a:t>
            </a:r>
            <a:r>
              <a:rPr lang="hy-AM" b="1" dirty="0" smtClean="0">
                <a:solidFill>
                  <a:srgbClr val="00B050"/>
                </a:solidFill>
              </a:rPr>
              <a:t> </a:t>
            </a:r>
            <a:r>
              <a:rPr lang="hy-AM" b="1" dirty="0" smtClean="0">
                <a:solidFill>
                  <a:schemeClr val="tx1"/>
                </a:solidFill>
              </a:rPr>
              <a:t>Yes</a:t>
            </a:r>
            <a:r>
              <a:rPr lang="en-US" b="1" dirty="0" smtClean="0">
                <a:solidFill>
                  <a:srgbClr val="FF0000"/>
                </a:solidFill>
              </a:rPr>
              <a:t>&lt;</a:t>
            </a:r>
            <a:r>
              <a:rPr lang="en-US" b="1" dirty="0" err="1" smtClean="0">
                <a:solidFill>
                  <a:srgbClr val="FF0000"/>
                </a:solidFill>
              </a:rPr>
              <a:t>br</a:t>
            </a:r>
            <a:r>
              <a:rPr lang="en-US" b="1" dirty="0" smtClean="0">
                <a:solidFill>
                  <a:srgbClr val="FF0000"/>
                </a:solidFill>
              </a:rPr>
              <a:t>&gt;</a:t>
            </a:r>
            <a:r>
              <a:rPr lang="en-US" b="1" dirty="0" smtClean="0"/>
              <a:t/>
            </a:r>
            <a:br>
              <a:rPr lang="en-US" b="1" dirty="0" smtClean="0"/>
            </a:br>
            <a:r>
              <a:rPr lang="hy-AM" b="1" dirty="0" smtClean="0"/>
              <a:t>	 </a:t>
            </a:r>
            <a:r>
              <a:rPr lang="en-US" b="1" dirty="0" smtClean="0">
                <a:solidFill>
                  <a:srgbClr val="00B050"/>
                </a:solidFill>
              </a:rPr>
              <a:t>&lt;input </a:t>
            </a:r>
            <a:r>
              <a:rPr lang="hy-AM" b="1" dirty="0" smtClean="0">
                <a:solidFill>
                  <a:srgbClr val="00B050"/>
                </a:solidFill>
              </a:rPr>
              <a:t> </a:t>
            </a:r>
            <a:r>
              <a:rPr lang="en-US" b="1" dirty="0" smtClean="0">
                <a:solidFill>
                  <a:srgbClr val="7030A0"/>
                </a:solidFill>
              </a:rPr>
              <a:t>type= "checkbox" </a:t>
            </a:r>
            <a:r>
              <a:rPr lang="hy-AM" b="1" dirty="0" smtClean="0">
                <a:solidFill>
                  <a:srgbClr val="7030A0"/>
                </a:solidFill>
              </a:rPr>
              <a:t>  </a:t>
            </a:r>
            <a:r>
              <a:rPr lang="en-US" b="1" dirty="0" smtClean="0">
                <a:solidFill>
                  <a:srgbClr val="00B0F0"/>
                </a:solidFill>
              </a:rPr>
              <a:t>name= "</a:t>
            </a:r>
            <a:r>
              <a:rPr lang="hy-AM" b="1" dirty="0" smtClean="0">
                <a:solidFill>
                  <a:srgbClr val="00B0F0"/>
                </a:solidFill>
              </a:rPr>
              <a:t>a</a:t>
            </a:r>
            <a:r>
              <a:rPr lang="en-US" b="1" dirty="0" smtClean="0">
                <a:solidFill>
                  <a:srgbClr val="00B0F0"/>
                </a:solidFill>
              </a:rPr>
              <a:t>2"</a:t>
            </a:r>
            <a:r>
              <a:rPr lang="hy-AM" b="1" dirty="0" smtClean="0">
                <a:solidFill>
                  <a:srgbClr val="00B0F0"/>
                </a:solidFill>
              </a:rPr>
              <a:t>  </a:t>
            </a:r>
            <a:r>
              <a:rPr lang="en-US" b="1" dirty="0" smtClean="0">
                <a:solidFill>
                  <a:srgbClr val="002060"/>
                </a:solidFill>
              </a:rPr>
              <a:t>value= "</a:t>
            </a:r>
            <a:r>
              <a:rPr lang="hy-AM" b="1" dirty="0" smtClean="0">
                <a:solidFill>
                  <a:srgbClr val="002060"/>
                </a:solidFill>
              </a:rPr>
              <a:t>No</a:t>
            </a:r>
            <a:r>
              <a:rPr lang="en-US" b="1" dirty="0" smtClean="0">
                <a:solidFill>
                  <a:srgbClr val="002060"/>
                </a:solidFill>
              </a:rPr>
              <a:t>"</a:t>
            </a:r>
            <a:r>
              <a:rPr lang="hy-AM" b="1" dirty="0" smtClean="0">
                <a:solidFill>
                  <a:srgbClr val="002060"/>
                </a:solidFill>
              </a:rPr>
              <a:t> </a:t>
            </a:r>
            <a:r>
              <a:rPr lang="en-US" b="1" dirty="0" smtClean="0">
                <a:solidFill>
                  <a:srgbClr val="00B050"/>
                </a:solidFill>
              </a:rPr>
              <a:t>&gt;</a:t>
            </a:r>
            <a:r>
              <a:rPr lang="hy-AM" b="1" dirty="0" smtClean="0">
                <a:solidFill>
                  <a:srgbClr val="00B050"/>
                </a:solidFill>
              </a:rPr>
              <a:t> </a:t>
            </a:r>
            <a:r>
              <a:rPr lang="en-US" b="1" dirty="0" smtClean="0"/>
              <a:t>N</a:t>
            </a:r>
            <a:r>
              <a:rPr lang="hy-AM" b="1" dirty="0" smtClean="0"/>
              <a:t>o</a:t>
            </a:r>
            <a:r>
              <a:rPr lang="en-US" b="1" dirty="0" smtClean="0">
                <a:solidFill>
                  <a:srgbClr val="FF0000"/>
                </a:solidFill>
              </a:rPr>
              <a:t> &lt;</a:t>
            </a:r>
            <a:r>
              <a:rPr lang="en-US" b="1" dirty="0" err="1" smtClean="0">
                <a:solidFill>
                  <a:srgbClr val="FF0000"/>
                </a:solidFill>
              </a:rPr>
              <a:t>br</a:t>
            </a:r>
            <a:r>
              <a:rPr lang="en-US" b="1" dirty="0" smtClean="0">
                <a:solidFill>
                  <a:srgbClr val="FF0000"/>
                </a:solidFill>
              </a:rPr>
              <a:t>&gt;</a:t>
            </a:r>
            <a:endParaRPr lang="hy-AM" b="1" dirty="0" smtClean="0"/>
          </a:p>
          <a:p>
            <a:r>
              <a:rPr lang="hy-AM" b="1" dirty="0" smtClean="0">
                <a:solidFill>
                  <a:srgbClr val="00B050"/>
                </a:solidFill>
              </a:rPr>
              <a:t>	</a:t>
            </a:r>
            <a:r>
              <a:rPr lang="hy-AM" b="1" dirty="0" smtClean="0"/>
              <a:t> </a:t>
            </a:r>
            <a:r>
              <a:rPr lang="en-US" b="1" dirty="0" smtClean="0">
                <a:solidFill>
                  <a:srgbClr val="00B050"/>
                </a:solidFill>
              </a:rPr>
              <a:t>&lt;input </a:t>
            </a:r>
            <a:r>
              <a:rPr lang="hy-AM" b="1" dirty="0" smtClean="0">
                <a:solidFill>
                  <a:srgbClr val="00B050"/>
                </a:solidFill>
              </a:rPr>
              <a:t> </a:t>
            </a:r>
            <a:r>
              <a:rPr lang="en-US" b="1" dirty="0" smtClean="0">
                <a:solidFill>
                  <a:srgbClr val="7030A0"/>
                </a:solidFill>
              </a:rPr>
              <a:t>type= "checkbox" </a:t>
            </a:r>
            <a:r>
              <a:rPr lang="hy-AM" b="1" dirty="0" smtClean="0">
                <a:solidFill>
                  <a:srgbClr val="7030A0"/>
                </a:solidFill>
              </a:rPr>
              <a:t>  </a:t>
            </a:r>
            <a:r>
              <a:rPr lang="en-US" b="1" dirty="0" smtClean="0">
                <a:solidFill>
                  <a:srgbClr val="00B0F0"/>
                </a:solidFill>
              </a:rPr>
              <a:t>name= "</a:t>
            </a:r>
            <a:r>
              <a:rPr lang="hy-AM" b="1" dirty="0" smtClean="0">
                <a:solidFill>
                  <a:srgbClr val="00B0F0"/>
                </a:solidFill>
              </a:rPr>
              <a:t>a</a:t>
            </a:r>
            <a:r>
              <a:rPr lang="en-US" b="1" dirty="0" smtClean="0">
                <a:solidFill>
                  <a:srgbClr val="00B0F0"/>
                </a:solidFill>
              </a:rPr>
              <a:t>3"</a:t>
            </a:r>
            <a:r>
              <a:rPr lang="hy-AM" b="1" dirty="0" smtClean="0">
                <a:solidFill>
                  <a:srgbClr val="00B0F0"/>
                </a:solidFill>
              </a:rPr>
              <a:t>  </a:t>
            </a:r>
            <a:r>
              <a:rPr lang="en-US" b="1" dirty="0" smtClean="0">
                <a:solidFill>
                  <a:srgbClr val="002060"/>
                </a:solidFill>
              </a:rPr>
              <a:t>value= "</a:t>
            </a:r>
            <a:r>
              <a:rPr lang="hy-AM" b="1" dirty="0" smtClean="0">
                <a:solidFill>
                  <a:srgbClr val="002060"/>
                </a:solidFill>
              </a:rPr>
              <a:t>maybe</a:t>
            </a:r>
            <a:r>
              <a:rPr lang="en-US" b="1" dirty="0" smtClean="0">
                <a:solidFill>
                  <a:srgbClr val="002060"/>
                </a:solidFill>
              </a:rPr>
              <a:t>"</a:t>
            </a:r>
            <a:r>
              <a:rPr lang="hy-AM" b="1" dirty="0" smtClean="0">
                <a:solidFill>
                  <a:srgbClr val="002060"/>
                </a:solidFill>
              </a:rPr>
              <a:t> </a:t>
            </a:r>
            <a:r>
              <a:rPr lang="en-US" b="1" dirty="0" smtClean="0">
                <a:solidFill>
                  <a:srgbClr val="00B050"/>
                </a:solidFill>
              </a:rPr>
              <a:t>&gt;</a:t>
            </a:r>
            <a:r>
              <a:rPr lang="hy-AM" b="1" dirty="0" smtClean="0">
                <a:solidFill>
                  <a:schemeClr val="tx1"/>
                </a:solidFill>
              </a:rPr>
              <a:t>Maybe</a:t>
            </a:r>
          </a:p>
          <a:p>
            <a:r>
              <a:rPr lang="hy-AM" b="1" dirty="0" smtClean="0">
                <a:solidFill>
                  <a:schemeClr val="accent1"/>
                </a:solidFill>
              </a:rPr>
              <a:t>&lt;/form&gt;</a:t>
            </a:r>
            <a:endParaRPr lang="en-US" b="1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683568" y="260648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HTML</a:t>
            </a:r>
            <a:r>
              <a:rPr lang="en-US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– </a:t>
            </a:r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Forms</a:t>
            </a:r>
            <a:endParaRPr lang="en-US" sz="4800" dirty="0" smtClean="0"/>
          </a:p>
        </p:txBody>
      </p:sp>
      <p:sp>
        <p:nvSpPr>
          <p:cNvPr id="12" name="Rectangle 11"/>
          <p:cNvSpPr/>
          <p:nvPr/>
        </p:nvSpPr>
        <p:spPr>
          <a:xfrm>
            <a:off x="683568" y="1340768"/>
            <a:ext cx="318869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hy-AM" sz="24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Selected and checkted:</a:t>
            </a:r>
            <a:endParaRPr lang="en-US" sz="2400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chemeClr val="accent2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7584" y="2276872"/>
            <a:ext cx="7704856" cy="2308324"/>
          </a:xfrm>
          <a:prstGeom prst="rect">
            <a:avLst/>
          </a:prstGeom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&lt;form &gt;</a:t>
            </a:r>
          </a:p>
          <a:p>
            <a:pPr lvl="1"/>
            <a:r>
              <a:rPr lang="en-US" b="1" dirty="0" smtClean="0">
                <a:solidFill>
                  <a:srgbClr val="00B050"/>
                </a:solidFill>
              </a:rPr>
              <a:t>&lt;select </a:t>
            </a:r>
            <a:r>
              <a:rPr lang="hy-AM" b="1" dirty="0" smtClean="0">
                <a:solidFill>
                  <a:srgbClr val="00B050"/>
                </a:solidFill>
              </a:rPr>
              <a:t> </a:t>
            </a:r>
            <a:r>
              <a:rPr lang="en-US" b="1" dirty="0" smtClean="0">
                <a:solidFill>
                  <a:srgbClr val="0070C0"/>
                </a:solidFill>
              </a:rPr>
              <a:t>name="cars"</a:t>
            </a:r>
            <a:r>
              <a:rPr lang="en-US" b="1" dirty="0" smtClean="0">
                <a:solidFill>
                  <a:srgbClr val="00B050"/>
                </a:solidFill>
              </a:rPr>
              <a:t>&gt;</a:t>
            </a:r>
          </a:p>
          <a:p>
            <a:pPr lvl="2"/>
            <a:r>
              <a:rPr lang="en-US" b="1" dirty="0" smtClean="0">
                <a:solidFill>
                  <a:srgbClr val="7030A0"/>
                </a:solidFill>
              </a:rPr>
              <a:t>&lt;option </a:t>
            </a:r>
            <a:r>
              <a:rPr lang="hy-AM" b="1" dirty="0" smtClean="0">
                <a:solidFill>
                  <a:srgbClr val="7030A0"/>
                </a:solidFill>
              </a:rPr>
              <a:t> </a:t>
            </a:r>
            <a:r>
              <a:rPr lang="en-US" b="1" dirty="0" smtClean="0">
                <a:solidFill>
                  <a:srgbClr val="002060"/>
                </a:solidFill>
              </a:rPr>
              <a:t>value="</a:t>
            </a:r>
            <a:r>
              <a:rPr lang="en-US" b="1" dirty="0" err="1" smtClean="0">
                <a:solidFill>
                  <a:srgbClr val="002060"/>
                </a:solidFill>
              </a:rPr>
              <a:t>volvo</a:t>
            </a:r>
            <a:r>
              <a:rPr lang="en-US" b="1" dirty="0" smtClean="0">
                <a:solidFill>
                  <a:srgbClr val="002060"/>
                </a:solidFill>
              </a:rPr>
              <a:t>"</a:t>
            </a:r>
            <a:r>
              <a:rPr lang="hy-AM" b="1" dirty="0" smtClean="0">
                <a:solidFill>
                  <a:srgbClr val="002060"/>
                </a:solidFill>
              </a:rPr>
              <a:t> </a:t>
            </a:r>
            <a:r>
              <a:rPr lang="en-US" b="1" dirty="0" smtClean="0">
                <a:solidFill>
                  <a:srgbClr val="7030A0"/>
                </a:solidFill>
              </a:rPr>
              <a:t>&gt;</a:t>
            </a:r>
            <a:r>
              <a:rPr lang="en-US" b="1" dirty="0" smtClean="0"/>
              <a:t>Volvo</a:t>
            </a:r>
            <a:r>
              <a:rPr lang="en-US" b="1" dirty="0" smtClean="0">
                <a:solidFill>
                  <a:srgbClr val="7030A0"/>
                </a:solidFill>
              </a:rPr>
              <a:t>&lt;/option&gt;</a:t>
            </a:r>
          </a:p>
          <a:p>
            <a:pPr lvl="2"/>
            <a:r>
              <a:rPr lang="en-US" b="1" dirty="0" smtClean="0">
                <a:solidFill>
                  <a:srgbClr val="7030A0"/>
                </a:solidFill>
              </a:rPr>
              <a:t>&lt;option </a:t>
            </a:r>
            <a:r>
              <a:rPr lang="hy-AM" b="1" dirty="0" smtClean="0">
                <a:solidFill>
                  <a:srgbClr val="7030A0"/>
                </a:solidFill>
              </a:rPr>
              <a:t> </a:t>
            </a:r>
            <a:r>
              <a:rPr lang="en-US" b="1" dirty="0" smtClean="0">
                <a:solidFill>
                  <a:srgbClr val="002060"/>
                </a:solidFill>
              </a:rPr>
              <a:t>value="</a:t>
            </a:r>
            <a:r>
              <a:rPr lang="en-US" b="1" dirty="0" err="1" smtClean="0">
                <a:solidFill>
                  <a:srgbClr val="002060"/>
                </a:solidFill>
              </a:rPr>
              <a:t>saab</a:t>
            </a:r>
            <a:r>
              <a:rPr lang="en-US" b="1" dirty="0" smtClean="0">
                <a:solidFill>
                  <a:srgbClr val="002060"/>
                </a:solidFill>
              </a:rPr>
              <a:t>"</a:t>
            </a:r>
            <a:r>
              <a:rPr lang="en-US" b="1" dirty="0" smtClean="0">
                <a:solidFill>
                  <a:srgbClr val="7030A0"/>
                </a:solidFill>
              </a:rPr>
              <a:t>&gt;</a:t>
            </a:r>
            <a:r>
              <a:rPr lang="en-US" b="1" dirty="0" smtClean="0"/>
              <a:t>Saab</a:t>
            </a:r>
            <a:r>
              <a:rPr lang="en-US" b="1" dirty="0" smtClean="0">
                <a:solidFill>
                  <a:srgbClr val="7030A0"/>
                </a:solidFill>
              </a:rPr>
              <a:t>&lt;/option&gt;</a:t>
            </a:r>
          </a:p>
          <a:p>
            <a:pPr lvl="2"/>
            <a:r>
              <a:rPr lang="en-US" b="1" dirty="0" smtClean="0">
                <a:solidFill>
                  <a:srgbClr val="7030A0"/>
                </a:solidFill>
              </a:rPr>
              <a:t>&lt;option </a:t>
            </a:r>
            <a:r>
              <a:rPr lang="hy-AM" b="1" dirty="0" smtClean="0">
                <a:solidFill>
                  <a:srgbClr val="7030A0"/>
                </a:solidFill>
              </a:rPr>
              <a:t> </a:t>
            </a:r>
            <a:r>
              <a:rPr lang="en-US" b="1" dirty="0" smtClean="0">
                <a:solidFill>
                  <a:srgbClr val="002060"/>
                </a:solidFill>
              </a:rPr>
              <a:t>value="fiat" </a:t>
            </a:r>
            <a:r>
              <a:rPr lang="en-US" b="1" dirty="0">
                <a:solidFill>
                  <a:srgbClr val="FF0000"/>
                </a:solidFill>
              </a:rPr>
              <a:t>selected="selected" </a:t>
            </a:r>
            <a:r>
              <a:rPr lang="en-US" b="1" dirty="0" smtClean="0">
                <a:solidFill>
                  <a:srgbClr val="7030A0"/>
                </a:solidFill>
              </a:rPr>
              <a:t>&gt;</a:t>
            </a:r>
            <a:r>
              <a:rPr lang="en-US" b="1" dirty="0" smtClean="0"/>
              <a:t>Fiat</a:t>
            </a:r>
            <a:r>
              <a:rPr lang="en-US" b="1" dirty="0" smtClean="0">
                <a:solidFill>
                  <a:srgbClr val="7030A0"/>
                </a:solidFill>
              </a:rPr>
              <a:t>&lt;/option&gt;</a:t>
            </a:r>
          </a:p>
          <a:p>
            <a:pPr lvl="2"/>
            <a:r>
              <a:rPr lang="en-US" b="1" dirty="0" smtClean="0">
                <a:solidFill>
                  <a:srgbClr val="7030A0"/>
                </a:solidFill>
              </a:rPr>
              <a:t>&lt;option </a:t>
            </a:r>
            <a:r>
              <a:rPr lang="hy-AM" b="1" dirty="0" smtClean="0">
                <a:solidFill>
                  <a:srgbClr val="7030A0"/>
                </a:solidFill>
              </a:rPr>
              <a:t> </a:t>
            </a:r>
            <a:r>
              <a:rPr lang="en-US" b="1" dirty="0" smtClean="0">
                <a:solidFill>
                  <a:srgbClr val="002060"/>
                </a:solidFill>
              </a:rPr>
              <a:t>value="</a:t>
            </a:r>
            <a:r>
              <a:rPr lang="en-US" b="1" dirty="0" err="1" smtClean="0">
                <a:solidFill>
                  <a:srgbClr val="002060"/>
                </a:solidFill>
              </a:rPr>
              <a:t>audi</a:t>
            </a:r>
            <a:r>
              <a:rPr lang="en-US" b="1" dirty="0" smtClean="0">
                <a:solidFill>
                  <a:srgbClr val="002060"/>
                </a:solidFill>
              </a:rPr>
              <a:t>"</a:t>
            </a:r>
            <a:r>
              <a:rPr lang="en-US" b="1" dirty="0" smtClean="0">
                <a:solidFill>
                  <a:srgbClr val="7030A0"/>
                </a:solidFill>
              </a:rPr>
              <a:t>&gt;</a:t>
            </a:r>
            <a:r>
              <a:rPr lang="en-US" b="1" dirty="0" smtClean="0"/>
              <a:t>Audi</a:t>
            </a:r>
            <a:r>
              <a:rPr lang="en-US" b="1" dirty="0" smtClean="0">
                <a:solidFill>
                  <a:srgbClr val="7030A0"/>
                </a:solidFill>
              </a:rPr>
              <a:t>&lt;/option&gt;</a:t>
            </a:r>
          </a:p>
          <a:p>
            <a:pPr lvl="1"/>
            <a:r>
              <a:rPr lang="en-US" b="1" dirty="0" smtClean="0">
                <a:solidFill>
                  <a:srgbClr val="00B050"/>
                </a:solidFill>
              </a:rPr>
              <a:t>&lt;/select&gt;</a:t>
            </a:r>
            <a:endParaRPr lang="hy-AM" b="1" dirty="0" smtClean="0">
              <a:solidFill>
                <a:srgbClr val="00B050"/>
              </a:solidFill>
            </a:endParaRPr>
          </a:p>
          <a:p>
            <a:r>
              <a:rPr lang="hy-AM" b="1" dirty="0" smtClean="0">
                <a:solidFill>
                  <a:srgbClr val="FF0000"/>
                </a:solidFill>
              </a:rPr>
              <a:t>&lt;/form&gt;</a:t>
            </a:r>
            <a:endParaRPr lang="en-US" b="1" dirty="0" smtClean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683568" y="260648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HTML</a:t>
            </a:r>
            <a:r>
              <a:rPr lang="en-US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– </a:t>
            </a:r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Forms</a:t>
            </a:r>
            <a:endParaRPr lang="en-US" sz="4800" dirty="0" smtClean="0"/>
          </a:p>
        </p:txBody>
      </p:sp>
      <p:sp>
        <p:nvSpPr>
          <p:cNvPr id="13" name="Rectangle 12"/>
          <p:cNvSpPr/>
          <p:nvPr/>
        </p:nvSpPr>
        <p:spPr>
          <a:xfrm>
            <a:off x="683568" y="1340768"/>
            <a:ext cx="107446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hy-AM" sz="24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Labels:</a:t>
            </a:r>
            <a:endParaRPr lang="en-US" sz="2400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chemeClr val="accent2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267744" y="1268760"/>
            <a:ext cx="6264696" cy="4801314"/>
          </a:xfrm>
          <a:prstGeom prst="rect">
            <a:avLst/>
          </a:prstGeom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&lt;form &gt;</a:t>
            </a:r>
          </a:p>
          <a:p>
            <a:r>
              <a:rPr lang="en-US" b="1" dirty="0" smtClean="0">
                <a:solidFill>
                  <a:srgbClr val="00B050"/>
                </a:solidFill>
              </a:rPr>
              <a:t>&lt;label </a:t>
            </a:r>
            <a:r>
              <a:rPr lang="hy-AM" b="1" dirty="0" smtClean="0">
                <a:solidFill>
                  <a:srgbClr val="00B050"/>
                </a:solidFill>
              </a:rPr>
              <a:t> </a:t>
            </a:r>
            <a:r>
              <a:rPr lang="en-US" b="1" dirty="0" smtClean="0">
                <a:solidFill>
                  <a:srgbClr val="7030A0"/>
                </a:solidFill>
              </a:rPr>
              <a:t>for="</a:t>
            </a:r>
            <a:r>
              <a:rPr lang="en-US" b="1" dirty="0" err="1" smtClean="0">
                <a:solidFill>
                  <a:srgbClr val="7030A0"/>
                </a:solidFill>
              </a:rPr>
              <a:t>firstname</a:t>
            </a:r>
            <a:r>
              <a:rPr lang="en-US" b="1" dirty="0" smtClean="0">
                <a:solidFill>
                  <a:srgbClr val="7030A0"/>
                </a:solidFill>
              </a:rPr>
              <a:t>"</a:t>
            </a:r>
            <a:r>
              <a:rPr lang="hy-AM" b="1" dirty="0" smtClean="0">
                <a:solidFill>
                  <a:srgbClr val="7030A0"/>
                </a:solidFill>
              </a:rPr>
              <a:t> </a:t>
            </a:r>
            <a:r>
              <a:rPr lang="en-US" b="1" dirty="0" smtClean="0"/>
              <a:t>&gt; </a:t>
            </a:r>
            <a:r>
              <a:rPr lang="en-US" b="1" dirty="0" err="1" smtClean="0"/>
              <a:t>Firstname</a:t>
            </a:r>
            <a:r>
              <a:rPr lang="en-US" b="1" dirty="0" smtClean="0">
                <a:solidFill>
                  <a:srgbClr val="7030A0"/>
                </a:solidFill>
              </a:rPr>
              <a:t>&lt;/label&gt;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&lt;input </a:t>
            </a:r>
            <a:r>
              <a:rPr lang="hy-AM" b="1" dirty="0" smtClean="0">
                <a:solidFill>
                  <a:srgbClr val="FF0000"/>
                </a:solidFill>
              </a:rPr>
              <a:t> </a:t>
            </a:r>
            <a:r>
              <a:rPr lang="en-US" b="1" dirty="0" smtClean="0">
                <a:solidFill>
                  <a:srgbClr val="00B0F0"/>
                </a:solidFill>
              </a:rPr>
              <a:t>type="text" </a:t>
            </a:r>
            <a:r>
              <a:rPr lang="en-US" b="1" dirty="0" smtClean="0">
                <a:solidFill>
                  <a:srgbClr val="002060"/>
                </a:solidFill>
              </a:rPr>
              <a:t>name="</a:t>
            </a:r>
            <a:r>
              <a:rPr lang="en-US" b="1" dirty="0" err="1" smtClean="0">
                <a:solidFill>
                  <a:srgbClr val="002060"/>
                </a:solidFill>
              </a:rPr>
              <a:t>firstname</a:t>
            </a:r>
            <a:r>
              <a:rPr lang="en-US" b="1" dirty="0" smtClean="0">
                <a:solidFill>
                  <a:srgbClr val="002060"/>
                </a:solidFill>
              </a:rPr>
              <a:t>" </a:t>
            </a: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</a:rPr>
              <a:t>id="</a:t>
            </a:r>
            <a:r>
              <a:rPr lang="en-US" b="1" dirty="0" err="1" smtClean="0">
                <a:solidFill>
                  <a:schemeClr val="accent1">
                    <a:lumMod val="75000"/>
                  </a:schemeClr>
                </a:solidFill>
              </a:rPr>
              <a:t>firstname</a:t>
            </a: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</a:rPr>
              <a:t>"</a:t>
            </a:r>
            <a:r>
              <a:rPr lang="en-US" b="1" dirty="0" smtClean="0">
                <a:solidFill>
                  <a:srgbClr val="FF0000"/>
                </a:solidFill>
              </a:rPr>
              <a:t>&gt;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&lt;</a:t>
            </a:r>
            <a:r>
              <a:rPr lang="en-US" b="1" dirty="0" err="1" smtClean="0">
                <a:solidFill>
                  <a:srgbClr val="FF0000"/>
                </a:solidFill>
              </a:rPr>
              <a:t>br</a:t>
            </a:r>
            <a:r>
              <a:rPr lang="en-US" b="1" dirty="0" smtClean="0">
                <a:solidFill>
                  <a:srgbClr val="FF0000"/>
                </a:solidFill>
              </a:rPr>
              <a:t>&gt;</a:t>
            </a:r>
            <a:endParaRPr lang="hy-AM" b="1" dirty="0" smtClean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r>
              <a:rPr lang="en-US" b="1" dirty="0" smtClean="0">
                <a:solidFill>
                  <a:srgbClr val="00B050"/>
                </a:solidFill>
              </a:rPr>
              <a:t>&lt;label </a:t>
            </a:r>
            <a:r>
              <a:rPr lang="en-US" b="1" dirty="0" smtClean="0">
                <a:solidFill>
                  <a:srgbClr val="7030A0"/>
                </a:solidFill>
              </a:rPr>
              <a:t>for="</a:t>
            </a:r>
            <a:r>
              <a:rPr lang="en-US" b="1" dirty="0" err="1" smtClean="0">
                <a:solidFill>
                  <a:srgbClr val="7030A0"/>
                </a:solidFill>
              </a:rPr>
              <a:t>lastname</a:t>
            </a:r>
            <a:r>
              <a:rPr lang="en-US" b="1" dirty="0" smtClean="0">
                <a:solidFill>
                  <a:srgbClr val="7030A0"/>
                </a:solidFill>
              </a:rPr>
              <a:t>"&gt;</a:t>
            </a:r>
            <a:r>
              <a:rPr lang="en-US" b="1" dirty="0" err="1" smtClean="0"/>
              <a:t>Lastname</a:t>
            </a:r>
            <a:r>
              <a:rPr lang="en-US" b="1" dirty="0" smtClean="0">
                <a:solidFill>
                  <a:srgbClr val="7030A0"/>
                </a:solidFill>
              </a:rPr>
              <a:t>&lt;/label&gt;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&lt;input </a:t>
            </a:r>
            <a:r>
              <a:rPr lang="en-US" b="1" dirty="0" smtClean="0">
                <a:solidFill>
                  <a:srgbClr val="00B0F0"/>
                </a:solidFill>
              </a:rPr>
              <a:t>type="text" </a:t>
            </a:r>
            <a:r>
              <a:rPr lang="en-US" b="1" dirty="0" smtClean="0">
                <a:solidFill>
                  <a:srgbClr val="002060"/>
                </a:solidFill>
              </a:rPr>
              <a:t>name="</a:t>
            </a:r>
            <a:r>
              <a:rPr lang="en-US" b="1" dirty="0" err="1" smtClean="0">
                <a:solidFill>
                  <a:srgbClr val="002060"/>
                </a:solidFill>
              </a:rPr>
              <a:t>lastname</a:t>
            </a:r>
            <a:r>
              <a:rPr lang="en-US" b="1" dirty="0" smtClean="0">
                <a:solidFill>
                  <a:srgbClr val="002060"/>
                </a:solidFill>
              </a:rPr>
              <a:t>" </a:t>
            </a: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</a:rPr>
              <a:t>id="</a:t>
            </a:r>
            <a:r>
              <a:rPr lang="en-US" b="1" dirty="0" err="1" smtClean="0">
                <a:solidFill>
                  <a:schemeClr val="accent1">
                    <a:lumMod val="75000"/>
                  </a:schemeClr>
                </a:solidFill>
              </a:rPr>
              <a:t>lastname</a:t>
            </a: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</a:rPr>
              <a:t>"</a:t>
            </a:r>
            <a:r>
              <a:rPr lang="en-US" b="1" dirty="0" smtClean="0">
                <a:solidFill>
                  <a:srgbClr val="FF0000"/>
                </a:solidFill>
              </a:rPr>
              <a:t>&gt;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&lt;</a:t>
            </a:r>
            <a:r>
              <a:rPr lang="en-US" b="1" dirty="0" err="1" smtClean="0">
                <a:solidFill>
                  <a:srgbClr val="FF0000"/>
                </a:solidFill>
              </a:rPr>
              <a:t>br</a:t>
            </a:r>
            <a:r>
              <a:rPr lang="en-US" b="1" dirty="0" smtClean="0">
                <a:solidFill>
                  <a:srgbClr val="FF0000"/>
                </a:solidFill>
              </a:rPr>
              <a:t>&gt;</a:t>
            </a:r>
            <a:endParaRPr lang="hy-AM" b="1" dirty="0" smtClean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r>
              <a:rPr lang="en-US" b="1" dirty="0" smtClean="0">
                <a:solidFill>
                  <a:srgbClr val="00B050"/>
                </a:solidFill>
              </a:rPr>
              <a:t>&lt;label </a:t>
            </a:r>
            <a:r>
              <a:rPr lang="en-US" b="1" dirty="0" smtClean="0">
                <a:solidFill>
                  <a:srgbClr val="7030A0"/>
                </a:solidFill>
              </a:rPr>
              <a:t>for="male"&gt;</a:t>
            </a:r>
            <a:r>
              <a:rPr lang="en-US" b="1" dirty="0" smtClean="0"/>
              <a:t>Male</a:t>
            </a:r>
            <a:r>
              <a:rPr lang="en-US" b="1" dirty="0" smtClean="0">
                <a:solidFill>
                  <a:srgbClr val="7030A0"/>
                </a:solidFill>
              </a:rPr>
              <a:t>&lt;/label&gt;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&lt;input </a:t>
            </a:r>
            <a:r>
              <a:rPr lang="en-US" b="1" dirty="0" smtClean="0">
                <a:solidFill>
                  <a:srgbClr val="00B0F0"/>
                </a:solidFill>
              </a:rPr>
              <a:t>type="radio" </a:t>
            </a:r>
            <a:r>
              <a:rPr lang="en-US" b="1" dirty="0" smtClean="0">
                <a:solidFill>
                  <a:srgbClr val="002060"/>
                </a:solidFill>
              </a:rPr>
              <a:t>name= "gender"</a:t>
            </a:r>
            <a:r>
              <a:rPr lang="hy-AM" b="1" dirty="0" smtClean="0">
                <a:solidFill>
                  <a:srgbClr val="002060"/>
                </a:solidFill>
              </a:rPr>
              <a:t>  </a:t>
            </a: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</a:rPr>
              <a:t>id="male" </a:t>
            </a:r>
            <a:r>
              <a:rPr lang="en-US" b="1" dirty="0" smtClean="0">
                <a:solidFill>
                  <a:srgbClr val="FF0000"/>
                </a:solidFill>
              </a:rPr>
              <a:t>&gt;</a:t>
            </a:r>
          </a:p>
          <a:p>
            <a:r>
              <a:rPr lang="en-US" b="1" dirty="0" smtClean="0">
                <a:solidFill>
                  <a:srgbClr val="00B050"/>
                </a:solidFill>
              </a:rPr>
              <a:t>&lt;label </a:t>
            </a:r>
            <a:r>
              <a:rPr lang="en-US" b="1" dirty="0" smtClean="0">
                <a:solidFill>
                  <a:srgbClr val="7030A0"/>
                </a:solidFill>
              </a:rPr>
              <a:t>for="female"&gt;</a:t>
            </a:r>
            <a:r>
              <a:rPr lang="en-US" b="1" dirty="0" smtClean="0"/>
              <a:t>Female</a:t>
            </a:r>
            <a:r>
              <a:rPr lang="en-US" b="1" dirty="0" smtClean="0">
                <a:solidFill>
                  <a:srgbClr val="7030A0"/>
                </a:solidFill>
              </a:rPr>
              <a:t>&lt;/label&gt;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&lt;input </a:t>
            </a:r>
            <a:r>
              <a:rPr lang="en-US" b="1" dirty="0" smtClean="0">
                <a:solidFill>
                  <a:srgbClr val="00B0F0"/>
                </a:solidFill>
              </a:rPr>
              <a:t>type="radio" </a:t>
            </a:r>
            <a:r>
              <a:rPr lang="hy-AM" b="1" dirty="0" smtClean="0">
                <a:solidFill>
                  <a:srgbClr val="00B0F0"/>
                </a:solidFill>
              </a:rPr>
              <a:t> </a:t>
            </a:r>
            <a:r>
              <a:rPr lang="en-US" b="1" dirty="0" smtClean="0">
                <a:solidFill>
                  <a:srgbClr val="002060"/>
                </a:solidFill>
              </a:rPr>
              <a:t>name="gender"</a:t>
            </a:r>
            <a:r>
              <a:rPr lang="hy-AM" b="1" dirty="0" smtClean="0">
                <a:solidFill>
                  <a:srgbClr val="002060"/>
                </a:solidFill>
              </a:rPr>
              <a:t>  </a:t>
            </a: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</a:rPr>
              <a:t>id="female" </a:t>
            </a:r>
            <a:r>
              <a:rPr lang="en-US" b="1" dirty="0" smtClean="0">
                <a:solidFill>
                  <a:srgbClr val="FF0000"/>
                </a:solidFill>
              </a:rPr>
              <a:t>&gt;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&lt;</a:t>
            </a:r>
            <a:r>
              <a:rPr lang="en-US" b="1" dirty="0" err="1" smtClean="0">
                <a:solidFill>
                  <a:srgbClr val="FF0000"/>
                </a:solidFill>
              </a:rPr>
              <a:t>br</a:t>
            </a:r>
            <a:r>
              <a:rPr lang="en-US" b="1" dirty="0" smtClean="0">
                <a:solidFill>
                  <a:srgbClr val="FF0000"/>
                </a:solidFill>
              </a:rPr>
              <a:t>&gt;</a:t>
            </a:r>
            <a:endParaRPr lang="hy-AM" b="1" dirty="0" smtClean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r>
              <a:rPr lang="en-US" b="1" dirty="0" smtClean="0">
                <a:solidFill>
                  <a:srgbClr val="FF0000"/>
                </a:solidFill>
              </a:rPr>
              <a:t>&lt;input </a:t>
            </a:r>
            <a:r>
              <a:rPr lang="en-US" b="1" dirty="0" smtClean="0">
                <a:solidFill>
                  <a:srgbClr val="00B0F0"/>
                </a:solidFill>
              </a:rPr>
              <a:t>type="submit" </a:t>
            </a:r>
            <a:r>
              <a:rPr lang="en-US" b="1" dirty="0" smtClean="0">
                <a:solidFill>
                  <a:srgbClr val="00B050"/>
                </a:solidFill>
              </a:rPr>
              <a:t>value="Submit"</a:t>
            </a:r>
            <a:r>
              <a:rPr lang="en-US" b="1" dirty="0" smtClean="0">
                <a:solidFill>
                  <a:srgbClr val="FF0000"/>
                </a:solidFill>
              </a:rPr>
              <a:t>&gt;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&lt;/form&gt;</a:t>
            </a:r>
            <a:endParaRPr 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83568" y="260648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HTML</a:t>
            </a:r>
            <a:r>
              <a:rPr lang="en-US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– </a:t>
            </a:r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Forms</a:t>
            </a:r>
            <a:endParaRPr lang="en-US" sz="4800" dirty="0" smtClean="0"/>
          </a:p>
        </p:txBody>
      </p:sp>
      <p:sp>
        <p:nvSpPr>
          <p:cNvPr id="6" name="Rectangle 5"/>
          <p:cNvSpPr/>
          <p:nvPr/>
        </p:nvSpPr>
        <p:spPr>
          <a:xfrm>
            <a:off x="683568" y="1340768"/>
            <a:ext cx="230556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hy-AM" sz="24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Some attributes:</a:t>
            </a:r>
            <a:endParaRPr lang="en-US" sz="2400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chemeClr val="accent2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331640" y="2132856"/>
            <a:ext cx="5184576" cy="3970318"/>
          </a:xfrm>
          <a:prstGeom prst="rect">
            <a:avLst/>
          </a:prstGeom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&lt;form &gt;</a:t>
            </a:r>
          </a:p>
          <a:p>
            <a:r>
              <a:rPr lang="en-US" b="1" dirty="0" smtClean="0">
                <a:solidFill>
                  <a:srgbClr val="00B050"/>
                </a:solidFill>
              </a:rPr>
              <a:t>&lt;label </a:t>
            </a:r>
            <a:r>
              <a:rPr lang="hy-AM" b="1" dirty="0" smtClean="0">
                <a:solidFill>
                  <a:srgbClr val="00B050"/>
                </a:solidFill>
              </a:rPr>
              <a:t> </a:t>
            </a:r>
            <a:r>
              <a:rPr lang="en-US" b="1" dirty="0" smtClean="0">
                <a:solidFill>
                  <a:srgbClr val="7030A0"/>
                </a:solidFill>
              </a:rPr>
              <a:t>for="</a:t>
            </a:r>
            <a:r>
              <a:rPr lang="en-US" b="1" dirty="0" err="1" smtClean="0">
                <a:solidFill>
                  <a:srgbClr val="7030A0"/>
                </a:solidFill>
              </a:rPr>
              <a:t>firstname</a:t>
            </a:r>
            <a:r>
              <a:rPr lang="en-US" b="1" dirty="0" smtClean="0">
                <a:solidFill>
                  <a:srgbClr val="7030A0"/>
                </a:solidFill>
              </a:rPr>
              <a:t>"</a:t>
            </a:r>
            <a:r>
              <a:rPr lang="hy-AM" b="1" dirty="0" smtClean="0">
                <a:solidFill>
                  <a:srgbClr val="7030A0"/>
                </a:solidFill>
              </a:rPr>
              <a:t> </a:t>
            </a:r>
            <a:r>
              <a:rPr lang="en-US" b="1" dirty="0" smtClean="0"/>
              <a:t>&gt;</a:t>
            </a:r>
            <a:r>
              <a:rPr lang="en-US" b="1" dirty="0" err="1" smtClean="0"/>
              <a:t>Firstname</a:t>
            </a:r>
            <a:r>
              <a:rPr lang="en-US" b="1" dirty="0" smtClean="0">
                <a:solidFill>
                  <a:srgbClr val="7030A0"/>
                </a:solidFill>
              </a:rPr>
              <a:t>&lt;/label&gt;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&lt;input </a:t>
            </a:r>
            <a:r>
              <a:rPr lang="hy-AM" b="1" dirty="0" smtClean="0">
                <a:solidFill>
                  <a:srgbClr val="FF0000"/>
                </a:solidFill>
              </a:rPr>
              <a:t> </a:t>
            </a:r>
            <a:r>
              <a:rPr lang="en-US" b="1" dirty="0" smtClean="0">
                <a:solidFill>
                  <a:srgbClr val="00B0F0"/>
                </a:solidFill>
              </a:rPr>
              <a:t>type="text" </a:t>
            </a:r>
            <a:r>
              <a:rPr lang="en-US" b="1" dirty="0" smtClean="0">
                <a:solidFill>
                  <a:srgbClr val="002060"/>
                </a:solidFill>
              </a:rPr>
              <a:t>name="</a:t>
            </a:r>
            <a:r>
              <a:rPr lang="en-US" b="1" dirty="0" err="1" smtClean="0">
                <a:solidFill>
                  <a:srgbClr val="002060"/>
                </a:solidFill>
              </a:rPr>
              <a:t>firstname</a:t>
            </a:r>
            <a:r>
              <a:rPr lang="en-US" b="1" dirty="0" smtClean="0">
                <a:solidFill>
                  <a:srgbClr val="002060"/>
                </a:solidFill>
              </a:rPr>
              <a:t>" </a:t>
            </a: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</a:rPr>
              <a:t>id="</a:t>
            </a:r>
            <a:r>
              <a:rPr lang="en-US" b="1" dirty="0" err="1" smtClean="0">
                <a:solidFill>
                  <a:schemeClr val="accent1">
                    <a:lumMod val="75000"/>
                  </a:schemeClr>
                </a:solidFill>
              </a:rPr>
              <a:t>firstname</a:t>
            </a: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</a:rPr>
              <a:t>"</a:t>
            </a:r>
            <a:r>
              <a:rPr lang="hy-AM" b="1" dirty="0" smtClean="0">
                <a:solidFill>
                  <a:schemeClr val="accent1">
                    <a:lumMod val="75000"/>
                  </a:schemeClr>
                </a:solidFill>
              </a:rPr>
              <a:t>   </a:t>
            </a:r>
            <a:r>
              <a:rPr lang="en-US" b="1" dirty="0" smtClean="0">
                <a:solidFill>
                  <a:srgbClr val="FFC000"/>
                </a:solidFill>
              </a:rPr>
              <a:t>required</a:t>
            </a:r>
            <a:r>
              <a:rPr lang="hy-AM" b="1" u="sng" dirty="0" smtClean="0">
                <a:solidFill>
                  <a:srgbClr val="FFC000"/>
                </a:solidFill>
              </a:rPr>
              <a:t> </a:t>
            </a:r>
            <a:r>
              <a:rPr lang="en-US" b="1" dirty="0" smtClean="0">
                <a:solidFill>
                  <a:srgbClr val="FF0000"/>
                </a:solidFill>
              </a:rPr>
              <a:t>&gt;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&lt;</a:t>
            </a:r>
            <a:r>
              <a:rPr lang="en-US" b="1" dirty="0" err="1" smtClean="0">
                <a:solidFill>
                  <a:srgbClr val="FF0000"/>
                </a:solidFill>
              </a:rPr>
              <a:t>br</a:t>
            </a:r>
            <a:r>
              <a:rPr lang="en-US" b="1" dirty="0" smtClean="0">
                <a:solidFill>
                  <a:srgbClr val="FF0000"/>
                </a:solidFill>
              </a:rPr>
              <a:t>&gt;</a:t>
            </a:r>
            <a:endParaRPr lang="hy-AM" b="1" dirty="0" smtClean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r>
              <a:rPr lang="en-US" b="1" dirty="0" smtClean="0">
                <a:solidFill>
                  <a:srgbClr val="00B050"/>
                </a:solidFill>
              </a:rPr>
              <a:t>&lt;label </a:t>
            </a:r>
            <a:r>
              <a:rPr lang="en-US" b="1" dirty="0" smtClean="0">
                <a:solidFill>
                  <a:srgbClr val="7030A0"/>
                </a:solidFill>
              </a:rPr>
              <a:t>for="</a:t>
            </a:r>
            <a:r>
              <a:rPr lang="hy-AM" b="1" dirty="0" smtClean="0">
                <a:solidFill>
                  <a:srgbClr val="7030A0"/>
                </a:solidFill>
              </a:rPr>
              <a:t>country</a:t>
            </a:r>
            <a:r>
              <a:rPr lang="en-US" b="1" dirty="0" smtClean="0">
                <a:solidFill>
                  <a:srgbClr val="7030A0"/>
                </a:solidFill>
              </a:rPr>
              <a:t>"&gt;</a:t>
            </a:r>
            <a:r>
              <a:rPr lang="hy-AM" b="1" dirty="0" smtClean="0"/>
              <a:t>Country</a:t>
            </a:r>
            <a:r>
              <a:rPr lang="en-US" b="1" dirty="0" smtClean="0">
                <a:solidFill>
                  <a:srgbClr val="7030A0"/>
                </a:solidFill>
              </a:rPr>
              <a:t>&lt;/label&gt;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&lt;input </a:t>
            </a:r>
            <a:r>
              <a:rPr lang="en-US" b="1" dirty="0" smtClean="0">
                <a:solidFill>
                  <a:srgbClr val="00B0F0"/>
                </a:solidFill>
              </a:rPr>
              <a:t>type="text" </a:t>
            </a:r>
            <a:r>
              <a:rPr lang="en-US" b="1" dirty="0" smtClean="0">
                <a:solidFill>
                  <a:srgbClr val="002060"/>
                </a:solidFill>
              </a:rPr>
              <a:t>name= " </a:t>
            </a:r>
            <a:r>
              <a:rPr lang="hy-AM" b="1" dirty="0" smtClean="0">
                <a:solidFill>
                  <a:srgbClr val="002060"/>
                </a:solidFill>
              </a:rPr>
              <a:t>country</a:t>
            </a:r>
            <a:r>
              <a:rPr lang="en-US" b="1" dirty="0" smtClean="0">
                <a:solidFill>
                  <a:srgbClr val="002060"/>
                </a:solidFill>
              </a:rPr>
              <a:t> "</a:t>
            </a:r>
            <a:endParaRPr lang="hy-AM" b="1" dirty="0" smtClean="0">
              <a:solidFill>
                <a:srgbClr val="002060"/>
              </a:solidFill>
            </a:endParaRPr>
          </a:p>
          <a:p>
            <a:r>
              <a:rPr lang="en-US" b="1" dirty="0" smtClean="0">
                <a:solidFill>
                  <a:srgbClr val="002060"/>
                </a:solidFill>
              </a:rPr>
              <a:t> </a:t>
            </a: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</a:rPr>
              <a:t>id= " </a:t>
            </a:r>
            <a:r>
              <a:rPr lang="hy-AM" b="1" dirty="0" smtClean="0">
                <a:solidFill>
                  <a:schemeClr val="accent1">
                    <a:lumMod val="75000"/>
                  </a:schemeClr>
                </a:solidFill>
              </a:rPr>
              <a:t>country</a:t>
            </a: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</a:rPr>
              <a:t>" </a:t>
            </a:r>
            <a:r>
              <a:rPr lang="en-US" b="1" dirty="0" err="1" smtClean="0">
                <a:solidFill>
                  <a:srgbClr val="FF0000"/>
                </a:solidFill>
              </a:rPr>
              <a:t>maxlength</a:t>
            </a:r>
            <a:r>
              <a:rPr lang="en-US" b="1" dirty="0" smtClean="0">
                <a:solidFill>
                  <a:srgbClr val="FF0000"/>
                </a:solidFill>
              </a:rPr>
              <a:t>=</a:t>
            </a:r>
            <a:r>
              <a:rPr lang="hy-AM" b="1" dirty="0" smtClean="0">
                <a:solidFill>
                  <a:srgbClr val="FF0000"/>
                </a:solidFill>
              </a:rPr>
              <a:t> </a:t>
            </a:r>
            <a:r>
              <a:rPr lang="en-US" b="1" dirty="0" smtClean="0">
                <a:solidFill>
                  <a:srgbClr val="FF0000"/>
                </a:solidFill>
              </a:rPr>
              <a:t>"5"</a:t>
            </a:r>
            <a:r>
              <a:rPr lang="hy-AM" b="1" dirty="0" smtClean="0">
                <a:solidFill>
                  <a:srgbClr val="FF0000"/>
                </a:solidFill>
              </a:rPr>
              <a:t> </a:t>
            </a:r>
            <a:r>
              <a:rPr lang="hy-AM" b="1" dirty="0" smtClean="0">
                <a:solidFill>
                  <a:srgbClr val="FFC000"/>
                </a:solidFill>
              </a:rPr>
              <a:t>readonly  </a:t>
            </a:r>
            <a:r>
              <a:rPr lang="hy-AM" b="1" dirty="0" smtClean="0">
                <a:solidFill>
                  <a:srgbClr val="00B050"/>
                </a:solidFill>
              </a:rPr>
              <a:t>value=</a:t>
            </a:r>
            <a:r>
              <a:rPr lang="en-US" b="1" dirty="0" smtClean="0">
                <a:solidFill>
                  <a:srgbClr val="00B050"/>
                </a:solidFill>
              </a:rPr>
              <a:t> "</a:t>
            </a:r>
            <a:r>
              <a:rPr lang="hy-AM" b="1" dirty="0" smtClean="0">
                <a:solidFill>
                  <a:srgbClr val="00B050"/>
                </a:solidFill>
              </a:rPr>
              <a:t>country</a:t>
            </a:r>
            <a:r>
              <a:rPr lang="en-US" b="1" dirty="0" smtClean="0">
                <a:solidFill>
                  <a:srgbClr val="00B050"/>
                </a:solidFill>
              </a:rPr>
              <a:t> " </a:t>
            </a:r>
            <a:r>
              <a:rPr lang="en-US" b="1" dirty="0" smtClean="0">
                <a:solidFill>
                  <a:srgbClr val="FF0000"/>
                </a:solidFill>
              </a:rPr>
              <a:t>&gt;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&lt;</a:t>
            </a:r>
            <a:r>
              <a:rPr lang="en-US" b="1" dirty="0" err="1" smtClean="0">
                <a:solidFill>
                  <a:srgbClr val="FF0000"/>
                </a:solidFill>
              </a:rPr>
              <a:t>br</a:t>
            </a:r>
            <a:r>
              <a:rPr lang="en-US" b="1" dirty="0" smtClean="0">
                <a:solidFill>
                  <a:srgbClr val="FF0000"/>
                </a:solidFill>
              </a:rPr>
              <a:t>&gt;</a:t>
            </a:r>
            <a:endParaRPr lang="hy-AM" b="1" dirty="0" smtClean="0">
              <a:solidFill>
                <a:srgbClr val="FF0000"/>
              </a:solidFill>
            </a:endParaRPr>
          </a:p>
          <a:p>
            <a:r>
              <a:rPr lang="en-US" b="1" dirty="0">
                <a:solidFill>
                  <a:srgbClr val="FF0000"/>
                </a:solidFill>
              </a:rPr>
              <a:t>&lt;input </a:t>
            </a:r>
            <a:r>
              <a:rPr lang="en-US" b="1" dirty="0">
                <a:solidFill>
                  <a:srgbClr val="00B0F0"/>
                </a:solidFill>
              </a:rPr>
              <a:t>type</a:t>
            </a:r>
            <a:r>
              <a:rPr lang="en-US" b="1" dirty="0" smtClean="0">
                <a:solidFill>
                  <a:srgbClr val="00B0F0"/>
                </a:solidFill>
              </a:rPr>
              <a:t>="reset" </a:t>
            </a:r>
            <a:r>
              <a:rPr lang="en-US" b="1" dirty="0">
                <a:solidFill>
                  <a:srgbClr val="00B050"/>
                </a:solidFill>
              </a:rPr>
              <a:t>value</a:t>
            </a:r>
            <a:r>
              <a:rPr lang="en-US" b="1" dirty="0" smtClean="0">
                <a:solidFill>
                  <a:srgbClr val="00B050"/>
                </a:solidFill>
              </a:rPr>
              <a:t>="Reset"</a:t>
            </a:r>
            <a:r>
              <a:rPr lang="en-US" b="1" dirty="0" smtClean="0">
                <a:solidFill>
                  <a:srgbClr val="FF0000"/>
                </a:solidFill>
              </a:rPr>
              <a:t>&gt;</a:t>
            </a:r>
            <a:endParaRPr lang="en-US" b="1" dirty="0">
              <a:solidFill>
                <a:srgbClr val="FF0000"/>
              </a:solidFill>
            </a:endParaRPr>
          </a:p>
          <a:p>
            <a:r>
              <a:rPr lang="en-US" b="1" dirty="0" smtClean="0">
                <a:solidFill>
                  <a:srgbClr val="FF0000"/>
                </a:solidFill>
              </a:rPr>
              <a:t>&lt;input </a:t>
            </a:r>
            <a:r>
              <a:rPr lang="en-US" b="1" dirty="0" smtClean="0">
                <a:solidFill>
                  <a:srgbClr val="00B0F0"/>
                </a:solidFill>
              </a:rPr>
              <a:t>type="submit" </a:t>
            </a:r>
            <a:r>
              <a:rPr lang="en-US" b="1" dirty="0" smtClean="0">
                <a:solidFill>
                  <a:srgbClr val="00B050"/>
                </a:solidFill>
              </a:rPr>
              <a:t>value="Submit"</a:t>
            </a:r>
            <a:r>
              <a:rPr lang="en-US" b="1" dirty="0" smtClean="0">
                <a:solidFill>
                  <a:srgbClr val="FF0000"/>
                </a:solidFill>
              </a:rPr>
              <a:t>&gt;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&lt;/form&gt;</a:t>
            </a:r>
            <a:endParaRPr 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683568" y="260648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Task1:</a:t>
            </a:r>
            <a:endParaRPr lang="en-US" sz="4800" dirty="0" smtClean="0"/>
          </a:p>
        </p:txBody>
      </p:sp>
      <p:pic>
        <p:nvPicPr>
          <p:cNvPr id="1026" name="Picture 2" descr="C:\Users\Araik\Desktop\Untitled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67744" y="980728"/>
            <a:ext cx="5524500" cy="48196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3568" y="260648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Task 2:</a:t>
            </a:r>
            <a:endParaRPr lang="en-US" sz="4800" dirty="0" smtClean="0"/>
          </a:p>
        </p:txBody>
      </p:sp>
      <p:pic>
        <p:nvPicPr>
          <p:cNvPr id="2050" name="Picture 2" descr="C:\Users\Araik\Desktop\StudentRegistrationForm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43808" y="273744"/>
            <a:ext cx="5400600" cy="628428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3099</TotalTime>
  <Words>664</Words>
  <Application>Microsoft Office PowerPoint</Application>
  <PresentationFormat>Экран (4:3)</PresentationFormat>
  <Paragraphs>156</Paragraphs>
  <Slides>14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5" baseType="lpstr">
      <vt:lpstr>Equity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Araik</dc:creator>
  <cp:lastModifiedBy>home</cp:lastModifiedBy>
  <cp:revision>186</cp:revision>
  <dcterms:created xsi:type="dcterms:W3CDTF">2013-08-16T08:22:25Z</dcterms:created>
  <dcterms:modified xsi:type="dcterms:W3CDTF">2016-07-28T07:08:43Z</dcterms:modified>
</cp:coreProperties>
</file>