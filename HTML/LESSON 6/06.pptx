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0"/>
  </p:notesMasterIdLst>
  <p:sldIdLst>
    <p:sldId id="257" r:id="rId2"/>
    <p:sldId id="279" r:id="rId3"/>
    <p:sldId id="277" r:id="rId4"/>
    <p:sldId id="278" r:id="rId5"/>
    <p:sldId id="283" r:id="rId6"/>
    <p:sldId id="284" r:id="rId7"/>
    <p:sldId id="285" r:id="rId8"/>
    <p:sldId id="28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1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8/2/2016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6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148" name="Picture 4" descr="C:\Users\Araik\Desktop\images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76672"/>
            <a:ext cx="3631034" cy="36310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Ifr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mes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755576" y="1268760"/>
            <a:ext cx="7816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</a:rPr>
              <a:t>An </a:t>
            </a:r>
            <a:r>
              <a:rPr lang="en-US" sz="2000" b="1" dirty="0" err="1" smtClean="0">
                <a:solidFill>
                  <a:srgbClr val="00B050"/>
                </a:solidFill>
              </a:rPr>
              <a:t>iframe</a:t>
            </a:r>
            <a:r>
              <a:rPr lang="en-US" sz="2000" b="1" dirty="0" smtClean="0">
                <a:solidFill>
                  <a:schemeClr val="accent2"/>
                </a:solidFill>
              </a:rPr>
              <a:t> is used to display a web page within a web page.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1560" y="1988840"/>
            <a:ext cx="3632726" cy="369332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src</a:t>
            </a:r>
            <a:r>
              <a:rPr lang="en-US" b="1" dirty="0" smtClean="0">
                <a:solidFill>
                  <a:srgbClr val="00B050"/>
                </a:solidFill>
              </a:rPr>
              <a:t>=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"</a:t>
            </a:r>
            <a:r>
              <a:rPr lang="en-US" b="1" i="1" dirty="0" smtClean="0">
                <a:solidFill>
                  <a:srgbClr val="00B050"/>
                </a:solidFill>
              </a:rPr>
              <a:t>URL</a:t>
            </a:r>
            <a:r>
              <a:rPr lang="en-US" b="1" dirty="0" smtClean="0">
                <a:solidFill>
                  <a:srgbClr val="00B050"/>
                </a:solidFill>
              </a:rPr>
              <a:t>"</a:t>
            </a:r>
            <a:r>
              <a:rPr lang="hy-AM" b="1" dirty="0" smtClean="0">
                <a:solidFill>
                  <a:srgbClr val="00B050"/>
                </a:solidFill>
              </a:rPr>
              <a:t>  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63688" y="2636912"/>
            <a:ext cx="52552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URL points to the location of the separate page.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Ifr</a:t>
            </a:r>
            <a:r>
              <a:rPr lang="en-US" sz="4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</a:t>
            </a:r>
            <a:r>
              <a:rPr lang="hy-AM" sz="4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mes</a:t>
            </a:r>
            <a:endParaRPr lang="en-US" sz="4800" dirty="0" smtClean="0"/>
          </a:p>
        </p:txBody>
      </p:sp>
      <p:sp>
        <p:nvSpPr>
          <p:cNvPr id="17" name="Rectangle 16"/>
          <p:cNvSpPr/>
          <p:nvPr/>
        </p:nvSpPr>
        <p:spPr>
          <a:xfrm>
            <a:off x="323528" y="1700808"/>
            <a:ext cx="8074133" cy="369332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src</a:t>
            </a:r>
            <a:r>
              <a:rPr lang="en-US" b="1" dirty="0" smtClean="0">
                <a:solidFill>
                  <a:srgbClr val="00B050"/>
                </a:solidFill>
              </a:rPr>
              <a:t>=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" http://nverner.am/" </a:t>
            </a:r>
            <a:r>
              <a:rPr lang="hy-AM" b="1" dirty="0" smtClean="0">
                <a:solidFill>
                  <a:srgbClr val="00B050"/>
                </a:solidFill>
              </a:rPr>
              <a:t>  </a:t>
            </a:r>
            <a:r>
              <a:rPr lang="en-US" b="1" dirty="0" smtClean="0">
                <a:solidFill>
                  <a:srgbClr val="0070C0"/>
                </a:solidFill>
              </a:rPr>
              <a:t>width="200" height="200"</a:t>
            </a:r>
            <a:r>
              <a:rPr lang="hy-AM" b="1" dirty="0" smtClean="0">
                <a:solidFill>
                  <a:srgbClr val="0070C0"/>
                </a:solidFill>
              </a:rPr>
              <a:t>  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7544" y="1124744"/>
            <a:ext cx="34346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solidFill>
                  <a:schemeClr val="accent2"/>
                </a:solidFill>
              </a:rPr>
              <a:t>Iframe</a:t>
            </a:r>
            <a:r>
              <a:rPr lang="en-US" sz="2000" b="1" dirty="0" smtClean="0">
                <a:solidFill>
                  <a:schemeClr val="accent2"/>
                </a:solidFill>
              </a:rPr>
              <a:t> - Set Height and Width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7544" y="2483604"/>
            <a:ext cx="32224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solidFill>
                  <a:schemeClr val="accent2"/>
                </a:solidFill>
              </a:rPr>
              <a:t>Iframe</a:t>
            </a:r>
            <a:r>
              <a:rPr lang="en-US" sz="2000" b="1" dirty="0" smtClean="0">
                <a:solidFill>
                  <a:schemeClr val="accent2"/>
                </a:solidFill>
              </a:rPr>
              <a:t> - Remove the Border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3528" y="2987660"/>
            <a:ext cx="7044877" cy="369332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src</a:t>
            </a:r>
            <a:r>
              <a:rPr lang="en-US" b="1" dirty="0" smtClean="0">
                <a:solidFill>
                  <a:srgbClr val="00B050"/>
                </a:solidFill>
              </a:rPr>
              <a:t>=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" http</a:t>
            </a:r>
            <a:r>
              <a:rPr lang="en-US" b="1" dirty="0">
                <a:solidFill>
                  <a:srgbClr val="00B050"/>
                </a:solidFill>
              </a:rPr>
              <a:t>://nverner.am</a:t>
            </a:r>
            <a:r>
              <a:rPr lang="en-US" b="1" dirty="0" smtClean="0">
                <a:solidFill>
                  <a:srgbClr val="00B050"/>
                </a:solidFill>
              </a:rPr>
              <a:t>/"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</a:rPr>
              <a:t>frameborder</a:t>
            </a:r>
            <a:r>
              <a:rPr lang="en-US" b="1" dirty="0" smtClean="0">
                <a:solidFill>
                  <a:srgbClr val="0070C0"/>
                </a:solidFill>
              </a:rPr>
              <a:t>="0"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9552" y="3873822"/>
            <a:ext cx="36081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</a:rPr>
              <a:t>Use </a:t>
            </a:r>
            <a:r>
              <a:rPr lang="en-US" sz="2000" b="1" dirty="0" err="1" smtClean="0">
                <a:solidFill>
                  <a:schemeClr val="accent2"/>
                </a:solidFill>
              </a:rPr>
              <a:t>iframe</a:t>
            </a:r>
            <a:r>
              <a:rPr lang="en-US" sz="2000" b="1" dirty="0" smtClean="0">
                <a:solidFill>
                  <a:schemeClr val="accent2"/>
                </a:solidFill>
              </a:rPr>
              <a:t> as a Target for a Link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3528" y="4305870"/>
            <a:ext cx="7046096" cy="92333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src</a:t>
            </a:r>
            <a:r>
              <a:rPr lang="en-US" b="1" dirty="0" smtClean="0">
                <a:solidFill>
                  <a:srgbClr val="00B050"/>
                </a:solidFill>
              </a:rPr>
              <a:t>=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" demo_iframe.htm</a:t>
            </a:r>
            <a:r>
              <a:rPr lang="hy-AM" b="1" dirty="0" smtClean="0">
                <a:solidFill>
                  <a:srgbClr val="00B050"/>
                </a:solidFill>
              </a:rPr>
              <a:t>l</a:t>
            </a:r>
            <a:r>
              <a:rPr lang="en-US" b="1" dirty="0" smtClean="0">
                <a:solidFill>
                  <a:srgbClr val="00B050"/>
                </a:solidFill>
              </a:rPr>
              <a:t>"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hy-AM" b="1" dirty="0" smtClean="0">
                <a:solidFill>
                  <a:srgbClr val="0070C0"/>
                </a:solidFill>
              </a:rPr>
              <a:t>name=</a:t>
            </a:r>
            <a:r>
              <a:rPr lang="en-US" b="1" dirty="0" smtClean="0">
                <a:solidFill>
                  <a:srgbClr val="0070C0"/>
                </a:solidFill>
              </a:rPr>
              <a:t> " </a:t>
            </a:r>
            <a:r>
              <a:rPr lang="hy-AM" b="1" dirty="0" smtClean="0">
                <a:solidFill>
                  <a:srgbClr val="0070C0"/>
                </a:solidFill>
              </a:rPr>
              <a:t>iframe_a</a:t>
            </a:r>
            <a:r>
              <a:rPr lang="en-US" b="1" dirty="0" smtClean="0">
                <a:solidFill>
                  <a:srgbClr val="0070C0"/>
                </a:solidFill>
              </a:rPr>
              <a:t>" </a:t>
            </a:r>
            <a:r>
              <a:rPr lang="hy-AM" b="1" dirty="0" smtClean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hy-AM" b="1" dirty="0" smtClean="0">
              <a:solidFill>
                <a:srgbClr val="FF0000"/>
              </a:solidFill>
            </a:endParaRPr>
          </a:p>
          <a:p>
            <a:endParaRPr lang="hy-AM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&lt;a</a:t>
            </a:r>
            <a:r>
              <a:rPr lang="hy-AM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href</a:t>
            </a:r>
            <a:r>
              <a:rPr lang="en-US" b="1" dirty="0" smtClean="0">
                <a:solidFill>
                  <a:srgbClr val="00B050"/>
                </a:solidFill>
              </a:rPr>
              <a:t>=" http</a:t>
            </a:r>
            <a:r>
              <a:rPr lang="en-US" b="1" dirty="0">
                <a:solidFill>
                  <a:srgbClr val="00B050"/>
                </a:solidFill>
              </a:rPr>
              <a:t>://nverner.am </a:t>
            </a:r>
            <a:r>
              <a:rPr lang="en-US" b="1" dirty="0" smtClean="0">
                <a:solidFill>
                  <a:srgbClr val="00B050"/>
                </a:solidFill>
              </a:rPr>
              <a:t>" 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target="</a:t>
            </a:r>
            <a:r>
              <a:rPr lang="en-US" b="1" dirty="0" err="1" smtClean="0">
                <a:solidFill>
                  <a:srgbClr val="0070C0"/>
                </a:solidFill>
              </a:rPr>
              <a:t>iframe_a</a:t>
            </a:r>
            <a:r>
              <a:rPr lang="en-US" b="1" dirty="0" smtClean="0">
                <a:solidFill>
                  <a:srgbClr val="0070C0"/>
                </a:solidFill>
              </a:rPr>
              <a:t>"</a:t>
            </a:r>
            <a:r>
              <a:rPr lang="en-US" b="1" dirty="0" smtClean="0">
                <a:solidFill>
                  <a:srgbClr val="FF0000"/>
                </a:solidFill>
              </a:rPr>
              <a:t>&gt; </a:t>
            </a:r>
            <a:r>
              <a:rPr lang="en-US" b="1" dirty="0" err="1" smtClean="0">
                <a:solidFill>
                  <a:schemeClr val="tx1"/>
                </a:solidFill>
              </a:rPr>
              <a:t>nverner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  <a:r>
              <a:rPr lang="hy-AM" b="1" dirty="0" smtClean="0"/>
              <a:t>am</a:t>
            </a:r>
            <a:r>
              <a:rPr lang="en-US" b="1" dirty="0" smtClean="0">
                <a:solidFill>
                  <a:srgbClr val="FF0000"/>
                </a:solidFill>
              </a:rPr>
              <a:t>&lt;/a&gt;</a:t>
            </a:r>
            <a:endParaRPr lang="hy-AM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Ifr</a:t>
            </a:r>
            <a:r>
              <a:rPr lang="en-US" sz="4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</a:t>
            </a:r>
            <a:r>
              <a:rPr lang="hy-AM" sz="4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mes</a:t>
            </a:r>
            <a:endParaRPr lang="en-US" sz="4800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323528" y="1700808"/>
            <a:ext cx="4464496" cy="92333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src</a:t>
            </a:r>
            <a:r>
              <a:rPr lang="en-US" b="1" dirty="0" smtClean="0">
                <a:solidFill>
                  <a:srgbClr val="00B050"/>
                </a:solidFill>
              </a:rPr>
              <a:t>=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" http://nverner.am/" </a:t>
            </a:r>
            <a:r>
              <a:rPr lang="hy-AM" b="1" dirty="0" smtClean="0">
                <a:solidFill>
                  <a:srgbClr val="00B050"/>
                </a:solidFill>
              </a:rPr>
              <a:t>  </a:t>
            </a:r>
            <a:r>
              <a:rPr lang="en-US" b="1" dirty="0" smtClean="0">
                <a:solidFill>
                  <a:srgbClr val="0070C0"/>
                </a:solidFill>
              </a:rPr>
              <a:t>width="200" height="200"</a:t>
            </a:r>
            <a:r>
              <a:rPr lang="hy-AM" b="1" dirty="0" smtClean="0">
                <a:solidFill>
                  <a:srgbClr val="0070C0"/>
                </a:solidFill>
              </a:rPr>
              <a:t> 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scrolling="yes"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7544" y="1124744"/>
            <a:ext cx="20954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solidFill>
                  <a:schemeClr val="accent2"/>
                </a:solidFill>
              </a:rPr>
              <a:t>Iframe</a:t>
            </a:r>
            <a:r>
              <a:rPr lang="en-US" sz="2000" b="1" dirty="0" smtClean="0">
                <a:solidFill>
                  <a:schemeClr val="accent2"/>
                </a:solidFill>
              </a:rPr>
              <a:t> - </a:t>
            </a:r>
            <a:r>
              <a:rPr lang="hy-AM" sz="2000" b="1" dirty="0" smtClean="0">
                <a:solidFill>
                  <a:schemeClr val="accent2"/>
                </a:solidFill>
              </a:rPr>
              <a:t>Scrolling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3528" y="4149080"/>
            <a:ext cx="4464496" cy="92333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src</a:t>
            </a:r>
            <a:r>
              <a:rPr lang="en-US" b="1" dirty="0" smtClean="0">
                <a:solidFill>
                  <a:srgbClr val="00B050"/>
                </a:solidFill>
              </a:rPr>
              <a:t>=</a:t>
            </a:r>
            <a:r>
              <a:rPr lang="hy-AM" b="1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" http://nverner.am/" </a:t>
            </a:r>
            <a:r>
              <a:rPr lang="hy-AM" b="1" dirty="0" smtClean="0">
                <a:solidFill>
                  <a:srgbClr val="00B050"/>
                </a:solidFill>
              </a:rPr>
              <a:t>  </a:t>
            </a:r>
            <a:r>
              <a:rPr lang="en-US" b="1" dirty="0" smtClean="0">
                <a:solidFill>
                  <a:srgbClr val="0070C0"/>
                </a:solidFill>
              </a:rPr>
              <a:t>width="200" height="200"</a:t>
            </a:r>
            <a:r>
              <a:rPr lang="hy-AM" b="1" dirty="0" smtClean="0">
                <a:solidFill>
                  <a:srgbClr val="0070C0"/>
                </a:solidFill>
              </a:rPr>
              <a:t> 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scrolling= "</a:t>
            </a:r>
            <a:r>
              <a:rPr lang="hy-AM" b="1" dirty="0" smtClean="0">
                <a:solidFill>
                  <a:srgbClr val="7030A0"/>
                </a:solidFill>
              </a:rPr>
              <a:t> no</a:t>
            </a:r>
            <a:r>
              <a:rPr lang="en-US" b="1" dirty="0" smtClean="0">
                <a:solidFill>
                  <a:srgbClr val="7030A0"/>
                </a:solidFill>
              </a:rPr>
              <a:t>"</a:t>
            </a:r>
            <a:r>
              <a:rPr lang="hy-AM" b="1" dirty="0" smtClean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hy-AM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&lt;/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5576" y="5373216"/>
            <a:ext cx="3688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iframe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scrolling="</a:t>
            </a:r>
            <a:r>
              <a:rPr lang="en-US" b="1" dirty="0" err="1" smtClean="0">
                <a:solidFill>
                  <a:srgbClr val="7030A0"/>
                </a:solidFill>
              </a:rPr>
              <a:t>auto|yes|no</a:t>
            </a:r>
            <a:r>
              <a:rPr lang="en-US" b="1" dirty="0" smtClean="0">
                <a:solidFill>
                  <a:srgbClr val="7030A0"/>
                </a:solidFill>
              </a:rPr>
              <a:t>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Video tag</a:t>
            </a:r>
            <a:endParaRPr lang="en-US" sz="4800" dirty="0" smtClean="0"/>
          </a:p>
        </p:txBody>
      </p:sp>
      <p:sp>
        <p:nvSpPr>
          <p:cNvPr id="16" name="Rectangle 15"/>
          <p:cNvSpPr/>
          <p:nvPr/>
        </p:nvSpPr>
        <p:spPr>
          <a:xfrm>
            <a:off x="428596" y="1428736"/>
            <a:ext cx="8280920" cy="646331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HTML5 defines a new element which specifies a standard way to embed a video or movie on a web page: the &lt;video&gt; element.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5720" y="3500438"/>
            <a:ext cx="6215106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&lt;video</a:t>
            </a:r>
            <a:r>
              <a:rPr lang="en-US" dirty="0" smtClean="0"/>
              <a:t> width="320" height="240" </a:t>
            </a:r>
            <a:r>
              <a:rPr lang="en-US" dirty="0"/>
              <a:t>controls </a:t>
            </a:r>
            <a:r>
              <a:rPr lang="en-US" dirty="0" err="1"/>
              <a:t>autoplay</a:t>
            </a:r>
            <a:r>
              <a:rPr lang="en-US" dirty="0"/>
              <a:t> </a:t>
            </a:r>
            <a:r>
              <a:rPr lang="en-US" dirty="0" smtClean="0"/>
              <a:t>loop&gt;</a:t>
            </a:r>
            <a:br>
              <a:rPr lang="en-US" dirty="0" smtClean="0"/>
            </a:br>
            <a:r>
              <a:rPr lang="en-US" dirty="0" smtClean="0"/>
              <a:t>  &lt;source </a:t>
            </a:r>
            <a:r>
              <a:rPr lang="en-US" dirty="0" err="1" smtClean="0"/>
              <a:t>src</a:t>
            </a:r>
            <a:r>
              <a:rPr lang="en-US" dirty="0" smtClean="0"/>
              <a:t>="movie.mp4" type="video/mp4"&gt;</a:t>
            </a:r>
            <a:br>
              <a:rPr lang="en-US" dirty="0" smtClean="0"/>
            </a:br>
            <a:r>
              <a:rPr lang="en-US" dirty="0" smtClean="0"/>
              <a:t>  &lt;source </a:t>
            </a:r>
            <a:r>
              <a:rPr lang="en-US" dirty="0" err="1" smtClean="0"/>
              <a:t>src</a:t>
            </a:r>
            <a:r>
              <a:rPr lang="en-US" dirty="0" smtClean="0"/>
              <a:t>="movie.ogg" type="video/</a:t>
            </a:r>
            <a:r>
              <a:rPr lang="en-US" dirty="0" err="1" smtClean="0"/>
              <a:t>ogg</a:t>
            </a:r>
            <a:r>
              <a:rPr lang="en-US" dirty="0" smtClean="0"/>
              <a:t>"&gt;</a:t>
            </a:r>
            <a:br>
              <a:rPr lang="en-US" dirty="0" smtClean="0"/>
            </a:br>
            <a:r>
              <a:rPr lang="en-US" dirty="0" smtClean="0"/>
              <a:t>Your browser does not support the video tag.</a:t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</a:rPr>
              <a:t>&lt;/video&gt;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4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– Audio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tag</a:t>
            </a:r>
            <a:endParaRPr lang="en-US" sz="4800" dirty="0" smtClean="0"/>
          </a:p>
        </p:txBody>
      </p:sp>
      <p:sp>
        <p:nvSpPr>
          <p:cNvPr id="16" name="Rectangle 15"/>
          <p:cNvSpPr/>
          <p:nvPr/>
        </p:nvSpPr>
        <p:spPr>
          <a:xfrm>
            <a:off x="428596" y="1428736"/>
            <a:ext cx="8280920" cy="646331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HTML5 defines a new element which specifies a standard way to embed a video or movie on a web page: the &lt;video&gt; element.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5720" y="3500438"/>
            <a:ext cx="6215106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&lt;audio </a:t>
            </a:r>
            <a:r>
              <a:rPr lang="en-US" dirty="0" smtClean="0"/>
              <a:t>controls </a:t>
            </a:r>
            <a:r>
              <a:rPr lang="en-US" dirty="0" err="1" smtClean="0"/>
              <a:t>autoplay</a:t>
            </a:r>
            <a:r>
              <a:rPr lang="en-US" dirty="0" smtClean="0"/>
              <a:t> loop&gt;</a:t>
            </a:r>
            <a:br>
              <a:rPr lang="en-US" dirty="0" smtClean="0"/>
            </a:br>
            <a:r>
              <a:rPr lang="en-US" dirty="0" smtClean="0"/>
              <a:t>  &lt;source </a:t>
            </a:r>
            <a:r>
              <a:rPr lang="en-US" dirty="0" err="1" smtClean="0"/>
              <a:t>src</a:t>
            </a:r>
            <a:r>
              <a:rPr lang="en-US" dirty="0" smtClean="0"/>
              <a:t>="horse.ogg" type="audio/</a:t>
            </a:r>
            <a:r>
              <a:rPr lang="en-US" dirty="0" err="1" smtClean="0"/>
              <a:t>ogg</a:t>
            </a:r>
            <a:r>
              <a:rPr lang="en-US" dirty="0" smtClean="0"/>
              <a:t>"&gt;</a:t>
            </a:r>
            <a:br>
              <a:rPr lang="en-US" dirty="0" smtClean="0"/>
            </a:br>
            <a:r>
              <a:rPr lang="en-US" dirty="0" smtClean="0"/>
              <a:t>  &lt;source </a:t>
            </a:r>
            <a:r>
              <a:rPr lang="en-US" dirty="0" err="1" smtClean="0"/>
              <a:t>src</a:t>
            </a:r>
            <a:r>
              <a:rPr lang="en-US" dirty="0" smtClean="0"/>
              <a:t>="horse.mp3" type="audio/mpeg"&gt;</a:t>
            </a:r>
            <a:br>
              <a:rPr lang="en-US" dirty="0" smtClean="0"/>
            </a:br>
            <a:r>
              <a:rPr lang="en-US" dirty="0" smtClean="0"/>
              <a:t>Your browser does not support the audio element.</a:t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</a:rPr>
              <a:t>&lt;/audio&gt;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317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</a:t>
            </a:r>
            <a:r>
              <a:rPr lang="en-US" sz="4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endParaRPr lang="en-US" sz="48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72669"/>
            <a:ext cx="8496944" cy="320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8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404664"/>
            <a:ext cx="3888432" cy="6157406"/>
          </a:xfrm>
        </p:spPr>
      </p:pic>
      <p:sp>
        <p:nvSpPr>
          <p:cNvPr id="4" name="TextBox 3"/>
          <p:cNvSpPr txBox="1"/>
          <p:nvPr/>
        </p:nvSpPr>
        <p:spPr>
          <a:xfrm>
            <a:off x="683568" y="260648"/>
            <a:ext cx="4317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endParaRPr lang="en-US" sz="4800" dirty="0" smtClean="0"/>
          </a:p>
        </p:txBody>
      </p:sp>
    </p:spTree>
    <p:extLst>
      <p:ext uri="{BB962C8B-B14F-4D97-AF65-F5344CB8AC3E}">
        <p14:creationId xmlns:p14="http://schemas.microsoft.com/office/powerpoint/2010/main" val="102489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3150</TotalTime>
  <Words>293</Words>
  <Application>Microsoft Office PowerPoint</Application>
  <PresentationFormat>Экран (4:3)</PresentationFormat>
  <Paragraphs>30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209</cp:revision>
  <dcterms:created xsi:type="dcterms:W3CDTF">2013-08-16T08:22:25Z</dcterms:created>
  <dcterms:modified xsi:type="dcterms:W3CDTF">2016-08-02T06:45:48Z</dcterms:modified>
</cp:coreProperties>
</file>