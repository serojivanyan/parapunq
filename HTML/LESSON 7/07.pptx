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11"/>
  </p:notesMasterIdLst>
  <p:sldIdLst>
    <p:sldId id="257" r:id="rId2"/>
    <p:sldId id="279" r:id="rId3"/>
    <p:sldId id="277" r:id="rId4"/>
    <p:sldId id="278" r:id="rId5"/>
    <p:sldId id="261" r:id="rId6"/>
    <p:sldId id="281" r:id="rId7"/>
    <p:sldId id="272" r:id="rId8"/>
    <p:sldId id="282" r:id="rId9"/>
    <p:sldId id="28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C8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717" autoAdjust="0"/>
  </p:normalViewPr>
  <p:slideViewPr>
    <p:cSldViewPr>
      <p:cViewPr>
        <p:scale>
          <a:sx n="70" d="100"/>
          <a:sy n="70" d="100"/>
        </p:scale>
        <p:origin x="-138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D9A533B-BB62-4DA6-BFAC-31FCF3044E77}" type="datetimeFigureOut">
              <a:rPr lang="en-US" smtClean="0"/>
              <a:pPr/>
              <a:t>11/14/2016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4AA493-8083-4A0A-9DB8-8876B538388F}" type="slidenum">
              <a:rPr lang="en-US" smtClean="0"/>
              <a:pPr/>
              <a:t>‹#›</a:t>
            </a:fld>
            <a:endParaRPr lang="en-US"/>
          </a:p>
        </p:txBody>
      </p:sp>
    </p:spTree>
    <p:extLst>
      <p:ext uri="{BB962C8B-B14F-4D97-AF65-F5344CB8AC3E}">
        <p14:creationId xmlns:p14="http://schemas.microsoft.com/office/powerpoint/2010/main" val="3435351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F859E707-2A3A-45FE-B56F-C51718F36AA8}"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59E707-2A3A-45FE-B56F-C51718F36AA8}"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F859E707-2A3A-45FE-B56F-C51718F36AA8}"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32B6477-8826-47CB-B9F3-3F88F5668FA1}" type="datetimeFigureOut">
              <a:rPr lang="en-US" smtClean="0"/>
              <a:pPr/>
              <a:t>11/14/2016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59E707-2A3A-45FE-B56F-C51718F36A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32B6477-8826-47CB-B9F3-3F88F5668FA1}" type="datetimeFigureOut">
              <a:rPr lang="en-US" smtClean="0"/>
              <a:pPr/>
              <a:t>11/14/2016</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F859E707-2A3A-45FE-B56F-C51718F36A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1484784"/>
            <a:ext cx="4608512" cy="2369880"/>
          </a:xfrm>
          <a:prstGeom prst="rect">
            <a:avLst/>
          </a:prstGeom>
          <a:noFill/>
        </p:spPr>
        <p:txBody>
          <a:bodyPr wrap="square" rtlCol="0">
            <a:spAutoFit/>
          </a:bodyPr>
          <a:lstStyle/>
          <a:p>
            <a:r>
              <a:rPr lang="hy-AM" sz="120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HTML</a:t>
            </a:r>
          </a:p>
          <a:p>
            <a:r>
              <a:rPr lang="hy-AM" sz="2800" b="1" dirty="0" smtClean="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Lesson </a:t>
            </a:r>
            <a:r>
              <a:rPr lang="en-US" sz="2800" b="1" dirty="0">
                <a:ln w="18000">
                  <a:solidFill>
                    <a:schemeClr val="accent2">
                      <a:satMod val="140000"/>
                    </a:schemeClr>
                  </a:solidFill>
                  <a:prstDash val="solid"/>
                  <a:miter lim="800000"/>
                </a:ln>
                <a:solidFill>
                  <a:schemeClr val="accent2"/>
                </a:solidFill>
                <a:effectLst>
                  <a:outerShdw blurRad="25500" dist="23000" dir="7020000" algn="tl">
                    <a:srgbClr val="000000">
                      <a:alpha val="50000"/>
                    </a:srgbClr>
                  </a:outerShdw>
                </a:effectLst>
              </a:rPr>
              <a:t>7</a:t>
            </a:r>
          </a:p>
        </p:txBody>
      </p:sp>
      <p:pic>
        <p:nvPicPr>
          <p:cNvPr id="6148" name="Picture 4" descr="C:\Users\Araik\Desktop\images (1).jpg"/>
          <p:cNvPicPr>
            <a:picLocks noChangeAspect="1" noChangeArrowheads="1"/>
          </p:cNvPicPr>
          <p:nvPr/>
        </p:nvPicPr>
        <p:blipFill>
          <a:blip r:embed="rId2" cstate="print"/>
          <a:srcRect/>
          <a:stretch>
            <a:fillRect/>
          </a:stretch>
        </p:blipFill>
        <p:spPr bwMode="auto">
          <a:xfrm>
            <a:off x="5148064" y="476672"/>
            <a:ext cx="3631034" cy="3631034"/>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3568" y="260648"/>
            <a:ext cx="7920880"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 </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&lt;map&gt; Tag</a:t>
            </a:r>
          </a:p>
        </p:txBody>
      </p:sp>
      <p:sp>
        <p:nvSpPr>
          <p:cNvPr id="2" name="Прямоугольник 1"/>
          <p:cNvSpPr/>
          <p:nvPr/>
        </p:nvSpPr>
        <p:spPr>
          <a:xfrm>
            <a:off x="559309" y="1988840"/>
            <a:ext cx="7958054" cy="3416320"/>
          </a:xfrm>
          <a:prstGeom prst="rect">
            <a:avLst/>
          </a:prstGeom>
        </p:spPr>
        <p:txBody>
          <a:bodyPr wrap="square">
            <a:spAutoFit/>
          </a:bodyPr>
          <a:lstStyle/>
          <a:p>
            <a:r>
              <a:rPr lang="en-US" sz="2400" b="1" dirty="0">
                <a:solidFill>
                  <a:schemeClr val="accent2"/>
                </a:solidFill>
              </a:rPr>
              <a:t>The </a:t>
            </a:r>
            <a:r>
              <a:rPr lang="en-US" sz="2400" b="1" dirty="0">
                <a:solidFill>
                  <a:srgbClr val="FFC000"/>
                </a:solidFill>
              </a:rPr>
              <a:t>&lt;map&gt; </a:t>
            </a:r>
            <a:r>
              <a:rPr lang="en-US" sz="2400" b="1" dirty="0">
                <a:solidFill>
                  <a:schemeClr val="accent2"/>
                </a:solidFill>
              </a:rPr>
              <a:t>tag is used to define a client-side image-map. An image-map is an image with clickable areas</a:t>
            </a:r>
            <a:r>
              <a:rPr lang="en-US" sz="2400" b="1" dirty="0" smtClean="0">
                <a:solidFill>
                  <a:schemeClr val="accent2"/>
                </a:solidFill>
              </a:rPr>
              <a:t>.</a:t>
            </a:r>
          </a:p>
          <a:p>
            <a:endParaRPr lang="en-US" sz="2400" b="1" dirty="0">
              <a:solidFill>
                <a:schemeClr val="accent2"/>
              </a:solidFill>
            </a:endParaRPr>
          </a:p>
          <a:p>
            <a:r>
              <a:rPr lang="en-US" sz="2400" b="1" dirty="0">
                <a:solidFill>
                  <a:schemeClr val="accent2"/>
                </a:solidFill>
              </a:rPr>
              <a:t>The required name attribute of the </a:t>
            </a:r>
            <a:r>
              <a:rPr lang="en-US" sz="2400" b="1" dirty="0">
                <a:solidFill>
                  <a:srgbClr val="FFC000"/>
                </a:solidFill>
              </a:rPr>
              <a:t>&lt;map&gt; </a:t>
            </a:r>
            <a:r>
              <a:rPr lang="en-US" sz="2400" b="1" dirty="0">
                <a:solidFill>
                  <a:schemeClr val="accent2"/>
                </a:solidFill>
              </a:rPr>
              <a:t>element is associated with the </a:t>
            </a:r>
            <a:r>
              <a:rPr lang="en-US" sz="2400" b="1" dirty="0">
                <a:solidFill>
                  <a:srgbClr val="FFC000"/>
                </a:solidFill>
              </a:rPr>
              <a:t>&lt;</a:t>
            </a:r>
            <a:r>
              <a:rPr lang="en-US" sz="2400" b="1" dirty="0" err="1">
                <a:solidFill>
                  <a:srgbClr val="FFC000"/>
                </a:solidFill>
              </a:rPr>
              <a:t>img</a:t>
            </a:r>
            <a:r>
              <a:rPr lang="en-US" sz="2400" b="1" dirty="0">
                <a:solidFill>
                  <a:srgbClr val="FFC000"/>
                </a:solidFill>
              </a:rPr>
              <a:t>&gt;</a:t>
            </a:r>
            <a:r>
              <a:rPr lang="en-US" sz="2400" b="1" dirty="0">
                <a:solidFill>
                  <a:schemeClr val="accent2"/>
                </a:solidFill>
              </a:rPr>
              <a:t>'s </a:t>
            </a:r>
            <a:r>
              <a:rPr lang="en-US" sz="2400" b="1" dirty="0" err="1">
                <a:solidFill>
                  <a:schemeClr val="accent2"/>
                </a:solidFill>
              </a:rPr>
              <a:t>usemap</a:t>
            </a:r>
            <a:r>
              <a:rPr lang="en-US" sz="2400" b="1" dirty="0">
                <a:solidFill>
                  <a:schemeClr val="accent2"/>
                </a:solidFill>
              </a:rPr>
              <a:t> attribute and creates a relationship between the image and the map</a:t>
            </a:r>
            <a:r>
              <a:rPr lang="en-US" sz="2400" b="1" dirty="0" smtClean="0">
                <a:solidFill>
                  <a:schemeClr val="accent2"/>
                </a:solidFill>
              </a:rPr>
              <a:t>.</a:t>
            </a:r>
          </a:p>
          <a:p>
            <a:endParaRPr lang="en-US" sz="2400" b="1" dirty="0" smtClean="0">
              <a:solidFill>
                <a:schemeClr val="accent2"/>
              </a:solidFill>
            </a:endParaRPr>
          </a:p>
          <a:p>
            <a:r>
              <a:rPr lang="en-US" sz="2400" b="1" dirty="0">
                <a:solidFill>
                  <a:schemeClr val="accent2"/>
                </a:solidFill>
              </a:rPr>
              <a:t>The </a:t>
            </a:r>
            <a:r>
              <a:rPr lang="en-US" sz="2400" b="1" dirty="0">
                <a:solidFill>
                  <a:srgbClr val="FFC000"/>
                </a:solidFill>
              </a:rPr>
              <a:t>&lt;map&gt; </a:t>
            </a:r>
            <a:r>
              <a:rPr lang="en-US" sz="2400" b="1" dirty="0">
                <a:solidFill>
                  <a:schemeClr val="accent2"/>
                </a:solidFill>
              </a:rPr>
              <a:t>element contains a number of </a:t>
            </a:r>
            <a:r>
              <a:rPr lang="en-US" sz="2400" b="1" dirty="0">
                <a:solidFill>
                  <a:srgbClr val="FFC000"/>
                </a:solidFill>
              </a:rPr>
              <a:t>&lt;</a:t>
            </a:r>
            <a:r>
              <a:rPr lang="en-US" sz="2400" b="1" dirty="0" smtClean="0">
                <a:solidFill>
                  <a:srgbClr val="FFC000"/>
                </a:solidFill>
              </a:rPr>
              <a:t>area&gt;</a:t>
            </a:r>
            <a:r>
              <a:rPr lang="en-US" sz="2400" b="1" dirty="0">
                <a:solidFill>
                  <a:schemeClr val="accent2"/>
                </a:solidFill>
              </a:rPr>
              <a:t> elements, that defines the clickable areas in the image map.</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683568" y="260648"/>
            <a:ext cx="7920880"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 </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&lt;map&gt;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Tag</a:t>
            </a:r>
            <a:endPar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endParaRPr>
          </a:p>
        </p:txBody>
      </p:sp>
      <p:sp>
        <p:nvSpPr>
          <p:cNvPr id="12" name="Rectangle 11"/>
          <p:cNvSpPr/>
          <p:nvPr/>
        </p:nvSpPr>
        <p:spPr>
          <a:xfrm>
            <a:off x="683568" y="1290795"/>
            <a:ext cx="8064896" cy="4524315"/>
          </a:xfrm>
          <a:prstGeom prst="rect">
            <a:avLst/>
          </a:prstGeom>
        </p:spPr>
        <p:txBody>
          <a:bodyPr wrap="square">
            <a:spAutoFit/>
          </a:bodyPr>
          <a:lstStyle/>
          <a:p>
            <a:r>
              <a:rPr lang="en-US" sz="2400" b="1" dirty="0" smtClean="0">
                <a:solidFill>
                  <a:srgbClr val="FF0000"/>
                </a:solidFill>
              </a:rPr>
              <a:t>&lt;</a:t>
            </a:r>
            <a:r>
              <a:rPr lang="en-US" sz="2400" b="1" dirty="0">
                <a:solidFill>
                  <a:srgbClr val="FF0000"/>
                </a:solidFill>
              </a:rPr>
              <a:t>map </a:t>
            </a:r>
            <a:r>
              <a:rPr lang="en-US" sz="2400" b="1" dirty="0">
                <a:solidFill>
                  <a:srgbClr val="002060"/>
                </a:solidFill>
              </a:rPr>
              <a:t>name</a:t>
            </a:r>
            <a:r>
              <a:rPr lang="en-US" sz="2400" b="1" dirty="0">
                <a:solidFill>
                  <a:schemeClr val="accent2"/>
                </a:solidFill>
              </a:rPr>
              <a:t>="</a:t>
            </a:r>
            <a:r>
              <a:rPr lang="en-US" sz="2400" b="1" dirty="0" err="1">
                <a:solidFill>
                  <a:schemeClr val="accent2"/>
                </a:solidFill>
              </a:rPr>
              <a:t>beachmap</a:t>
            </a:r>
            <a:r>
              <a:rPr lang="en-US" sz="2400" b="1" dirty="0">
                <a:solidFill>
                  <a:schemeClr val="accent2"/>
                </a:solidFill>
              </a:rPr>
              <a:t>"</a:t>
            </a:r>
            <a:r>
              <a:rPr lang="en-US" sz="2400" b="1" dirty="0">
                <a:solidFill>
                  <a:srgbClr val="FF0000"/>
                </a:solidFill>
              </a:rPr>
              <a:t>&gt;</a:t>
            </a:r>
          </a:p>
          <a:p>
            <a:pPr lvl="1"/>
            <a:r>
              <a:rPr lang="en-US" sz="2400" b="1" dirty="0" smtClean="0">
                <a:solidFill>
                  <a:srgbClr val="FF0000"/>
                </a:solidFill>
              </a:rPr>
              <a:t>&lt;</a:t>
            </a:r>
            <a:r>
              <a:rPr lang="en-US" sz="2400" b="1" dirty="0">
                <a:solidFill>
                  <a:srgbClr val="FF0000"/>
                </a:solidFill>
              </a:rPr>
              <a:t>area </a:t>
            </a:r>
            <a:r>
              <a:rPr lang="en-US" sz="2400" b="1" dirty="0" err="1">
                <a:solidFill>
                  <a:srgbClr val="002060"/>
                </a:solidFill>
              </a:rPr>
              <a:t>href</a:t>
            </a:r>
            <a:r>
              <a:rPr lang="en-US" sz="2400" b="1" dirty="0" smtClean="0">
                <a:solidFill>
                  <a:schemeClr val="accent2"/>
                </a:solidFill>
              </a:rPr>
              <a:t>="#" </a:t>
            </a:r>
            <a:r>
              <a:rPr lang="en-US" sz="2400" b="1" dirty="0">
                <a:solidFill>
                  <a:srgbClr val="00B050"/>
                </a:solidFill>
              </a:rPr>
              <a:t>shape="poly" </a:t>
            </a:r>
            <a:r>
              <a:rPr lang="en-US" sz="2400" b="1" dirty="0" smtClean="0">
                <a:solidFill>
                  <a:schemeClr val="accent2"/>
                </a:solidFill>
              </a:rPr>
              <a:t>	</a:t>
            </a:r>
            <a:r>
              <a:rPr lang="en-US" sz="2400" b="1" dirty="0" err="1" smtClean="0">
                <a:solidFill>
                  <a:srgbClr val="00B050"/>
                </a:solidFill>
              </a:rPr>
              <a:t>coords</a:t>
            </a:r>
            <a:r>
              <a:rPr lang="en-US" sz="2400" b="1" dirty="0">
                <a:solidFill>
                  <a:srgbClr val="00B050"/>
                </a:solidFill>
              </a:rPr>
              <a:t>="17,51,42,35,66,51,66,89,17,89" </a:t>
            </a:r>
            <a:r>
              <a:rPr lang="en-US" sz="2400" b="1" dirty="0">
                <a:solidFill>
                  <a:srgbClr val="002060"/>
                </a:solidFill>
              </a:rPr>
              <a:t>alt</a:t>
            </a:r>
            <a:r>
              <a:rPr lang="en-US" sz="2400" b="1" dirty="0">
                <a:solidFill>
                  <a:schemeClr val="accent2"/>
                </a:solidFill>
              </a:rPr>
              <a:t>="Beach </a:t>
            </a:r>
            <a:r>
              <a:rPr lang="en-US" sz="2400" b="1" dirty="0" smtClean="0">
                <a:solidFill>
                  <a:schemeClr val="accent2"/>
                </a:solidFill>
              </a:rPr>
              <a:t>	hut</a:t>
            </a:r>
            <a:r>
              <a:rPr lang="en-US" sz="2400" b="1" dirty="0">
                <a:solidFill>
                  <a:schemeClr val="accent2"/>
                </a:solidFill>
              </a:rPr>
              <a:t>" </a:t>
            </a:r>
            <a:r>
              <a:rPr lang="en-US" sz="2400" b="1" dirty="0">
                <a:solidFill>
                  <a:srgbClr val="002060"/>
                </a:solidFill>
              </a:rPr>
              <a:t>title</a:t>
            </a:r>
            <a:r>
              <a:rPr lang="en-US" sz="2400" b="1" dirty="0">
                <a:solidFill>
                  <a:schemeClr val="accent2"/>
                </a:solidFill>
              </a:rPr>
              <a:t>="Beach hut - where you get changed"</a:t>
            </a:r>
            <a:r>
              <a:rPr lang="en-US" sz="2400" b="1" dirty="0">
                <a:solidFill>
                  <a:srgbClr val="FF0000"/>
                </a:solidFill>
              </a:rPr>
              <a:t>&gt;</a:t>
            </a:r>
          </a:p>
          <a:p>
            <a:pPr lvl="1"/>
            <a:r>
              <a:rPr lang="en-US" sz="2400" b="1" dirty="0" smtClean="0">
                <a:solidFill>
                  <a:srgbClr val="FF0000"/>
                </a:solidFill>
              </a:rPr>
              <a:t>&lt;</a:t>
            </a:r>
            <a:r>
              <a:rPr lang="en-US" sz="2400" b="1" dirty="0">
                <a:solidFill>
                  <a:srgbClr val="FF0000"/>
                </a:solidFill>
              </a:rPr>
              <a:t>area </a:t>
            </a:r>
            <a:r>
              <a:rPr lang="en-US" sz="2400" b="1" dirty="0">
                <a:solidFill>
                  <a:srgbClr val="00B050"/>
                </a:solidFill>
              </a:rPr>
              <a:t>shape="circle" </a:t>
            </a:r>
            <a:r>
              <a:rPr lang="en-US" sz="2400" b="1" dirty="0" err="1">
                <a:solidFill>
                  <a:srgbClr val="00B050"/>
                </a:solidFill>
              </a:rPr>
              <a:t>coords</a:t>
            </a:r>
            <a:r>
              <a:rPr lang="en-US" sz="2400" b="1" dirty="0">
                <a:solidFill>
                  <a:srgbClr val="00B050"/>
                </a:solidFill>
              </a:rPr>
              <a:t>="99,92,12" </a:t>
            </a:r>
            <a:r>
              <a:rPr lang="en-US" sz="2400" b="1" dirty="0" err="1">
                <a:solidFill>
                  <a:srgbClr val="00B050"/>
                </a:solidFill>
              </a:rPr>
              <a:t>nohref</a:t>
            </a:r>
            <a:r>
              <a:rPr lang="en-US" sz="2400" b="1" dirty="0">
                <a:solidFill>
                  <a:srgbClr val="00B050"/>
                </a:solidFill>
              </a:rPr>
              <a:t> </a:t>
            </a:r>
            <a:r>
              <a:rPr lang="en-US" sz="2400" b="1" dirty="0">
                <a:solidFill>
                  <a:srgbClr val="002060"/>
                </a:solidFill>
              </a:rPr>
              <a:t>alt</a:t>
            </a:r>
            <a:r>
              <a:rPr lang="en-US" sz="2400" b="1" dirty="0">
                <a:solidFill>
                  <a:schemeClr val="accent2"/>
                </a:solidFill>
              </a:rPr>
              <a:t>="" </a:t>
            </a:r>
            <a:r>
              <a:rPr lang="en-US" sz="2400" b="1" dirty="0" smtClean="0">
                <a:solidFill>
                  <a:schemeClr val="accent2"/>
                </a:solidFill>
              </a:rPr>
              <a:t>	</a:t>
            </a:r>
            <a:r>
              <a:rPr lang="en-US" sz="2400" b="1" dirty="0" smtClean="0">
                <a:solidFill>
                  <a:srgbClr val="002060"/>
                </a:solidFill>
              </a:rPr>
              <a:t>title</a:t>
            </a:r>
            <a:r>
              <a:rPr lang="en-US" sz="2400" b="1" dirty="0">
                <a:solidFill>
                  <a:schemeClr val="accent2"/>
                </a:solidFill>
              </a:rPr>
              <a:t>="</a:t>
            </a:r>
            <a:r>
              <a:rPr lang="en-US" sz="2400" b="1" dirty="0" err="1">
                <a:solidFill>
                  <a:schemeClr val="accent2"/>
                </a:solidFill>
              </a:rPr>
              <a:t>nohref</a:t>
            </a:r>
            <a:r>
              <a:rPr lang="en-US" sz="2400" b="1" dirty="0">
                <a:solidFill>
                  <a:schemeClr val="accent2"/>
                </a:solidFill>
              </a:rPr>
              <a:t>"&gt;</a:t>
            </a:r>
          </a:p>
          <a:p>
            <a:pPr lvl="1"/>
            <a:r>
              <a:rPr lang="en-US" sz="2400" b="1" dirty="0" smtClean="0">
                <a:solidFill>
                  <a:srgbClr val="FF0000"/>
                </a:solidFill>
              </a:rPr>
              <a:t>&lt;</a:t>
            </a:r>
            <a:r>
              <a:rPr lang="en-US" sz="2400" b="1" dirty="0">
                <a:solidFill>
                  <a:srgbClr val="FF0000"/>
                </a:solidFill>
              </a:rPr>
              <a:t>area </a:t>
            </a:r>
            <a:r>
              <a:rPr lang="en-US" sz="2400" b="1" dirty="0" err="1">
                <a:solidFill>
                  <a:srgbClr val="002060"/>
                </a:solidFill>
              </a:rPr>
              <a:t>href</a:t>
            </a:r>
            <a:r>
              <a:rPr lang="en-US" sz="2400" b="1" dirty="0" smtClean="0">
                <a:solidFill>
                  <a:schemeClr val="accent2"/>
                </a:solidFill>
              </a:rPr>
              <a:t>="#" </a:t>
            </a:r>
            <a:r>
              <a:rPr lang="en-US" sz="2400" b="1" dirty="0">
                <a:solidFill>
                  <a:srgbClr val="00B050"/>
                </a:solidFill>
              </a:rPr>
              <a:t>shape="circle" </a:t>
            </a:r>
            <a:r>
              <a:rPr lang="en-US" sz="2400" b="1" dirty="0" err="1">
                <a:solidFill>
                  <a:srgbClr val="00B050"/>
                </a:solidFill>
              </a:rPr>
              <a:t>coords</a:t>
            </a:r>
            <a:r>
              <a:rPr lang="en-US" sz="2400" b="1" dirty="0">
                <a:solidFill>
                  <a:srgbClr val="00B050"/>
                </a:solidFill>
              </a:rPr>
              <a:t>="99,92,23"</a:t>
            </a:r>
            <a:r>
              <a:rPr lang="en-US" sz="2400" b="1" dirty="0">
                <a:solidFill>
                  <a:schemeClr val="accent2"/>
                </a:solidFill>
              </a:rPr>
              <a:t>  </a:t>
            </a:r>
            <a:r>
              <a:rPr lang="en-US" sz="2400" b="1" dirty="0" smtClean="0">
                <a:solidFill>
                  <a:schemeClr val="accent2"/>
                </a:solidFill>
              </a:rPr>
              <a:t>	</a:t>
            </a:r>
            <a:r>
              <a:rPr lang="en-US" sz="2400" b="1" dirty="0" smtClean="0">
                <a:solidFill>
                  <a:srgbClr val="002060"/>
                </a:solidFill>
              </a:rPr>
              <a:t>alt</a:t>
            </a:r>
            <a:r>
              <a:rPr lang="en-US" sz="2400" b="1" dirty="0">
                <a:solidFill>
                  <a:schemeClr val="accent2"/>
                </a:solidFill>
              </a:rPr>
              <a:t>="Life ring" </a:t>
            </a:r>
            <a:r>
              <a:rPr lang="en-US" sz="2400" b="1" dirty="0">
                <a:solidFill>
                  <a:srgbClr val="002060"/>
                </a:solidFill>
              </a:rPr>
              <a:t>title</a:t>
            </a:r>
            <a:r>
              <a:rPr lang="en-US" sz="2400" b="1" dirty="0">
                <a:solidFill>
                  <a:schemeClr val="accent2"/>
                </a:solidFill>
              </a:rPr>
              <a:t>="Life ring - to help you swim"</a:t>
            </a:r>
            <a:r>
              <a:rPr lang="en-US" sz="2400" b="1" dirty="0">
                <a:solidFill>
                  <a:srgbClr val="FF0000"/>
                </a:solidFill>
              </a:rPr>
              <a:t>&gt;</a:t>
            </a:r>
          </a:p>
          <a:p>
            <a:pPr lvl="1"/>
            <a:r>
              <a:rPr lang="en-US" sz="2400" b="1" dirty="0">
                <a:solidFill>
                  <a:schemeClr val="accent2"/>
                </a:solidFill>
              </a:rPr>
              <a:t> </a:t>
            </a:r>
            <a:r>
              <a:rPr lang="en-US" sz="2400" b="1" dirty="0" smtClean="0">
                <a:solidFill>
                  <a:srgbClr val="FF0000"/>
                </a:solidFill>
              </a:rPr>
              <a:t>&lt;</a:t>
            </a:r>
            <a:r>
              <a:rPr lang="en-US" sz="2400" b="1" dirty="0">
                <a:solidFill>
                  <a:srgbClr val="FF0000"/>
                </a:solidFill>
              </a:rPr>
              <a:t>area </a:t>
            </a:r>
            <a:r>
              <a:rPr lang="en-US" sz="2400" b="1" dirty="0" err="1">
                <a:solidFill>
                  <a:srgbClr val="002060"/>
                </a:solidFill>
              </a:rPr>
              <a:t>href</a:t>
            </a:r>
            <a:r>
              <a:rPr lang="en-US" sz="2400" b="1" dirty="0" smtClean="0">
                <a:solidFill>
                  <a:schemeClr val="accent2"/>
                </a:solidFill>
              </a:rPr>
              <a:t>="#" </a:t>
            </a:r>
            <a:r>
              <a:rPr lang="en-US" sz="2400" b="1" dirty="0">
                <a:solidFill>
                  <a:srgbClr val="00B050"/>
                </a:solidFill>
              </a:rPr>
              <a:t>shape="</a:t>
            </a:r>
            <a:r>
              <a:rPr lang="en-US" sz="2400" b="1" dirty="0" err="1">
                <a:solidFill>
                  <a:srgbClr val="00B050"/>
                </a:solidFill>
              </a:rPr>
              <a:t>rect</a:t>
            </a:r>
            <a:r>
              <a:rPr lang="en-US" sz="2400" b="1" dirty="0">
                <a:solidFill>
                  <a:srgbClr val="00B050"/>
                </a:solidFill>
              </a:rPr>
              <a:t>" </a:t>
            </a:r>
            <a:r>
              <a:rPr lang="en-US" sz="2400" b="1" dirty="0" err="1">
                <a:solidFill>
                  <a:srgbClr val="00B050"/>
                </a:solidFill>
              </a:rPr>
              <a:t>coords</a:t>
            </a:r>
            <a:r>
              <a:rPr lang="en-US" sz="2400" b="1" dirty="0">
                <a:solidFill>
                  <a:srgbClr val="00B050"/>
                </a:solidFill>
              </a:rPr>
              <a:t>="129,27,171,52"</a:t>
            </a:r>
            <a:r>
              <a:rPr lang="en-US" sz="2400" b="1" dirty="0">
                <a:solidFill>
                  <a:schemeClr val="accent2"/>
                </a:solidFill>
              </a:rPr>
              <a:t>  </a:t>
            </a:r>
            <a:r>
              <a:rPr lang="en-US" sz="2400" b="1" dirty="0" smtClean="0">
                <a:solidFill>
                  <a:schemeClr val="accent2"/>
                </a:solidFill>
              </a:rPr>
              <a:t>	</a:t>
            </a:r>
            <a:r>
              <a:rPr lang="en-US" sz="2400" b="1" dirty="0" smtClean="0">
                <a:solidFill>
                  <a:srgbClr val="002060"/>
                </a:solidFill>
              </a:rPr>
              <a:t>alt</a:t>
            </a:r>
            <a:r>
              <a:rPr lang="en-US" sz="2400" b="1" dirty="0">
                <a:solidFill>
                  <a:schemeClr val="accent2"/>
                </a:solidFill>
              </a:rPr>
              <a:t>="Flag" </a:t>
            </a:r>
            <a:r>
              <a:rPr lang="en-US" sz="2400" b="1" dirty="0">
                <a:solidFill>
                  <a:srgbClr val="002060"/>
                </a:solidFill>
              </a:rPr>
              <a:t>title</a:t>
            </a:r>
            <a:r>
              <a:rPr lang="en-US" sz="2400" b="1" dirty="0">
                <a:solidFill>
                  <a:schemeClr val="accent2"/>
                </a:solidFill>
              </a:rPr>
              <a:t>="Flag - says if it safe to swim"</a:t>
            </a:r>
            <a:r>
              <a:rPr lang="en-US" sz="2400" b="1" dirty="0">
                <a:solidFill>
                  <a:srgbClr val="FF0000"/>
                </a:solidFill>
              </a:rPr>
              <a:t>&gt;</a:t>
            </a:r>
          </a:p>
          <a:p>
            <a:r>
              <a:rPr lang="en-US" sz="2400" b="1" dirty="0" smtClean="0">
                <a:solidFill>
                  <a:srgbClr val="FF0000"/>
                </a:solidFill>
              </a:rPr>
              <a:t>&lt;/</a:t>
            </a:r>
            <a:r>
              <a:rPr lang="en-US" sz="2400" b="1" dirty="0">
                <a:solidFill>
                  <a:srgbClr val="FF0000"/>
                </a:solidFill>
              </a:rPr>
              <a:t>map&gt;</a:t>
            </a:r>
          </a:p>
          <a:p>
            <a:r>
              <a:rPr lang="en-US" sz="2400" b="1" dirty="0" smtClean="0">
                <a:solidFill>
                  <a:srgbClr val="FF0000"/>
                </a:solidFill>
              </a:rPr>
              <a:t>&lt;</a:t>
            </a:r>
            <a:r>
              <a:rPr lang="en-US" sz="2400" b="1" dirty="0" err="1" smtClean="0">
                <a:solidFill>
                  <a:srgbClr val="FF0000"/>
                </a:solidFill>
              </a:rPr>
              <a:t>img</a:t>
            </a:r>
            <a:r>
              <a:rPr lang="en-US" sz="2400" b="1" dirty="0" smtClean="0">
                <a:solidFill>
                  <a:srgbClr val="FF0000"/>
                </a:solidFill>
              </a:rPr>
              <a:t> </a:t>
            </a:r>
            <a:r>
              <a:rPr lang="en-US" sz="2400" b="1" dirty="0" err="1">
                <a:solidFill>
                  <a:srgbClr val="002060"/>
                </a:solidFill>
              </a:rPr>
              <a:t>src</a:t>
            </a:r>
            <a:r>
              <a:rPr lang="en-US" sz="2400" b="1" dirty="0">
                <a:solidFill>
                  <a:schemeClr val="accent2"/>
                </a:solidFill>
              </a:rPr>
              <a:t>="imagemap.png" </a:t>
            </a:r>
            <a:r>
              <a:rPr lang="en-US" sz="2400" b="1" dirty="0">
                <a:solidFill>
                  <a:srgbClr val="002060"/>
                </a:solidFill>
              </a:rPr>
              <a:t>alt</a:t>
            </a:r>
            <a:r>
              <a:rPr lang="en-US" sz="2400" b="1" dirty="0">
                <a:solidFill>
                  <a:schemeClr val="accent2"/>
                </a:solidFill>
              </a:rPr>
              <a:t>="" </a:t>
            </a:r>
            <a:r>
              <a:rPr lang="en-US" sz="2400" b="1" dirty="0" err="1">
                <a:solidFill>
                  <a:srgbClr val="00B050"/>
                </a:solidFill>
              </a:rPr>
              <a:t>usemap</a:t>
            </a:r>
            <a:r>
              <a:rPr lang="en-US" sz="2400" b="1" dirty="0">
                <a:solidFill>
                  <a:srgbClr val="00B050"/>
                </a:solidFill>
              </a:rPr>
              <a:t>="#</a:t>
            </a:r>
            <a:r>
              <a:rPr lang="en-US" sz="2400" b="1" dirty="0" err="1">
                <a:solidFill>
                  <a:srgbClr val="00B050"/>
                </a:solidFill>
              </a:rPr>
              <a:t>beachmap</a:t>
            </a:r>
            <a:r>
              <a:rPr lang="en-US" sz="2400" b="1" dirty="0" smtClean="0">
                <a:solidFill>
                  <a:schemeClr val="accent2"/>
                </a:solidFill>
              </a:rPr>
              <a:t>"</a:t>
            </a:r>
            <a:r>
              <a:rPr lang="en-US" sz="2400" b="1" dirty="0" smtClean="0">
                <a:solidFill>
                  <a:srgbClr val="FF0000"/>
                </a:solidFill>
              </a:rPr>
              <a:t>&gt;</a:t>
            </a:r>
            <a:endParaRPr lang="en-US" sz="2400" b="1" dirty="0">
              <a:solidFill>
                <a:srgbClr val="FF0000"/>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3568" y="260648"/>
            <a:ext cx="7920880" cy="830997"/>
          </a:xfrm>
          <a:prstGeom prst="rect">
            <a:avLst/>
          </a:prstGeom>
          <a:noFill/>
        </p:spPr>
        <p:txBody>
          <a:bodyPr wrap="square" rtlCol="0">
            <a:spAutoFit/>
          </a:bodyPr>
          <a:lstStyle/>
          <a:p>
            <a:r>
              <a:rPr lang="hy-AM"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 &lt;map&gt;  Tag</a:t>
            </a:r>
          </a:p>
        </p:txBody>
      </p:sp>
      <p:pic>
        <p:nvPicPr>
          <p:cNvPr id="2" name="Рисунок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26" y="1484784"/>
            <a:ext cx="2286521" cy="2108680"/>
          </a:xfrm>
          <a:prstGeom prst="rect">
            <a:avLst/>
          </a:prstGeom>
        </p:spPr>
      </p:pic>
      <p:graphicFrame>
        <p:nvGraphicFramePr>
          <p:cNvPr id="6" name="Таблица 5"/>
          <p:cNvGraphicFramePr>
            <a:graphicFrameLocks noGrp="1"/>
          </p:cNvGraphicFramePr>
          <p:nvPr>
            <p:extLst>
              <p:ext uri="{D42A27DB-BD31-4B8C-83A1-F6EECF244321}">
                <p14:modId xmlns:p14="http://schemas.microsoft.com/office/powerpoint/2010/main" val="2584466986"/>
              </p:ext>
            </p:extLst>
          </p:nvPr>
        </p:nvGraphicFramePr>
        <p:xfrm>
          <a:off x="372626" y="4941168"/>
          <a:ext cx="8231822" cy="889688"/>
        </p:xfrm>
        <a:graphic>
          <a:graphicData uri="http://schemas.openxmlformats.org/drawingml/2006/table">
            <a:tbl>
              <a:tblPr/>
              <a:tblGrid>
                <a:gridCol w="1592020"/>
                <a:gridCol w="1671250"/>
                <a:gridCol w="4968552"/>
              </a:tblGrid>
              <a:tr h="392121">
                <a:tc>
                  <a:txBody>
                    <a:bodyPr/>
                    <a:lstStyle/>
                    <a:p>
                      <a:pPr algn="l" fontAlgn="t"/>
                      <a:r>
                        <a:rPr lang="en-US" sz="2000" b="1" dirty="0">
                          <a:effectLst/>
                        </a:rPr>
                        <a:t>Attribute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000" b="1">
                          <a:effectLst/>
                        </a:rPr>
                        <a:t>Value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2000" b="1" dirty="0">
                          <a:effectLst/>
                        </a:rPr>
                        <a:t>Description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92121">
                <a:tc>
                  <a:txBody>
                    <a:bodyPr/>
                    <a:lstStyle/>
                    <a:p>
                      <a:pPr fontAlgn="t"/>
                      <a:r>
                        <a:rPr lang="en-US" sz="2000" u="sng" dirty="0">
                          <a:solidFill>
                            <a:srgbClr val="002060"/>
                          </a:solidFill>
                          <a:effectLst/>
                        </a:rPr>
                        <a:t>name</a:t>
                      </a:r>
                      <a:endParaRPr lang="en-US" sz="2000" dirty="0">
                        <a:solidFill>
                          <a:srgbClr val="002060"/>
                        </a:solidFill>
                        <a:effectLst/>
                      </a:endParaRP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2000" i="1" dirty="0" err="1">
                          <a:effectLst/>
                        </a:rPr>
                        <a:t>mapname</a:t>
                      </a:r>
                      <a:endParaRPr lang="en-US" sz="2000" dirty="0">
                        <a:effectLst/>
                      </a:endParaRP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2000" dirty="0">
                          <a:effectLst/>
                        </a:rPr>
                        <a:t>Required. Specifies the name of an image-map</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bl>
          </a:graphicData>
        </a:graphic>
      </p:graphicFrame>
      <p:sp>
        <p:nvSpPr>
          <p:cNvPr id="8" name="Rectangle 1"/>
          <p:cNvSpPr>
            <a:spLocks noChangeArrowheads="1"/>
          </p:cNvSpPr>
          <p:nvPr/>
        </p:nvSpPr>
        <p:spPr bwMode="auto">
          <a:xfrm>
            <a:off x="372626" y="4072992"/>
            <a:ext cx="8231822" cy="6093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9331" rIns="9144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200" b="0" i="0" u="none" strike="noStrike" cap="none" normalizeH="0" baseline="0" dirty="0" err="1" smtClean="0">
                <a:ln>
                  <a:noFill/>
                </a:ln>
                <a:solidFill>
                  <a:srgbClr val="333333"/>
                </a:solidFill>
                <a:effectLst/>
                <a:latin typeface="Arial" pitchFamily="34" charset="0"/>
                <a:cs typeface="Arial" pitchFamily="34" charset="0"/>
              </a:rPr>
              <a:t>Attributes</a:t>
            </a:r>
            <a:endParaRPr kumimoji="0" lang="ru-R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95536" y="260648"/>
            <a:ext cx="8424936" cy="830997"/>
          </a:xfrm>
          <a:prstGeom prst="rect">
            <a:avLst/>
          </a:prstGeom>
          <a:noFill/>
        </p:spPr>
        <p:txBody>
          <a:bodyPr wrap="square" rtlCol="0">
            <a:spAutoFit/>
          </a:bodyPr>
          <a:lstStyle/>
          <a:p>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 &lt;area</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&gt; shape Attribute</a:t>
            </a:r>
          </a:p>
        </p:txBody>
      </p:sp>
      <p:sp>
        <p:nvSpPr>
          <p:cNvPr id="8" name="Content Placeholder 2"/>
          <p:cNvSpPr txBox="1">
            <a:spLocks/>
          </p:cNvSpPr>
          <p:nvPr/>
        </p:nvSpPr>
        <p:spPr>
          <a:xfrm>
            <a:off x="338369" y="1460776"/>
            <a:ext cx="8382000" cy="792088"/>
          </a:xfrm>
          <a:prstGeom prst="rect">
            <a:avLst/>
          </a:prstGeom>
          <a:solidFill>
            <a:schemeClr val="bg1">
              <a:lumMod val="85000"/>
            </a:schemeClr>
          </a:solidFill>
        </p:spPr>
        <p:txBody>
          <a:bodyPr vert="horz" lIns="91440" tIns="45720" rIns="91440" bIns="45720" rtlCol="0">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sz="2400" b="1" dirty="0" smtClean="0"/>
              <a:t>Syntax</a:t>
            </a:r>
          </a:p>
          <a:p>
            <a:pPr>
              <a:buNone/>
            </a:pPr>
            <a:r>
              <a:rPr lang="en-US" sz="2400" i="1" dirty="0">
                <a:solidFill>
                  <a:schemeClr val="tx2"/>
                </a:solidFill>
              </a:rPr>
              <a:t>&lt;area </a:t>
            </a:r>
            <a:r>
              <a:rPr lang="en-US" sz="2400" i="1" dirty="0">
                <a:solidFill>
                  <a:srgbClr val="FF0000"/>
                </a:solidFill>
              </a:rPr>
              <a:t>shape="</a:t>
            </a:r>
            <a:r>
              <a:rPr lang="en-US" sz="2400" i="1" dirty="0" err="1">
                <a:solidFill>
                  <a:srgbClr val="FF0000"/>
                </a:solidFill>
              </a:rPr>
              <a:t>default|rect|circle|poly</a:t>
            </a:r>
            <a:r>
              <a:rPr lang="en-US" sz="2400" i="1" dirty="0">
                <a:solidFill>
                  <a:srgbClr val="FF0000"/>
                </a:solidFill>
              </a:rPr>
              <a:t>"</a:t>
            </a:r>
            <a:r>
              <a:rPr lang="en-US" sz="2400" i="1" dirty="0">
                <a:solidFill>
                  <a:schemeClr val="tx2"/>
                </a:solidFill>
              </a:rPr>
              <a:t>&gt;</a:t>
            </a:r>
            <a:endParaRPr lang="en-US" sz="2400" b="1" i="1" dirty="0" smtClean="0">
              <a:solidFill>
                <a:schemeClr val="tx2"/>
              </a:solidFill>
            </a:endParaRPr>
          </a:p>
        </p:txBody>
      </p:sp>
      <p:graphicFrame>
        <p:nvGraphicFramePr>
          <p:cNvPr id="3" name="Таблица 2"/>
          <p:cNvGraphicFramePr>
            <a:graphicFrameLocks noGrp="1"/>
          </p:cNvGraphicFramePr>
          <p:nvPr>
            <p:extLst>
              <p:ext uri="{D42A27DB-BD31-4B8C-83A1-F6EECF244321}">
                <p14:modId xmlns:p14="http://schemas.microsoft.com/office/powerpoint/2010/main" val="2274928057"/>
              </p:ext>
            </p:extLst>
          </p:nvPr>
        </p:nvGraphicFramePr>
        <p:xfrm>
          <a:off x="395535" y="3429000"/>
          <a:ext cx="8324833" cy="1995620"/>
        </p:xfrm>
        <a:graphic>
          <a:graphicData uri="http://schemas.openxmlformats.org/drawingml/2006/table">
            <a:tbl>
              <a:tblPr/>
              <a:tblGrid>
                <a:gridCol w="1659341"/>
                <a:gridCol w="6665492"/>
              </a:tblGrid>
              <a:tr h="392121">
                <a:tc>
                  <a:txBody>
                    <a:bodyPr/>
                    <a:lstStyle/>
                    <a:p>
                      <a:pPr algn="l" fontAlgn="t"/>
                      <a:r>
                        <a:rPr lang="en-US" sz="1700" b="1" dirty="0">
                          <a:effectLst/>
                        </a:rPr>
                        <a:t>Value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700" b="1" dirty="0">
                          <a:effectLst/>
                        </a:rPr>
                        <a:t>Description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92121">
                <a:tc>
                  <a:txBody>
                    <a:bodyPr/>
                    <a:lstStyle/>
                    <a:p>
                      <a:pPr fontAlgn="t"/>
                      <a:r>
                        <a:rPr lang="en-US" sz="1700">
                          <a:solidFill>
                            <a:srgbClr val="002060"/>
                          </a:solidFill>
                          <a:effectLst/>
                        </a:rPr>
                        <a:t>default</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1700">
                          <a:effectLst/>
                        </a:rPr>
                        <a:t>Specifies the entire region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r h="392121">
                <a:tc>
                  <a:txBody>
                    <a:bodyPr/>
                    <a:lstStyle/>
                    <a:p>
                      <a:pPr fontAlgn="t"/>
                      <a:r>
                        <a:rPr lang="en-US" sz="1700">
                          <a:solidFill>
                            <a:srgbClr val="002060"/>
                          </a:solidFill>
                          <a:effectLst/>
                        </a:rPr>
                        <a:t>rect</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700" dirty="0">
                          <a:effectLst/>
                        </a:rPr>
                        <a:t>Defines a rectangular region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392121">
                <a:tc>
                  <a:txBody>
                    <a:bodyPr/>
                    <a:lstStyle/>
                    <a:p>
                      <a:pPr fontAlgn="t"/>
                      <a:r>
                        <a:rPr lang="en-US" sz="1700">
                          <a:solidFill>
                            <a:srgbClr val="002060"/>
                          </a:solidFill>
                          <a:effectLst/>
                        </a:rPr>
                        <a:t>circle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1700" dirty="0">
                          <a:effectLst/>
                        </a:rPr>
                        <a:t>Defines a circular region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r h="392121">
                <a:tc>
                  <a:txBody>
                    <a:bodyPr/>
                    <a:lstStyle/>
                    <a:p>
                      <a:pPr fontAlgn="t"/>
                      <a:r>
                        <a:rPr lang="en-US" sz="1700" dirty="0">
                          <a:solidFill>
                            <a:srgbClr val="002060"/>
                          </a:solidFill>
                          <a:effectLst/>
                        </a:rPr>
                        <a:t>poly</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700" dirty="0">
                          <a:effectLst/>
                        </a:rPr>
                        <a:t>Defines a polygonal region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bl>
          </a:graphicData>
        </a:graphic>
      </p:graphicFrame>
      <p:sp>
        <p:nvSpPr>
          <p:cNvPr id="4" name="Rectangle 1"/>
          <p:cNvSpPr>
            <a:spLocks noChangeArrowheads="1"/>
          </p:cNvSpPr>
          <p:nvPr/>
        </p:nvSpPr>
        <p:spPr bwMode="auto">
          <a:xfrm>
            <a:off x="309127" y="2659174"/>
            <a:ext cx="8411242" cy="6093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9331" rIns="9144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200" b="0" i="0" u="none" strike="noStrike" cap="none" normalizeH="0" baseline="0" dirty="0" err="1" smtClean="0">
                <a:ln>
                  <a:noFill/>
                </a:ln>
                <a:solidFill>
                  <a:srgbClr val="333333"/>
                </a:solidFill>
                <a:effectLst/>
                <a:latin typeface="Arial" pitchFamily="34" charset="0"/>
                <a:cs typeface="Arial" pitchFamily="34" charset="0"/>
              </a:rPr>
              <a:t>Attribute</a:t>
            </a:r>
            <a:r>
              <a:rPr kumimoji="0" lang="ru-RU" sz="2200" b="0" i="0" u="none" strike="noStrike" cap="none" normalizeH="0" baseline="0" dirty="0" smtClean="0">
                <a:ln>
                  <a:noFill/>
                </a:ln>
                <a:solidFill>
                  <a:srgbClr val="333333"/>
                </a:solidFill>
                <a:effectLst/>
                <a:latin typeface="Arial" pitchFamily="34" charset="0"/>
                <a:cs typeface="Arial" pitchFamily="34" charset="0"/>
              </a:rPr>
              <a:t> </a:t>
            </a:r>
            <a:r>
              <a:rPr kumimoji="0" lang="ru-RU" sz="2200" b="0" i="0" u="none" strike="noStrike" cap="none" normalizeH="0" baseline="0" dirty="0" err="1" smtClean="0">
                <a:ln>
                  <a:noFill/>
                </a:ln>
                <a:solidFill>
                  <a:srgbClr val="333333"/>
                </a:solidFill>
                <a:effectLst/>
                <a:latin typeface="Arial" pitchFamily="34" charset="0"/>
                <a:cs typeface="Arial" pitchFamily="34" charset="0"/>
              </a:rPr>
              <a:t>Values</a:t>
            </a:r>
            <a:endParaRPr kumimoji="0" lang="ru-RU" sz="1800" b="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95536" y="260648"/>
            <a:ext cx="8424936" cy="830997"/>
          </a:xfrm>
          <a:prstGeom prst="rect">
            <a:avLst/>
          </a:prstGeom>
          <a:noFill/>
        </p:spPr>
        <p:txBody>
          <a:bodyPr wrap="square" rtlCol="0">
            <a:spAutoFit/>
          </a:bodyPr>
          <a:lstStyle/>
          <a:p>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 </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&lt;area&gt; </a:t>
            </a:r>
            <a:r>
              <a:rPr lang="en-US" sz="4800" b="1" dirty="0" err="1">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coords</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Attribute</a:t>
            </a:r>
            <a:endPar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endParaRPr>
          </a:p>
        </p:txBody>
      </p:sp>
      <p:sp>
        <p:nvSpPr>
          <p:cNvPr id="8" name="Content Placeholder 2"/>
          <p:cNvSpPr txBox="1">
            <a:spLocks/>
          </p:cNvSpPr>
          <p:nvPr/>
        </p:nvSpPr>
        <p:spPr>
          <a:xfrm>
            <a:off x="338369" y="1460776"/>
            <a:ext cx="8382000" cy="792088"/>
          </a:xfrm>
          <a:prstGeom prst="rect">
            <a:avLst/>
          </a:prstGeom>
          <a:solidFill>
            <a:schemeClr val="bg1">
              <a:lumMod val="85000"/>
            </a:schemeClr>
          </a:solidFill>
        </p:spPr>
        <p:txBody>
          <a:bodyPr vert="horz" lIns="91440" tIns="45720" rIns="91440" bIns="45720" rtlCol="0">
            <a:noAutofit/>
          </a:bodyPr>
          <a:ls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None/>
            </a:pPr>
            <a:r>
              <a:rPr lang="en-US" sz="2400" b="1" dirty="0" smtClean="0"/>
              <a:t>Syntax</a:t>
            </a:r>
          </a:p>
          <a:p>
            <a:pPr>
              <a:buNone/>
            </a:pPr>
            <a:r>
              <a:rPr lang="en-US" sz="2400" i="1" dirty="0">
                <a:solidFill>
                  <a:schemeClr val="tx2"/>
                </a:solidFill>
              </a:rPr>
              <a:t>&lt;area </a:t>
            </a:r>
            <a:r>
              <a:rPr lang="en-US" sz="2400" i="1" dirty="0" err="1" smtClean="0">
                <a:solidFill>
                  <a:srgbClr val="FF0000"/>
                </a:solidFill>
              </a:rPr>
              <a:t>coords</a:t>
            </a:r>
            <a:r>
              <a:rPr lang="en-US" sz="2400" i="1" dirty="0" smtClean="0">
                <a:solidFill>
                  <a:srgbClr val="FF0000"/>
                </a:solidFill>
              </a:rPr>
              <a:t>="value"</a:t>
            </a:r>
            <a:r>
              <a:rPr lang="en-US" sz="2400" i="1" dirty="0" smtClean="0">
                <a:solidFill>
                  <a:schemeClr val="tx2"/>
                </a:solidFill>
              </a:rPr>
              <a:t>&gt;</a:t>
            </a:r>
            <a:endParaRPr lang="en-US" sz="2400" b="1" i="1" dirty="0" smtClean="0">
              <a:solidFill>
                <a:schemeClr val="tx2"/>
              </a:solidFill>
            </a:endParaRPr>
          </a:p>
        </p:txBody>
      </p:sp>
      <p:sp>
        <p:nvSpPr>
          <p:cNvPr id="4" name="Rectangle 1"/>
          <p:cNvSpPr>
            <a:spLocks noChangeArrowheads="1"/>
          </p:cNvSpPr>
          <p:nvPr/>
        </p:nvSpPr>
        <p:spPr bwMode="auto">
          <a:xfrm>
            <a:off x="309127" y="2659174"/>
            <a:ext cx="8411242" cy="6093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9331" rIns="91440" bIns="88872"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ru-RU" sz="2200" b="0" i="0" u="none" strike="noStrike" cap="none" normalizeH="0" baseline="0" dirty="0" err="1" smtClean="0">
                <a:ln>
                  <a:noFill/>
                </a:ln>
                <a:solidFill>
                  <a:srgbClr val="333333"/>
                </a:solidFill>
                <a:effectLst/>
                <a:latin typeface="Arial" pitchFamily="34" charset="0"/>
                <a:cs typeface="Arial" pitchFamily="34" charset="0"/>
              </a:rPr>
              <a:t>Attribute</a:t>
            </a:r>
            <a:r>
              <a:rPr kumimoji="0" lang="ru-RU" sz="2200" b="0" i="0" u="none" strike="noStrike" cap="none" normalizeH="0" baseline="0" dirty="0" smtClean="0">
                <a:ln>
                  <a:noFill/>
                </a:ln>
                <a:solidFill>
                  <a:srgbClr val="333333"/>
                </a:solidFill>
                <a:effectLst/>
                <a:latin typeface="Arial" pitchFamily="34" charset="0"/>
                <a:cs typeface="Arial" pitchFamily="34" charset="0"/>
              </a:rPr>
              <a:t> </a:t>
            </a:r>
            <a:r>
              <a:rPr kumimoji="0" lang="ru-RU" sz="2200" b="0" i="0" u="none" strike="noStrike" cap="none" normalizeH="0" baseline="0" dirty="0" err="1" smtClean="0">
                <a:ln>
                  <a:noFill/>
                </a:ln>
                <a:solidFill>
                  <a:srgbClr val="333333"/>
                </a:solidFill>
                <a:effectLst/>
                <a:latin typeface="Arial" pitchFamily="34" charset="0"/>
                <a:cs typeface="Arial" pitchFamily="34" charset="0"/>
              </a:rPr>
              <a:t>Values</a:t>
            </a:r>
            <a:endParaRPr kumimoji="0" lang="ru-RU"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2" name="Таблица 1"/>
          <p:cNvGraphicFramePr>
            <a:graphicFrameLocks noGrp="1"/>
          </p:cNvGraphicFramePr>
          <p:nvPr>
            <p:extLst>
              <p:ext uri="{D42A27DB-BD31-4B8C-83A1-F6EECF244321}">
                <p14:modId xmlns:p14="http://schemas.microsoft.com/office/powerpoint/2010/main" val="904073565"/>
              </p:ext>
            </p:extLst>
          </p:nvPr>
        </p:nvGraphicFramePr>
        <p:xfrm>
          <a:off x="395536" y="3429000"/>
          <a:ext cx="8208912" cy="2373736"/>
        </p:xfrm>
        <a:graphic>
          <a:graphicData uri="http://schemas.openxmlformats.org/drawingml/2006/table">
            <a:tbl>
              <a:tblPr/>
              <a:tblGrid>
                <a:gridCol w="1636236"/>
                <a:gridCol w="6572676"/>
              </a:tblGrid>
              <a:tr h="392121">
                <a:tc>
                  <a:txBody>
                    <a:bodyPr/>
                    <a:lstStyle/>
                    <a:p>
                      <a:pPr algn="l" fontAlgn="t"/>
                      <a:r>
                        <a:rPr lang="en-US" sz="1700" b="1" dirty="0">
                          <a:solidFill>
                            <a:schemeClr val="tx1"/>
                          </a:solidFill>
                          <a:effectLst/>
                        </a:rPr>
                        <a:t>Value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700" b="1" dirty="0">
                          <a:solidFill>
                            <a:schemeClr val="tx1"/>
                          </a:solidFill>
                          <a:effectLst/>
                        </a:rPr>
                        <a:t>Description</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644199">
                <a:tc>
                  <a:txBody>
                    <a:bodyPr/>
                    <a:lstStyle/>
                    <a:p>
                      <a:pPr fontAlgn="t"/>
                      <a:r>
                        <a:rPr lang="en-US" sz="1700" i="1" dirty="0">
                          <a:solidFill>
                            <a:srgbClr val="002060"/>
                          </a:solidFill>
                          <a:effectLst/>
                        </a:rPr>
                        <a:t>x1,y1,x2,y2</a:t>
                      </a:r>
                      <a:endParaRPr lang="en-US" sz="1700" dirty="0">
                        <a:solidFill>
                          <a:srgbClr val="002060"/>
                        </a:solidFill>
                        <a:effectLst/>
                      </a:endParaRP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1700">
                          <a:effectLst/>
                        </a:rPr>
                        <a:t>Specifies the coordinates of the left, top, right, bottom corner of the rectangle (for shape="rect")</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r h="392121">
                <a:tc>
                  <a:txBody>
                    <a:bodyPr/>
                    <a:lstStyle/>
                    <a:p>
                      <a:pPr fontAlgn="t"/>
                      <a:r>
                        <a:rPr lang="en-US" sz="1700" i="1">
                          <a:solidFill>
                            <a:srgbClr val="002060"/>
                          </a:solidFill>
                          <a:effectLst/>
                        </a:rPr>
                        <a:t>x,y,radius</a:t>
                      </a:r>
                      <a:endParaRPr lang="en-US" sz="1700">
                        <a:solidFill>
                          <a:srgbClr val="002060"/>
                        </a:solidFill>
                        <a:effectLst/>
                      </a:endParaRP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fontAlgn="t"/>
                      <a:r>
                        <a:rPr lang="en-US" sz="1700">
                          <a:effectLst/>
                        </a:rPr>
                        <a:t>Specifies the coordinates of the circle center and the radius (for shape="circle")</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r>
              <a:tr h="896277">
                <a:tc>
                  <a:txBody>
                    <a:bodyPr/>
                    <a:lstStyle/>
                    <a:p>
                      <a:pPr fontAlgn="t"/>
                      <a:r>
                        <a:rPr lang="en-US" sz="1700" i="1" dirty="0">
                          <a:solidFill>
                            <a:srgbClr val="002060"/>
                          </a:solidFill>
                          <a:effectLst/>
                        </a:rPr>
                        <a:t>x1,y1,x2,y2,..,xn,yn</a:t>
                      </a:r>
                      <a:endParaRPr lang="en-US" sz="1700" dirty="0">
                        <a:solidFill>
                          <a:srgbClr val="002060"/>
                        </a:solidFill>
                        <a:effectLst/>
                      </a:endParaRP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c>
                  <a:txBody>
                    <a:bodyPr/>
                    <a:lstStyle/>
                    <a:p>
                      <a:pPr fontAlgn="t"/>
                      <a:r>
                        <a:rPr lang="en-US" sz="1700" dirty="0">
                          <a:effectLst/>
                        </a:rPr>
                        <a:t>Specifies the coordinates of the edges of the polygon. If the first and last coordinate pairs are not the same, the browser will add the last coordinate pair to close the polygon (for shape="poly")</a:t>
                      </a:r>
                    </a:p>
                  </a:txBody>
                  <a:tcPr marL="70022" marR="70022" marT="70022" marB="7002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1F1F1"/>
                    </a:solidFill>
                  </a:tcPr>
                </a:tc>
              </a:tr>
            </a:tbl>
          </a:graphicData>
        </a:graphic>
      </p:graphicFrame>
    </p:spTree>
    <p:extLst>
      <p:ext uri="{BB962C8B-B14F-4D97-AF65-F5344CB8AC3E}">
        <p14:creationId xmlns:p14="http://schemas.microsoft.com/office/powerpoint/2010/main" val="5353176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3528" y="260648"/>
            <a:ext cx="849694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a:t>
            </a:r>
            <a:r>
              <a:rPr lang="en-US" sz="4800" dirty="0"/>
              <a:t> </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&lt;input&gt; type Attribute</a:t>
            </a:r>
          </a:p>
        </p:txBody>
      </p:sp>
      <p:sp>
        <p:nvSpPr>
          <p:cNvPr id="3" name="Прямоугольник 2"/>
          <p:cNvSpPr/>
          <p:nvPr/>
        </p:nvSpPr>
        <p:spPr>
          <a:xfrm>
            <a:off x="467544" y="1484784"/>
            <a:ext cx="2376264" cy="461665"/>
          </a:xfrm>
          <a:prstGeom prst="rect">
            <a:avLst/>
          </a:prstGeom>
          <a:solidFill>
            <a:schemeClr val="bg2"/>
          </a:solidFill>
          <a:ln>
            <a:solidFill>
              <a:schemeClr val="tx2"/>
            </a:solidFill>
          </a:ln>
        </p:spPr>
        <p:txBody>
          <a:bodyPr wrap="square">
            <a:spAutoFit/>
          </a:bodyPr>
          <a:lstStyle/>
          <a:p>
            <a:r>
              <a:rPr lang="en-US" sz="2400" dirty="0">
                <a:solidFill>
                  <a:srgbClr val="002060"/>
                </a:solidFill>
              </a:rPr>
              <a:t>Input type: </a:t>
            </a:r>
            <a:r>
              <a:rPr lang="en-US" sz="2400" b="1" dirty="0">
                <a:solidFill>
                  <a:srgbClr val="FF0000"/>
                </a:solidFill>
              </a:rPr>
              <a:t>file</a:t>
            </a:r>
          </a:p>
        </p:txBody>
      </p:sp>
      <p:sp>
        <p:nvSpPr>
          <p:cNvPr id="4" name="Прямоугольник 3"/>
          <p:cNvSpPr/>
          <p:nvPr/>
        </p:nvSpPr>
        <p:spPr>
          <a:xfrm>
            <a:off x="467544" y="2060848"/>
            <a:ext cx="7488832" cy="830997"/>
          </a:xfrm>
          <a:prstGeom prst="rect">
            <a:avLst/>
          </a:prstGeom>
          <a:ln>
            <a:solidFill>
              <a:schemeClr val="tx2"/>
            </a:solidFill>
          </a:ln>
        </p:spPr>
        <p:txBody>
          <a:bodyPr wrap="square">
            <a:spAutoFit/>
          </a:bodyPr>
          <a:lstStyle/>
          <a:p>
            <a:r>
              <a:rPr lang="en-US" sz="2400" b="1" dirty="0">
                <a:solidFill>
                  <a:schemeClr val="accent2"/>
                </a:solidFill>
              </a:rPr>
              <a:t>Define a file-select field and a "Browse..." button (for file uploads):</a:t>
            </a:r>
            <a:endParaRPr lang="ru-RU" sz="2400" b="1" dirty="0">
              <a:solidFill>
                <a:schemeClr val="accent2"/>
              </a:solidFill>
            </a:endParaRPr>
          </a:p>
        </p:txBody>
      </p:sp>
      <p:sp>
        <p:nvSpPr>
          <p:cNvPr id="5" name="Прямоугольник 4"/>
          <p:cNvSpPr/>
          <p:nvPr/>
        </p:nvSpPr>
        <p:spPr>
          <a:xfrm>
            <a:off x="475476" y="3057576"/>
            <a:ext cx="7488832" cy="400110"/>
          </a:xfrm>
          <a:prstGeom prst="rect">
            <a:avLst/>
          </a:prstGeom>
          <a:ln w="28575">
            <a:solidFill>
              <a:schemeClr val="tx1"/>
            </a:solidFill>
          </a:ln>
        </p:spPr>
        <p:txBody>
          <a:bodyPr wrap="square">
            <a:spAutoFit/>
          </a:bodyPr>
          <a:lstStyle/>
          <a:p>
            <a:r>
              <a:rPr lang="en-US" sz="2000" b="1" dirty="0">
                <a:solidFill>
                  <a:srgbClr val="002060"/>
                </a:solidFill>
              </a:rPr>
              <a:t>Select a file:</a:t>
            </a:r>
            <a:r>
              <a:rPr lang="en-US" sz="2000" b="1" dirty="0"/>
              <a:t> </a:t>
            </a:r>
            <a:r>
              <a:rPr lang="en-US" sz="2000" b="1" dirty="0">
                <a:solidFill>
                  <a:srgbClr val="FF0000"/>
                </a:solidFill>
              </a:rPr>
              <a:t>&lt;input</a:t>
            </a:r>
            <a:r>
              <a:rPr lang="en-US" sz="2000" b="1" dirty="0"/>
              <a:t> </a:t>
            </a:r>
            <a:r>
              <a:rPr lang="en-US" sz="2000" b="1" dirty="0">
                <a:solidFill>
                  <a:srgbClr val="00B050"/>
                </a:solidFill>
              </a:rPr>
              <a:t>type="file"</a:t>
            </a:r>
            <a:r>
              <a:rPr lang="en-US" sz="2000" b="1" dirty="0">
                <a:solidFill>
                  <a:srgbClr val="FF0000"/>
                </a:solidFill>
              </a:rPr>
              <a:t> </a:t>
            </a:r>
            <a:r>
              <a:rPr lang="en-US" sz="2000" b="1" dirty="0">
                <a:solidFill>
                  <a:srgbClr val="002060"/>
                </a:solidFill>
              </a:rPr>
              <a:t>name="</a:t>
            </a:r>
            <a:r>
              <a:rPr lang="en-US" sz="2000" b="1" dirty="0" err="1">
                <a:solidFill>
                  <a:srgbClr val="002060"/>
                </a:solidFill>
              </a:rPr>
              <a:t>img</a:t>
            </a:r>
            <a:r>
              <a:rPr lang="en-US" sz="2000" b="1" dirty="0">
                <a:solidFill>
                  <a:srgbClr val="002060"/>
                </a:solidFill>
              </a:rPr>
              <a:t>"</a:t>
            </a:r>
            <a:r>
              <a:rPr lang="en-US" sz="2000" b="1" dirty="0">
                <a:solidFill>
                  <a:srgbClr val="FF0000"/>
                </a:solidFill>
              </a:rPr>
              <a:t>&gt;</a:t>
            </a:r>
            <a:endParaRPr lang="ru-RU" sz="2000" b="1" dirty="0">
              <a:solidFill>
                <a:srgbClr val="FF0000"/>
              </a:solidFill>
            </a:endParaRPr>
          </a:p>
        </p:txBody>
      </p:sp>
      <p:sp>
        <p:nvSpPr>
          <p:cNvPr id="15" name="Прямоугольник 14"/>
          <p:cNvSpPr/>
          <p:nvPr/>
        </p:nvSpPr>
        <p:spPr>
          <a:xfrm>
            <a:off x="512401" y="4412953"/>
            <a:ext cx="2376264" cy="461665"/>
          </a:xfrm>
          <a:prstGeom prst="rect">
            <a:avLst/>
          </a:prstGeom>
          <a:solidFill>
            <a:schemeClr val="bg2"/>
          </a:solidFill>
          <a:ln>
            <a:solidFill>
              <a:schemeClr val="tx2"/>
            </a:solidFill>
          </a:ln>
        </p:spPr>
        <p:txBody>
          <a:bodyPr wrap="square">
            <a:spAutoFit/>
          </a:bodyPr>
          <a:lstStyle/>
          <a:p>
            <a:r>
              <a:rPr lang="en-US" sz="2400" dirty="0" smtClean="0">
                <a:solidFill>
                  <a:srgbClr val="002060"/>
                </a:solidFill>
              </a:rPr>
              <a:t>Input </a:t>
            </a:r>
            <a:r>
              <a:rPr lang="en-US" sz="2400" dirty="0" err="1" smtClean="0">
                <a:solidFill>
                  <a:srgbClr val="002060"/>
                </a:solidFill>
              </a:rPr>
              <a:t>type:</a:t>
            </a:r>
            <a:r>
              <a:rPr lang="en-US" sz="2400" b="1" dirty="0" err="1" smtClean="0">
                <a:solidFill>
                  <a:srgbClr val="FF0000"/>
                </a:solidFill>
              </a:rPr>
              <a:t>image</a:t>
            </a:r>
            <a:endParaRPr lang="en-US" sz="2400" b="1" dirty="0">
              <a:solidFill>
                <a:srgbClr val="FF0000"/>
              </a:solidFill>
            </a:endParaRPr>
          </a:p>
        </p:txBody>
      </p:sp>
      <p:sp>
        <p:nvSpPr>
          <p:cNvPr id="16" name="Прямоугольник 15"/>
          <p:cNvSpPr/>
          <p:nvPr/>
        </p:nvSpPr>
        <p:spPr>
          <a:xfrm>
            <a:off x="512401" y="4989017"/>
            <a:ext cx="7488832" cy="461665"/>
          </a:xfrm>
          <a:prstGeom prst="rect">
            <a:avLst/>
          </a:prstGeom>
          <a:ln>
            <a:solidFill>
              <a:schemeClr val="tx2"/>
            </a:solidFill>
          </a:ln>
        </p:spPr>
        <p:txBody>
          <a:bodyPr wrap="square">
            <a:spAutoFit/>
          </a:bodyPr>
          <a:lstStyle/>
          <a:p>
            <a:r>
              <a:rPr lang="en-US" sz="2400" b="1" dirty="0" smtClean="0">
                <a:solidFill>
                  <a:schemeClr val="accent2"/>
                </a:solidFill>
              </a:rPr>
              <a:t>Define </a:t>
            </a:r>
            <a:r>
              <a:rPr lang="en-US" sz="2400" b="1" dirty="0">
                <a:solidFill>
                  <a:schemeClr val="accent2"/>
                </a:solidFill>
              </a:rPr>
              <a:t>an image as a submit button:</a:t>
            </a:r>
            <a:endParaRPr lang="ru-RU" sz="2400" b="1" dirty="0">
              <a:solidFill>
                <a:schemeClr val="accent2"/>
              </a:solidFill>
            </a:endParaRPr>
          </a:p>
        </p:txBody>
      </p:sp>
      <p:sp>
        <p:nvSpPr>
          <p:cNvPr id="17" name="Прямоугольник 16"/>
          <p:cNvSpPr/>
          <p:nvPr/>
        </p:nvSpPr>
        <p:spPr>
          <a:xfrm>
            <a:off x="532034" y="5604450"/>
            <a:ext cx="7488832" cy="400110"/>
          </a:xfrm>
          <a:prstGeom prst="rect">
            <a:avLst/>
          </a:prstGeom>
          <a:ln w="28575">
            <a:solidFill>
              <a:schemeClr val="tx1"/>
            </a:solidFill>
          </a:ln>
        </p:spPr>
        <p:txBody>
          <a:bodyPr wrap="square">
            <a:spAutoFit/>
          </a:bodyPr>
          <a:lstStyle/>
          <a:p>
            <a:r>
              <a:rPr lang="en-US" sz="2000" b="1" dirty="0">
                <a:solidFill>
                  <a:srgbClr val="FF0000"/>
                </a:solidFill>
              </a:rPr>
              <a:t>&lt;input</a:t>
            </a:r>
            <a:r>
              <a:rPr lang="en-US" sz="2000" b="1" dirty="0"/>
              <a:t> </a:t>
            </a:r>
            <a:r>
              <a:rPr lang="en-US" sz="2000" b="1" dirty="0">
                <a:solidFill>
                  <a:srgbClr val="00B050"/>
                </a:solidFill>
              </a:rPr>
              <a:t>type="image"</a:t>
            </a:r>
            <a:r>
              <a:rPr lang="en-US" sz="2000" b="1" dirty="0"/>
              <a:t> </a:t>
            </a:r>
            <a:r>
              <a:rPr lang="en-US" sz="2000" b="1" dirty="0" err="1">
                <a:solidFill>
                  <a:srgbClr val="002060"/>
                </a:solidFill>
              </a:rPr>
              <a:t>src</a:t>
            </a:r>
            <a:r>
              <a:rPr lang="en-US" sz="2000" b="1" dirty="0">
                <a:solidFill>
                  <a:srgbClr val="002060"/>
                </a:solidFill>
              </a:rPr>
              <a:t>="img_submit.gif" alt="Submit"</a:t>
            </a:r>
            <a:r>
              <a:rPr lang="en-US" sz="2000" b="1" dirty="0">
                <a:solidFill>
                  <a:srgbClr val="FF0000"/>
                </a:solidFill>
              </a:rPr>
              <a:t>&gt;</a:t>
            </a:r>
            <a:endParaRPr lang="ru-RU" sz="2000" b="1"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23528" y="260648"/>
            <a:ext cx="8496944"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HTML</a:t>
            </a:r>
            <a:r>
              <a:rPr lang="en-US"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 </a:t>
            </a:r>
            <a:r>
              <a:rPr lang="en-US" sz="4800" dirty="0"/>
              <a:t> </a:t>
            </a:r>
            <a:r>
              <a:rPr lang="en-US" sz="4800" b="1" dirty="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&lt;input&gt; type Attribute</a:t>
            </a:r>
          </a:p>
        </p:txBody>
      </p:sp>
      <p:sp>
        <p:nvSpPr>
          <p:cNvPr id="3" name="Прямоугольник 2"/>
          <p:cNvSpPr/>
          <p:nvPr/>
        </p:nvSpPr>
        <p:spPr>
          <a:xfrm>
            <a:off x="467544" y="1484784"/>
            <a:ext cx="3312368" cy="461665"/>
          </a:xfrm>
          <a:prstGeom prst="rect">
            <a:avLst/>
          </a:prstGeom>
          <a:solidFill>
            <a:schemeClr val="bg2"/>
          </a:solidFill>
          <a:ln>
            <a:solidFill>
              <a:schemeClr val="tx2"/>
            </a:solidFill>
          </a:ln>
        </p:spPr>
        <p:txBody>
          <a:bodyPr wrap="square">
            <a:spAutoFit/>
          </a:bodyPr>
          <a:lstStyle/>
          <a:p>
            <a:r>
              <a:rPr lang="en-US" sz="2400" dirty="0">
                <a:solidFill>
                  <a:srgbClr val="002060"/>
                </a:solidFill>
              </a:rPr>
              <a:t>Input </a:t>
            </a:r>
            <a:r>
              <a:rPr lang="en-US" sz="2400" dirty="0" smtClean="0">
                <a:solidFill>
                  <a:srgbClr val="002060"/>
                </a:solidFill>
              </a:rPr>
              <a:t>type: </a:t>
            </a:r>
            <a:r>
              <a:rPr lang="en-US" sz="2400" b="1" dirty="0" smtClean="0">
                <a:solidFill>
                  <a:srgbClr val="FF0000"/>
                </a:solidFill>
              </a:rPr>
              <a:t>number</a:t>
            </a:r>
            <a:endParaRPr lang="en-US" sz="2400" b="1" dirty="0">
              <a:solidFill>
                <a:srgbClr val="FF0000"/>
              </a:solidFill>
            </a:endParaRPr>
          </a:p>
        </p:txBody>
      </p:sp>
      <p:sp>
        <p:nvSpPr>
          <p:cNvPr id="4" name="Прямоугольник 3"/>
          <p:cNvSpPr/>
          <p:nvPr/>
        </p:nvSpPr>
        <p:spPr>
          <a:xfrm>
            <a:off x="467544" y="2060848"/>
            <a:ext cx="7488832" cy="830997"/>
          </a:xfrm>
          <a:prstGeom prst="rect">
            <a:avLst/>
          </a:prstGeom>
          <a:ln>
            <a:solidFill>
              <a:schemeClr val="tx2"/>
            </a:solidFill>
          </a:ln>
        </p:spPr>
        <p:txBody>
          <a:bodyPr wrap="square">
            <a:spAutoFit/>
          </a:bodyPr>
          <a:lstStyle/>
          <a:p>
            <a:r>
              <a:rPr lang="en-US" sz="2400" b="1" dirty="0" smtClean="0">
                <a:solidFill>
                  <a:schemeClr val="accent2"/>
                </a:solidFill>
              </a:rPr>
              <a:t>Define </a:t>
            </a:r>
            <a:r>
              <a:rPr lang="en-US" sz="2400" b="1" dirty="0">
                <a:solidFill>
                  <a:schemeClr val="accent2"/>
                </a:solidFill>
              </a:rPr>
              <a:t>a field for entering a number (You can also set restrictions on what numbers are accepted):</a:t>
            </a:r>
            <a:endParaRPr lang="ru-RU" sz="2400" b="1" dirty="0">
              <a:solidFill>
                <a:schemeClr val="accent2"/>
              </a:solidFill>
            </a:endParaRPr>
          </a:p>
        </p:txBody>
      </p:sp>
      <p:sp>
        <p:nvSpPr>
          <p:cNvPr id="5" name="Прямоугольник 4"/>
          <p:cNvSpPr/>
          <p:nvPr/>
        </p:nvSpPr>
        <p:spPr>
          <a:xfrm>
            <a:off x="484070" y="3013460"/>
            <a:ext cx="7488832" cy="1015663"/>
          </a:xfrm>
          <a:prstGeom prst="rect">
            <a:avLst/>
          </a:prstGeom>
          <a:ln w="28575">
            <a:solidFill>
              <a:schemeClr val="tx1"/>
            </a:solidFill>
          </a:ln>
        </p:spPr>
        <p:txBody>
          <a:bodyPr wrap="square">
            <a:spAutoFit/>
          </a:bodyPr>
          <a:lstStyle/>
          <a:p>
            <a:r>
              <a:rPr lang="en-US" sz="2000" b="1" dirty="0">
                <a:solidFill>
                  <a:srgbClr val="002060"/>
                </a:solidFill>
              </a:rPr>
              <a:t>Quantity (between 1 and </a:t>
            </a:r>
            <a:r>
              <a:rPr lang="en-US" sz="2000" b="1" dirty="0" smtClean="0">
                <a:solidFill>
                  <a:srgbClr val="002060"/>
                </a:solidFill>
              </a:rPr>
              <a:t>5):</a:t>
            </a:r>
            <a:r>
              <a:rPr lang="en-US" sz="2000" b="1" dirty="0">
                <a:solidFill>
                  <a:srgbClr val="002060"/>
                </a:solidFill>
              </a:rPr>
              <a:t> </a:t>
            </a:r>
            <a:endParaRPr lang="en-US" sz="2000" b="1" dirty="0" smtClean="0">
              <a:solidFill>
                <a:srgbClr val="002060"/>
              </a:solidFill>
            </a:endParaRPr>
          </a:p>
          <a:p>
            <a:r>
              <a:rPr lang="en-US" sz="2000" b="1" dirty="0" smtClean="0">
                <a:solidFill>
                  <a:srgbClr val="FF0000"/>
                </a:solidFill>
              </a:rPr>
              <a:t>&lt;</a:t>
            </a:r>
            <a:r>
              <a:rPr lang="en-US" sz="2000" b="1" dirty="0">
                <a:solidFill>
                  <a:srgbClr val="FF0000"/>
                </a:solidFill>
              </a:rPr>
              <a:t>input </a:t>
            </a:r>
            <a:r>
              <a:rPr lang="en-US" sz="2000" b="1" dirty="0">
                <a:solidFill>
                  <a:srgbClr val="00B050"/>
                </a:solidFill>
              </a:rPr>
              <a:t>type="number"</a:t>
            </a:r>
            <a:r>
              <a:rPr lang="en-US" sz="2000" b="1" dirty="0"/>
              <a:t> </a:t>
            </a:r>
            <a:r>
              <a:rPr lang="en-US" sz="2000" b="1" dirty="0">
                <a:solidFill>
                  <a:srgbClr val="002060"/>
                </a:solidFill>
              </a:rPr>
              <a:t>name="quantity" min="1" max="</a:t>
            </a:r>
            <a:r>
              <a:rPr lang="en-US" sz="2000" b="1" dirty="0" smtClean="0">
                <a:solidFill>
                  <a:srgbClr val="002060"/>
                </a:solidFill>
              </a:rPr>
              <a:t>5" step="2"</a:t>
            </a:r>
            <a:r>
              <a:rPr lang="en-US" sz="2000" b="1" dirty="0" smtClean="0">
                <a:solidFill>
                  <a:srgbClr val="FF0000"/>
                </a:solidFill>
              </a:rPr>
              <a:t>&gt;</a:t>
            </a:r>
            <a:endParaRPr lang="ru-RU" sz="2000" b="1" dirty="0">
              <a:solidFill>
                <a:srgbClr val="FF0000"/>
              </a:solidFill>
            </a:endParaRPr>
          </a:p>
        </p:txBody>
      </p:sp>
      <p:sp>
        <p:nvSpPr>
          <p:cNvPr id="15" name="Прямоугольник 14"/>
          <p:cNvSpPr/>
          <p:nvPr/>
        </p:nvSpPr>
        <p:spPr>
          <a:xfrm>
            <a:off x="501363" y="4289329"/>
            <a:ext cx="3279605" cy="461665"/>
          </a:xfrm>
          <a:prstGeom prst="rect">
            <a:avLst/>
          </a:prstGeom>
          <a:solidFill>
            <a:schemeClr val="bg2"/>
          </a:solidFill>
          <a:ln>
            <a:solidFill>
              <a:schemeClr val="tx2"/>
            </a:solidFill>
          </a:ln>
        </p:spPr>
        <p:txBody>
          <a:bodyPr wrap="square">
            <a:spAutoFit/>
          </a:bodyPr>
          <a:lstStyle/>
          <a:p>
            <a:r>
              <a:rPr lang="en-US" sz="2400" dirty="0" smtClean="0">
                <a:solidFill>
                  <a:srgbClr val="002060"/>
                </a:solidFill>
              </a:rPr>
              <a:t>Input type: </a:t>
            </a:r>
            <a:r>
              <a:rPr lang="en-US" sz="2400" b="1" dirty="0" smtClean="0">
                <a:solidFill>
                  <a:srgbClr val="FF0000"/>
                </a:solidFill>
              </a:rPr>
              <a:t>range</a:t>
            </a:r>
            <a:endParaRPr lang="en-US" sz="2400" b="1" dirty="0">
              <a:solidFill>
                <a:srgbClr val="FF0000"/>
              </a:solidFill>
            </a:endParaRPr>
          </a:p>
        </p:txBody>
      </p:sp>
      <p:sp>
        <p:nvSpPr>
          <p:cNvPr id="16" name="Прямоугольник 15"/>
          <p:cNvSpPr/>
          <p:nvPr/>
        </p:nvSpPr>
        <p:spPr>
          <a:xfrm>
            <a:off x="500845" y="4886524"/>
            <a:ext cx="7488832" cy="830997"/>
          </a:xfrm>
          <a:prstGeom prst="rect">
            <a:avLst/>
          </a:prstGeom>
          <a:ln>
            <a:solidFill>
              <a:schemeClr val="tx2"/>
            </a:solidFill>
          </a:ln>
        </p:spPr>
        <p:txBody>
          <a:bodyPr wrap="square">
            <a:spAutoFit/>
          </a:bodyPr>
          <a:lstStyle/>
          <a:p>
            <a:r>
              <a:rPr lang="en-US" sz="2400" b="1" dirty="0">
                <a:solidFill>
                  <a:schemeClr val="accent2"/>
                </a:solidFill>
              </a:rPr>
              <a:t>Define a control for entering a number whose exact value is not important (like a slider control):</a:t>
            </a:r>
            <a:endParaRPr lang="ru-RU" sz="2400" b="1" dirty="0">
              <a:solidFill>
                <a:schemeClr val="accent2"/>
              </a:solidFill>
            </a:endParaRPr>
          </a:p>
        </p:txBody>
      </p:sp>
      <p:sp>
        <p:nvSpPr>
          <p:cNvPr id="17" name="Прямоугольник 16"/>
          <p:cNvSpPr/>
          <p:nvPr/>
        </p:nvSpPr>
        <p:spPr>
          <a:xfrm>
            <a:off x="542969" y="5873901"/>
            <a:ext cx="7488832" cy="707886"/>
          </a:xfrm>
          <a:prstGeom prst="rect">
            <a:avLst/>
          </a:prstGeom>
          <a:ln w="28575">
            <a:solidFill>
              <a:schemeClr val="tx1"/>
            </a:solidFill>
          </a:ln>
        </p:spPr>
        <p:txBody>
          <a:bodyPr wrap="square">
            <a:spAutoFit/>
          </a:bodyPr>
          <a:lstStyle/>
          <a:p>
            <a:r>
              <a:rPr lang="en-US" sz="2000" b="1" dirty="0">
                <a:solidFill>
                  <a:srgbClr val="FF0000"/>
                </a:solidFill>
              </a:rPr>
              <a:t>&lt;input</a:t>
            </a:r>
            <a:r>
              <a:rPr lang="en-US" sz="2000" b="1" dirty="0"/>
              <a:t> </a:t>
            </a:r>
            <a:r>
              <a:rPr lang="en-US" sz="2000" b="1" dirty="0">
                <a:solidFill>
                  <a:srgbClr val="00B050"/>
                </a:solidFill>
              </a:rPr>
              <a:t>type="range"</a:t>
            </a:r>
            <a:r>
              <a:rPr lang="en-US" sz="2000" b="1" dirty="0"/>
              <a:t> </a:t>
            </a:r>
            <a:r>
              <a:rPr lang="en-US" sz="2000" b="1" dirty="0">
                <a:solidFill>
                  <a:srgbClr val="002060"/>
                </a:solidFill>
              </a:rPr>
              <a:t>name="points" min="0" max="</a:t>
            </a:r>
            <a:r>
              <a:rPr lang="en-US" sz="2000" b="1" dirty="0" smtClean="0">
                <a:solidFill>
                  <a:srgbClr val="002060"/>
                </a:solidFill>
              </a:rPr>
              <a:t>10"  </a:t>
            </a:r>
            <a:r>
              <a:rPr lang="en-US" sz="2000" b="1" dirty="0">
                <a:solidFill>
                  <a:srgbClr val="002060"/>
                </a:solidFill>
              </a:rPr>
              <a:t>step="2</a:t>
            </a:r>
            <a:r>
              <a:rPr lang="en-US" sz="2000" b="1" dirty="0" smtClean="0">
                <a:solidFill>
                  <a:srgbClr val="002060"/>
                </a:solidFill>
              </a:rPr>
              <a:t>"</a:t>
            </a:r>
            <a:r>
              <a:rPr lang="en-US" sz="2000" b="1" dirty="0" smtClean="0">
                <a:solidFill>
                  <a:srgbClr val="FF0000"/>
                </a:solidFill>
              </a:rPr>
              <a:t>&gt;</a:t>
            </a:r>
            <a:endParaRPr lang="ru-RU" sz="2000" b="1" dirty="0">
              <a:solidFill>
                <a:srgbClr val="FF0000"/>
              </a:solidFill>
            </a:endParaRPr>
          </a:p>
        </p:txBody>
      </p:sp>
    </p:spTree>
    <p:extLst>
      <p:ext uri="{BB962C8B-B14F-4D97-AF65-F5344CB8AC3E}">
        <p14:creationId xmlns:p14="http://schemas.microsoft.com/office/powerpoint/2010/main" val="28507575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2082762" y="1447800"/>
            <a:ext cx="5435676" cy="4572000"/>
          </a:xfrm>
        </p:spPr>
      </p:pic>
      <p:sp>
        <p:nvSpPr>
          <p:cNvPr id="5" name="TextBox 4"/>
          <p:cNvSpPr txBox="1"/>
          <p:nvPr/>
        </p:nvSpPr>
        <p:spPr>
          <a:xfrm>
            <a:off x="683568" y="260648"/>
            <a:ext cx="4317060" cy="830997"/>
          </a:xfrm>
          <a:prstGeom prst="rect">
            <a:avLst/>
          </a:prstGeom>
          <a:noFill/>
        </p:spPr>
        <p:txBody>
          <a:bodyPr wrap="square" rtlCol="0">
            <a:spAutoFit/>
          </a:bodyPr>
          <a:lstStyle/>
          <a:p>
            <a:r>
              <a:rPr lang="hy-AM" sz="4800" b="1" dirty="0" smtClean="0">
                <a:ln w="18000">
                  <a:solidFill>
                    <a:schemeClr val="accent2">
                      <a:satMod val="140000"/>
                    </a:schemeClr>
                  </a:solidFill>
                  <a:prstDash val="solid"/>
                  <a:miter lim="800000"/>
                </a:ln>
                <a:solidFill>
                  <a:srgbClr val="C00000"/>
                </a:solidFill>
                <a:effectLst>
                  <a:outerShdw blurRad="25500" dist="23000" dir="7020000" algn="tl">
                    <a:srgbClr val="000000">
                      <a:alpha val="50000"/>
                    </a:srgbClr>
                  </a:outerShdw>
                </a:effectLst>
              </a:rPr>
              <a:t>Task1:</a:t>
            </a:r>
            <a:endParaRPr lang="en-US" sz="4800" dirty="0" smtClean="0"/>
          </a:p>
        </p:txBody>
      </p:sp>
    </p:spTree>
    <p:extLst>
      <p:ext uri="{BB962C8B-B14F-4D97-AF65-F5344CB8AC3E}">
        <p14:creationId xmlns:p14="http://schemas.microsoft.com/office/powerpoint/2010/main" val="121651162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2885</TotalTime>
  <Words>335</Words>
  <Application>Microsoft Office PowerPoint</Application>
  <PresentationFormat>Экран (4:3)</PresentationFormat>
  <Paragraphs>66</Paragraphs>
  <Slides>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9</vt:i4>
      </vt:variant>
    </vt:vector>
  </HeadingPairs>
  <TitlesOfParts>
    <vt:vector size="10" baseType="lpstr">
      <vt:lpstr>Equity</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Araik</dc:creator>
  <cp:lastModifiedBy>home</cp:lastModifiedBy>
  <cp:revision>172</cp:revision>
  <dcterms:created xsi:type="dcterms:W3CDTF">2013-08-16T08:22:25Z</dcterms:created>
  <dcterms:modified xsi:type="dcterms:W3CDTF">2016-11-14T12:52:57Z</dcterms:modified>
</cp:coreProperties>
</file>