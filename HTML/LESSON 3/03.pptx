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7" r:id="rId2"/>
    <p:sldId id="279" r:id="rId3"/>
    <p:sldId id="261" r:id="rId4"/>
    <p:sldId id="272" r:id="rId5"/>
    <p:sldId id="274" r:id="rId6"/>
    <p:sldId id="273" r:id="rId7"/>
    <p:sldId id="275" r:id="rId8"/>
    <p:sldId id="277" r:id="rId9"/>
    <p:sldId id="278" r:id="rId10"/>
    <p:sldId id="276" r:id="rId11"/>
    <p:sldId id="281" r:id="rId12"/>
    <p:sldId id="268" r:id="rId13"/>
    <p:sldId id="270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2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A493-8083-4A0A-9DB8-8876B5383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49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AA493-8083-4A0A-9DB8-8876B538388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schools.com/tags/tag_style.asp" TargetMode="External"/><Relationship Id="rId3" Type="http://schemas.openxmlformats.org/officeDocument/2006/relationships/hyperlink" Target="http://www.w3schools.com/tags/tag_title.asp" TargetMode="External"/><Relationship Id="rId7" Type="http://schemas.openxmlformats.org/officeDocument/2006/relationships/hyperlink" Target="http://www.w3schools.com/tags/tag_script.asp" TargetMode="External"/><Relationship Id="rId2" Type="http://schemas.openxmlformats.org/officeDocument/2006/relationships/hyperlink" Target="http://www.w3schools.com/tags/tag_head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tags/tag_meta.asp" TargetMode="External"/><Relationship Id="rId5" Type="http://schemas.openxmlformats.org/officeDocument/2006/relationships/hyperlink" Target="http://www.w3schools.com/tags/tag_link.asp" TargetMode="External"/><Relationship Id="rId4" Type="http://schemas.openxmlformats.org/officeDocument/2006/relationships/hyperlink" Target="http://www.w3schools.com/tags/tag_base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3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 Elements</a:t>
            </a:r>
            <a:endParaRPr lang="en-US" sz="48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3568" y="1484784"/>
          <a:ext cx="7704856" cy="4392491"/>
        </p:xfrm>
        <a:graphic>
          <a:graphicData uri="http://schemas.openxmlformats.org/drawingml/2006/table">
            <a:tbl>
              <a:tblPr/>
              <a:tblGrid>
                <a:gridCol w="1540972"/>
                <a:gridCol w="6163884"/>
              </a:tblGrid>
              <a:tr h="39004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Tag</a:t>
                      </a: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47950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2"/>
                        </a:rPr>
                        <a:t>&lt;head&gt;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information about the document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50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3"/>
                        </a:rPr>
                        <a:t>&lt;title&gt;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the title of a document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802457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4"/>
                        </a:rPr>
                        <a:t>&lt;base&gt;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Defines a default address or a default target for all links on a page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2457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5"/>
                        </a:rPr>
                        <a:t>&lt;link&gt;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the relationship between a document and an external resource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7950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6"/>
                        </a:rPr>
                        <a:t>&lt;meta&gt;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metadata about an HTML document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50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7"/>
                        </a:rPr>
                        <a:t>&lt;script&gt;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Defines a client-side script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79506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latin typeface="verdana"/>
                          <a:hlinkClick r:id="rId8"/>
                        </a:rPr>
                        <a:t>&lt;style&gt;</a:t>
                      </a:r>
                      <a:endParaRPr lang="en-US" sz="160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Defines style information for a document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 Elements</a:t>
            </a:r>
            <a:endParaRPr lang="en-US" sz="4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11560" y="1052736"/>
            <a:ext cx="38827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 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 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&lt;</a:t>
            </a:r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title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&gt;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552" y="1916832"/>
            <a:ext cx="64087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&lt;head&gt;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0000"/>
                </a:solidFill>
              </a:rPr>
              <a:t>&lt;title&gt;</a:t>
            </a:r>
            <a:r>
              <a:rPr lang="hy-AM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/>
              <a:t>Title of the document</a:t>
            </a:r>
            <a:r>
              <a:rPr lang="en-US" sz="2800" b="1" dirty="0" smtClean="0">
                <a:solidFill>
                  <a:srgbClr val="FF0000"/>
                </a:solidFill>
              </a:rPr>
              <a:t>&lt;/title&gt;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C000"/>
                </a:solidFill>
              </a:rPr>
              <a:t>&lt;/head&gt;</a:t>
            </a:r>
            <a:endParaRPr lang="en-US" sz="2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 Elements</a:t>
            </a:r>
            <a:endParaRPr lang="en-US" sz="48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611560" y="1052736"/>
            <a:ext cx="38427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 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 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&lt;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base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&gt;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552" y="1916832"/>
            <a:ext cx="70567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&lt;head&gt;</a:t>
            </a:r>
            <a:endParaRPr lang="hy-AM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&lt;base </a:t>
            </a:r>
            <a:r>
              <a:rPr lang="en-US" sz="2800" b="1" dirty="0" err="1" smtClean="0">
                <a:solidFill>
                  <a:srgbClr val="00B050"/>
                </a:solidFill>
              </a:rPr>
              <a:t>href</a:t>
            </a:r>
            <a:r>
              <a:rPr lang="en-US" sz="2800" b="1" dirty="0" smtClean="0">
                <a:solidFill>
                  <a:srgbClr val="00B050"/>
                </a:solidFill>
              </a:rPr>
              <a:t>="http://www.nverner.</a:t>
            </a:r>
            <a:r>
              <a:rPr lang="hy-AM" sz="2800" b="1" dirty="0" smtClean="0">
                <a:solidFill>
                  <a:srgbClr val="00B050"/>
                </a:solidFill>
              </a:rPr>
              <a:t>am</a:t>
            </a:r>
            <a:r>
              <a:rPr lang="en-US" sz="2800" b="1" dirty="0" smtClean="0">
                <a:solidFill>
                  <a:srgbClr val="00B050"/>
                </a:solidFill>
              </a:rPr>
              <a:t>/images/" target="_blank"</a:t>
            </a:r>
            <a:r>
              <a:rPr lang="en-US" sz="2800" b="1" dirty="0" smtClean="0">
                <a:solidFill>
                  <a:srgbClr val="FF0000"/>
                </a:solidFill>
              </a:rPr>
              <a:t>&gt; 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C000"/>
                </a:solidFill>
              </a:rPr>
              <a:t>&lt;/head&gt;</a:t>
            </a:r>
            <a:endParaRPr lang="en-US" sz="2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 Elements</a:t>
            </a:r>
            <a:endParaRPr lang="en-US" sz="4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11560" y="1052736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 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 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&lt;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link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&gt;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552" y="1916832"/>
            <a:ext cx="70567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&lt;head&gt;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0000"/>
                </a:solidFill>
              </a:rPr>
              <a:t>&lt;</a:t>
            </a:r>
            <a:r>
              <a:rPr lang="hy-AM" sz="2800" b="1" dirty="0" smtClean="0">
                <a:solidFill>
                  <a:srgbClr val="FF0000"/>
                </a:solidFill>
              </a:rPr>
              <a:t>link  </a:t>
            </a:r>
            <a:r>
              <a:rPr lang="en-US" sz="2800" b="1" dirty="0" err="1" smtClean="0">
                <a:solidFill>
                  <a:srgbClr val="00B050"/>
                </a:solidFill>
              </a:rPr>
              <a:t>rel</a:t>
            </a:r>
            <a:r>
              <a:rPr lang="en-US" sz="2800" b="1" dirty="0" smtClean="0">
                <a:solidFill>
                  <a:srgbClr val="00B050"/>
                </a:solidFill>
              </a:rPr>
              <a:t>="</a:t>
            </a:r>
            <a:r>
              <a:rPr lang="en-US" sz="2800" b="1" dirty="0" err="1" smtClean="0">
                <a:solidFill>
                  <a:srgbClr val="00B050"/>
                </a:solidFill>
              </a:rPr>
              <a:t>stylesheet</a:t>
            </a:r>
            <a:r>
              <a:rPr lang="en-US" sz="2800" b="1" dirty="0" smtClean="0">
                <a:solidFill>
                  <a:srgbClr val="00B050"/>
                </a:solidFill>
              </a:rPr>
              <a:t>"</a:t>
            </a:r>
            <a:r>
              <a:rPr lang="en-US" sz="2800" b="1" dirty="0" smtClean="0"/>
              <a:t> </a:t>
            </a:r>
            <a:r>
              <a:rPr lang="hy-AM" sz="2800" b="1" dirty="0" smtClean="0"/>
              <a:t> </a:t>
            </a:r>
            <a:r>
              <a:rPr lang="en-US" sz="2800" b="1" dirty="0" smtClean="0">
                <a:solidFill>
                  <a:srgbClr val="7030A0"/>
                </a:solidFill>
              </a:rPr>
              <a:t>type="</a:t>
            </a:r>
            <a:r>
              <a:rPr lang="en-US" sz="2800" b="1" dirty="0" smtClean="0">
                <a:solidFill>
                  <a:srgbClr val="7030A0"/>
                </a:solidFill>
              </a:rPr>
              <a:t>text/</a:t>
            </a:r>
            <a:r>
              <a:rPr lang="en-US" sz="2800" b="1" dirty="0" err="1" smtClean="0">
                <a:solidFill>
                  <a:srgbClr val="7030A0"/>
                </a:solidFill>
              </a:rPr>
              <a:t>css</a:t>
            </a:r>
            <a:r>
              <a:rPr lang="en-US" sz="2800" b="1" dirty="0" smtClean="0">
                <a:solidFill>
                  <a:srgbClr val="7030A0"/>
                </a:solidFill>
              </a:rPr>
              <a:t>" </a:t>
            </a:r>
            <a:r>
              <a:rPr lang="en-US" sz="2800" b="1" dirty="0" err="1" smtClean="0">
                <a:solidFill>
                  <a:srgbClr val="0070C0"/>
                </a:solidFill>
              </a:rPr>
              <a:t>href</a:t>
            </a:r>
            <a:r>
              <a:rPr lang="en-US" sz="2800" b="1" dirty="0" smtClean="0">
                <a:solidFill>
                  <a:srgbClr val="0070C0"/>
                </a:solidFill>
              </a:rPr>
              <a:t>="mystyle.css" </a:t>
            </a:r>
            <a:r>
              <a:rPr lang="en-US" sz="2800" b="1" dirty="0" smtClean="0">
                <a:solidFill>
                  <a:srgbClr val="FF0000"/>
                </a:solidFill>
              </a:rPr>
              <a:t>&gt;</a:t>
            </a:r>
            <a:r>
              <a:rPr lang="hy-AM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C000"/>
                </a:solidFill>
              </a:rPr>
              <a:t>&lt;/head&gt;</a:t>
            </a:r>
            <a:endParaRPr lang="en-US" sz="2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 Elements</a:t>
            </a:r>
            <a:endParaRPr lang="en-US" sz="4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11560" y="1052736"/>
            <a:ext cx="3886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 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 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&lt;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style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&gt;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552" y="1916832"/>
            <a:ext cx="7056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C000"/>
                </a:solidFill>
              </a:rPr>
              <a:t>&lt;head&gt;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0000"/>
                </a:solidFill>
              </a:rPr>
              <a:t> &lt;</a:t>
            </a:r>
            <a:r>
              <a:rPr lang="en-US" sz="2800" b="1" dirty="0" smtClean="0">
                <a:solidFill>
                  <a:srgbClr val="FF0000"/>
                </a:solidFill>
              </a:rPr>
              <a:t>style&gt;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body {</a:t>
            </a:r>
            <a:r>
              <a:rPr lang="en-US" sz="2800" b="1" dirty="0" err="1" smtClean="0"/>
              <a:t>background-color:yellow</a:t>
            </a:r>
            <a:r>
              <a:rPr lang="en-US" sz="2800" b="1" dirty="0" smtClean="0"/>
              <a:t>}</a:t>
            </a:r>
            <a:br>
              <a:rPr lang="en-US" sz="2800" b="1" dirty="0" smtClean="0"/>
            </a:br>
            <a:r>
              <a:rPr lang="en-US" sz="2800" b="1" dirty="0" smtClean="0"/>
              <a:t>p {</a:t>
            </a:r>
            <a:r>
              <a:rPr lang="en-US" sz="2800" b="1" dirty="0" err="1" smtClean="0"/>
              <a:t>color:blue</a:t>
            </a:r>
            <a:r>
              <a:rPr lang="en-US" sz="2800" b="1" dirty="0" smtClean="0"/>
              <a:t>}</a:t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0000"/>
                </a:solidFill>
              </a:rPr>
              <a:t>&lt;/style&gt; 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>
                <a:solidFill>
                  <a:srgbClr val="FFC000"/>
                </a:solidFill>
              </a:rPr>
              <a:t>&lt;/head&gt;</a:t>
            </a:r>
            <a:endParaRPr lang="hy-AM" sz="2800" b="1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Head Elements</a:t>
            </a:r>
            <a:endParaRPr lang="en-US" sz="4800" dirty="0" smtClean="0"/>
          </a:p>
        </p:txBody>
      </p:sp>
      <p:sp>
        <p:nvSpPr>
          <p:cNvPr id="15" name="Rectangle 14"/>
          <p:cNvSpPr/>
          <p:nvPr/>
        </p:nvSpPr>
        <p:spPr>
          <a:xfrm>
            <a:off x="611560" y="1052736"/>
            <a:ext cx="39244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 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 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&lt;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meta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&gt;</a:t>
            </a:r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472" y="1786488"/>
            <a:ext cx="821537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C000"/>
                </a:solidFill>
              </a:rPr>
              <a:t>&lt;head&gt;</a:t>
            </a:r>
            <a:endParaRPr lang="hy-AM" sz="24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>
                <a:solidFill>
                  <a:srgbClr val="00B050"/>
                </a:solidFill>
              </a:rPr>
              <a:t>	</a:t>
            </a:r>
            <a:r>
              <a:rPr lang="hy-AM" sz="2400" b="1" dirty="0" smtClean="0">
                <a:solidFill>
                  <a:srgbClr val="00B050"/>
                </a:solidFill>
              </a:rPr>
              <a:t>&lt;!--</a:t>
            </a:r>
            <a:r>
              <a:rPr lang="en-US" sz="2400" b="1" dirty="0" smtClean="0">
                <a:solidFill>
                  <a:srgbClr val="00B050"/>
                </a:solidFill>
              </a:rPr>
              <a:t> Define keywords for search engines:</a:t>
            </a:r>
            <a:r>
              <a:rPr lang="hy-AM" sz="2400" b="1" dirty="0" smtClean="0">
                <a:solidFill>
                  <a:srgbClr val="00B050"/>
                </a:solidFill>
              </a:rPr>
              <a:t>  --&gt;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 	</a:t>
            </a:r>
            <a:r>
              <a:rPr lang="en-US" sz="2400" b="1" dirty="0" smtClean="0">
                <a:solidFill>
                  <a:srgbClr val="FF0000"/>
                </a:solidFill>
              </a:rPr>
              <a:t>&lt;meta </a:t>
            </a:r>
            <a:r>
              <a:rPr lang="en-US" sz="2400" b="1" dirty="0" smtClean="0">
                <a:solidFill>
                  <a:srgbClr val="0070C0"/>
                </a:solidFill>
              </a:rPr>
              <a:t>name="keywords" </a:t>
            </a:r>
            <a:r>
              <a:rPr lang="en-US" sz="2400" b="1" dirty="0" smtClean="0">
                <a:solidFill>
                  <a:srgbClr val="7030A0"/>
                </a:solidFill>
              </a:rPr>
              <a:t>content="HTML, 	CSS, 	XML, XHTML, JavaScript"</a:t>
            </a:r>
            <a:r>
              <a:rPr lang="en-US" sz="2400" b="1" dirty="0" smtClean="0">
                <a:solidFill>
                  <a:srgbClr val="FF0000"/>
                </a:solidFill>
              </a:rPr>
              <a:t>&gt; </a:t>
            </a:r>
            <a:endParaRPr lang="hy-AM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00B050"/>
                </a:solidFill>
              </a:rPr>
              <a:t>	</a:t>
            </a:r>
            <a:r>
              <a:rPr lang="hy-AM" sz="2400" b="1" dirty="0" smtClean="0">
                <a:solidFill>
                  <a:srgbClr val="00B050"/>
                </a:solidFill>
              </a:rPr>
              <a:t>&lt;!</a:t>
            </a:r>
            <a:r>
              <a:rPr lang="en-US" sz="2400" b="1" dirty="0" smtClean="0">
                <a:solidFill>
                  <a:srgbClr val="00B050"/>
                </a:solidFill>
              </a:rPr>
              <a:t>-- Define </a:t>
            </a:r>
            <a:r>
              <a:rPr lang="hy-AM" sz="2400" b="1" dirty="0" smtClean="0">
                <a:solidFill>
                  <a:srgbClr val="00B050"/>
                </a:solidFill>
              </a:rPr>
              <a:t>page description</a:t>
            </a:r>
            <a:r>
              <a:rPr lang="en-US" sz="2400" b="1" dirty="0" smtClean="0">
                <a:solidFill>
                  <a:srgbClr val="00B050"/>
                </a:solidFill>
              </a:rPr>
              <a:t>:</a:t>
            </a:r>
            <a:r>
              <a:rPr lang="hy-AM" sz="2400" b="1" dirty="0" smtClean="0">
                <a:solidFill>
                  <a:srgbClr val="00B050"/>
                </a:solidFill>
              </a:rPr>
              <a:t>  --&gt;</a:t>
            </a:r>
            <a:endParaRPr lang="hy-AM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	&lt;meta </a:t>
            </a:r>
            <a:r>
              <a:rPr lang="en-US" sz="2400" b="1" dirty="0" smtClean="0">
                <a:solidFill>
                  <a:srgbClr val="0070C0"/>
                </a:solidFill>
              </a:rPr>
              <a:t>name= " </a:t>
            </a:r>
            <a:r>
              <a:rPr lang="hy-AM" sz="2400" b="1" dirty="0" smtClean="0">
                <a:solidFill>
                  <a:srgbClr val="0070C0"/>
                </a:solidFill>
              </a:rPr>
              <a:t>description</a:t>
            </a:r>
            <a:r>
              <a:rPr lang="en-US" sz="2400" b="1" dirty="0" smtClean="0">
                <a:solidFill>
                  <a:srgbClr val="0070C0"/>
                </a:solidFill>
              </a:rPr>
              <a:t>" </a:t>
            </a:r>
            <a:r>
              <a:rPr lang="en-US" sz="2400" b="1" dirty="0" smtClean="0">
                <a:solidFill>
                  <a:srgbClr val="7030A0"/>
                </a:solidFill>
              </a:rPr>
              <a:t>content="</a:t>
            </a:r>
            <a:r>
              <a:rPr lang="hy-AM" sz="2400" b="1" dirty="0" smtClean="0">
                <a:solidFill>
                  <a:srgbClr val="7030A0"/>
                </a:solidFill>
              </a:rPr>
              <a:t>Page </a:t>
            </a:r>
            <a:r>
              <a:rPr lang="en-US" sz="2400" b="1" dirty="0" smtClean="0">
                <a:solidFill>
                  <a:srgbClr val="7030A0"/>
                </a:solidFill>
              </a:rPr>
              <a:t>	</a:t>
            </a:r>
            <a:r>
              <a:rPr lang="hy-AM" sz="2400" b="1" dirty="0" smtClean="0">
                <a:solidFill>
                  <a:srgbClr val="7030A0"/>
                </a:solidFill>
              </a:rPr>
              <a:t>Description</a:t>
            </a:r>
            <a:r>
              <a:rPr lang="en-US" sz="2400" b="1" dirty="0" smtClean="0">
                <a:solidFill>
                  <a:srgbClr val="7030A0"/>
                </a:solidFill>
              </a:rPr>
              <a:t>"</a:t>
            </a:r>
            <a:r>
              <a:rPr lang="en-US" sz="2400" b="1" dirty="0" smtClean="0">
                <a:solidFill>
                  <a:srgbClr val="FF0000"/>
                </a:solidFill>
              </a:rPr>
              <a:t>&gt; </a:t>
            </a:r>
            <a:endParaRPr lang="hy-AM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00B050"/>
                </a:solidFill>
              </a:rPr>
              <a:t>	</a:t>
            </a:r>
            <a:r>
              <a:rPr lang="hy-AM" sz="2400" b="1" dirty="0" smtClean="0">
                <a:solidFill>
                  <a:srgbClr val="00B050"/>
                </a:solidFill>
              </a:rPr>
              <a:t>&lt;!--</a:t>
            </a:r>
            <a:r>
              <a:rPr lang="en-US" sz="2400" b="1" dirty="0" smtClean="0">
                <a:solidFill>
                  <a:srgbClr val="00B050"/>
                </a:solidFill>
              </a:rPr>
              <a:t> Define </a:t>
            </a:r>
            <a:r>
              <a:rPr lang="hy-AM" sz="2400" b="1" dirty="0" smtClean="0">
                <a:solidFill>
                  <a:srgbClr val="00B050"/>
                </a:solidFill>
              </a:rPr>
              <a:t>page author</a:t>
            </a:r>
            <a:r>
              <a:rPr lang="en-US" sz="2400" b="1" dirty="0" smtClean="0">
                <a:solidFill>
                  <a:srgbClr val="00B050"/>
                </a:solidFill>
              </a:rPr>
              <a:t>:</a:t>
            </a:r>
            <a:r>
              <a:rPr lang="hy-AM" sz="2400" b="1" dirty="0" smtClean="0">
                <a:solidFill>
                  <a:srgbClr val="00B050"/>
                </a:solidFill>
              </a:rPr>
              <a:t>  --&gt;</a:t>
            </a:r>
            <a:endParaRPr lang="hy-AM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	&lt;meta </a:t>
            </a:r>
            <a:r>
              <a:rPr lang="en-US" sz="2400" b="1" dirty="0" smtClean="0">
                <a:solidFill>
                  <a:srgbClr val="0070C0"/>
                </a:solidFill>
              </a:rPr>
              <a:t>name= " </a:t>
            </a:r>
            <a:r>
              <a:rPr lang="hy-AM" sz="2400" b="1" dirty="0" smtClean="0">
                <a:solidFill>
                  <a:srgbClr val="0070C0"/>
                </a:solidFill>
              </a:rPr>
              <a:t>author</a:t>
            </a:r>
            <a:r>
              <a:rPr lang="en-US" sz="2400" b="1" dirty="0" smtClean="0">
                <a:solidFill>
                  <a:srgbClr val="0070C0"/>
                </a:solidFill>
              </a:rPr>
              <a:t>" </a:t>
            </a:r>
            <a:r>
              <a:rPr lang="en-US" sz="2400" b="1" dirty="0" smtClean="0">
                <a:solidFill>
                  <a:srgbClr val="7030A0"/>
                </a:solidFill>
              </a:rPr>
              <a:t>content="</a:t>
            </a:r>
            <a:r>
              <a:rPr lang="hy-AM" sz="2400" b="1" dirty="0" smtClean="0">
                <a:solidFill>
                  <a:srgbClr val="7030A0"/>
                </a:solidFill>
              </a:rPr>
              <a:t>Tom Smith</a:t>
            </a:r>
            <a:r>
              <a:rPr lang="en-US" sz="2400" b="1" dirty="0" smtClean="0">
                <a:solidFill>
                  <a:srgbClr val="7030A0"/>
                </a:solidFill>
              </a:rPr>
              <a:t>"</a:t>
            </a:r>
            <a:r>
              <a:rPr lang="en-US" sz="2400" b="1" dirty="0" smtClean="0">
                <a:solidFill>
                  <a:srgbClr val="FF0000"/>
                </a:solidFill>
              </a:rPr>
              <a:t>&gt;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>
                <a:solidFill>
                  <a:srgbClr val="FFC000"/>
                </a:solidFill>
              </a:rPr>
              <a:t>&lt;/head&gt;</a:t>
            </a:r>
            <a:endParaRPr lang="hy-AM" sz="2400" b="1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Lists</a:t>
            </a:r>
            <a:endParaRPr lang="en-US" sz="4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11560" y="1124744"/>
            <a:ext cx="2574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 ordered list:</a:t>
            </a:r>
            <a:endParaRPr lang="en-US" sz="2800" b="1" u="sng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544" y="3717032"/>
            <a:ext cx="2978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 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un</a:t>
            </a:r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ordered list:</a:t>
            </a:r>
            <a:endParaRPr lang="en-US" sz="2800" b="1" u="sng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544" y="4365104"/>
            <a:ext cx="2808312" cy="156966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&lt;ul&gt;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FF0000"/>
                </a:solidFill>
              </a:rPr>
              <a:t>&lt;/ul&gt;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9552" y="1772816"/>
            <a:ext cx="2808312" cy="156966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&lt;</a:t>
            </a:r>
            <a:r>
              <a:rPr lang="hy-AM" sz="2400" b="1" dirty="0" smtClean="0">
                <a:solidFill>
                  <a:srgbClr val="FF0000"/>
                </a:solidFill>
              </a:rPr>
              <a:t>o</a:t>
            </a:r>
            <a:r>
              <a:rPr lang="it-IT" sz="2400" b="1" dirty="0" smtClean="0">
                <a:solidFill>
                  <a:srgbClr val="FF0000"/>
                </a:solidFill>
              </a:rPr>
              <a:t>l&gt;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FF0000"/>
                </a:solidFill>
              </a:rPr>
              <a:t>&lt;/</a:t>
            </a:r>
            <a:r>
              <a:rPr lang="hy-AM" sz="2400" b="1" dirty="0" smtClean="0">
                <a:solidFill>
                  <a:srgbClr val="FF0000"/>
                </a:solidFill>
              </a:rPr>
              <a:t>o</a:t>
            </a:r>
            <a:r>
              <a:rPr lang="it-IT" sz="2400" b="1" dirty="0" smtClean="0">
                <a:solidFill>
                  <a:srgbClr val="FF0000"/>
                </a:solidFill>
              </a:rPr>
              <a:t>l&gt;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07904" y="4653136"/>
            <a:ext cx="38164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The list items are marked with bullets</a:t>
            </a:r>
            <a:r>
              <a:rPr lang="hy-AM" sz="2400" b="1" dirty="0" smtClean="0">
                <a:solidFill>
                  <a:schemeClr val="accent2"/>
                </a:solidFill>
              </a:rPr>
              <a:t>.</a:t>
            </a:r>
            <a:r>
              <a:rPr lang="en-US" sz="2400" b="1" dirty="0" smtClean="0">
                <a:solidFill>
                  <a:schemeClr val="accent2"/>
                </a:solidFill>
              </a:rPr>
              <a:t> 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79912" y="2132856"/>
            <a:ext cx="38164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The list items are marked with </a:t>
            </a:r>
            <a:r>
              <a:rPr lang="hy-AM" sz="2400" b="1" dirty="0" smtClean="0">
                <a:solidFill>
                  <a:schemeClr val="accent2"/>
                </a:solidFill>
              </a:rPr>
              <a:t>numbers.</a:t>
            </a:r>
            <a:r>
              <a:rPr lang="en-US" sz="2400" b="1" dirty="0" smtClean="0">
                <a:solidFill>
                  <a:schemeClr val="accent2"/>
                </a:solidFill>
              </a:rPr>
              <a:t> 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Lists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95536" y="1214422"/>
            <a:ext cx="3384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Description</a:t>
            </a:r>
            <a:r>
              <a:rPr lang="hy-AM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u="sng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list:</a:t>
            </a:r>
            <a:endParaRPr lang="en-US" sz="2800" b="1" u="sng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5536" y="1988840"/>
            <a:ext cx="4104456" cy="2677656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&lt;</a:t>
            </a:r>
            <a:r>
              <a:rPr lang="hy-AM" sz="2400" b="1" dirty="0" smtClean="0">
                <a:solidFill>
                  <a:srgbClr val="FF0000"/>
                </a:solidFill>
              </a:rPr>
              <a:t>d</a:t>
            </a:r>
            <a:r>
              <a:rPr lang="it-IT" sz="2400" b="1" dirty="0" smtClean="0">
                <a:solidFill>
                  <a:srgbClr val="FF0000"/>
                </a:solidFill>
              </a:rPr>
              <a:t>l&gt;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00B050"/>
                </a:solidFill>
              </a:rPr>
              <a:t>&lt;</a:t>
            </a:r>
            <a:r>
              <a:rPr lang="hy-AM" sz="2400" b="1" dirty="0" smtClean="0">
                <a:solidFill>
                  <a:srgbClr val="00B050"/>
                </a:solidFill>
              </a:rPr>
              <a:t>dt</a:t>
            </a:r>
            <a:r>
              <a:rPr lang="it-IT" sz="2400" b="1" dirty="0" smtClean="0">
                <a:solidFill>
                  <a:srgbClr val="00B050"/>
                </a:solidFill>
              </a:rPr>
              <a:t>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</a:t>
            </a:r>
            <a:r>
              <a:rPr lang="hy-AM" sz="2400" b="1" dirty="0" smtClean="0">
                <a:solidFill>
                  <a:srgbClr val="00B050"/>
                </a:solidFill>
              </a:rPr>
              <a:t>dt</a:t>
            </a:r>
            <a:r>
              <a:rPr lang="it-IT" sz="2400" b="1" dirty="0" smtClean="0">
                <a:solidFill>
                  <a:srgbClr val="00B050"/>
                </a:solidFill>
              </a:rPr>
              <a:t>&gt;</a:t>
            </a:r>
            <a:endParaRPr lang="hy-AM" sz="2400" b="1" dirty="0" smtClean="0">
              <a:solidFill>
                <a:srgbClr val="00B050"/>
              </a:solidFill>
            </a:endParaRPr>
          </a:p>
          <a:p>
            <a:r>
              <a:rPr lang="hy-AM" sz="2400" b="1" dirty="0" smtClean="0">
                <a:solidFill>
                  <a:srgbClr val="00B050"/>
                </a:solidFill>
              </a:rPr>
              <a:t>&lt;dd&gt;</a:t>
            </a:r>
            <a:r>
              <a:rPr lang="en-US" sz="2400" dirty="0" smtClean="0"/>
              <a:t> - black hot drink </a:t>
            </a:r>
            <a:r>
              <a:rPr lang="hy-AM" sz="2400" b="1" dirty="0" smtClean="0">
                <a:solidFill>
                  <a:srgbClr val="00B050"/>
                </a:solidFill>
              </a:rPr>
              <a:t>&lt;/dd&gt;</a:t>
            </a:r>
            <a:r>
              <a:rPr lang="it-IT" sz="2400" b="1" dirty="0" smtClean="0">
                <a:solidFill>
                  <a:srgbClr val="00B050"/>
                </a:solidFill>
              </a:rPr>
              <a:t/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it-IT" sz="2400" b="1" dirty="0" smtClean="0">
                <a:solidFill>
                  <a:srgbClr val="00B050"/>
                </a:solidFill>
              </a:rPr>
              <a:t>&lt;</a:t>
            </a:r>
            <a:r>
              <a:rPr lang="hy-AM" sz="2400" b="1" dirty="0" smtClean="0">
                <a:solidFill>
                  <a:srgbClr val="00B050"/>
                </a:solidFill>
              </a:rPr>
              <a:t>dt</a:t>
            </a:r>
            <a:r>
              <a:rPr lang="it-IT" sz="2400" b="1" dirty="0" smtClean="0">
                <a:solidFill>
                  <a:srgbClr val="00B050"/>
                </a:solidFill>
              </a:rPr>
              <a:t>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</a:t>
            </a:r>
            <a:r>
              <a:rPr lang="hy-AM" sz="2400" b="1" dirty="0" smtClean="0">
                <a:solidFill>
                  <a:srgbClr val="00B050"/>
                </a:solidFill>
              </a:rPr>
              <a:t>dt</a:t>
            </a:r>
            <a:r>
              <a:rPr lang="it-IT" sz="2400" b="1" dirty="0" smtClean="0">
                <a:solidFill>
                  <a:srgbClr val="00B050"/>
                </a:solidFill>
              </a:rPr>
              <a:t>&gt;</a:t>
            </a:r>
            <a:endParaRPr lang="hy-AM" sz="2400" b="1" dirty="0" smtClean="0">
              <a:solidFill>
                <a:srgbClr val="00B050"/>
              </a:solidFill>
            </a:endParaRPr>
          </a:p>
          <a:p>
            <a:r>
              <a:rPr lang="hy-AM" sz="2400" b="1" dirty="0" smtClean="0">
                <a:solidFill>
                  <a:srgbClr val="00B050"/>
                </a:solidFill>
              </a:rPr>
              <a:t>&lt;dd&gt;</a:t>
            </a:r>
            <a:r>
              <a:rPr lang="en-US" sz="2400" dirty="0" smtClean="0"/>
              <a:t> - white cold drink </a:t>
            </a:r>
            <a:r>
              <a:rPr lang="hy-AM" sz="2400" b="1" dirty="0" smtClean="0">
                <a:solidFill>
                  <a:srgbClr val="00B050"/>
                </a:solidFill>
              </a:rPr>
              <a:t>&lt;/dd&gt; 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FF0000"/>
                </a:solidFill>
              </a:rPr>
              <a:t>&lt;/</a:t>
            </a:r>
            <a:r>
              <a:rPr lang="hy-AM" sz="2400" b="1" dirty="0" smtClean="0">
                <a:solidFill>
                  <a:srgbClr val="FF0000"/>
                </a:solidFill>
              </a:rPr>
              <a:t>d</a:t>
            </a:r>
            <a:r>
              <a:rPr lang="it-IT" sz="2400" b="1" dirty="0" smtClean="0">
                <a:solidFill>
                  <a:srgbClr val="FF0000"/>
                </a:solidFill>
              </a:rPr>
              <a:t>l&gt;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7544" y="4812581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The </a:t>
            </a:r>
            <a:r>
              <a:rPr lang="en-US" sz="2400" b="1" u="sng" dirty="0" smtClean="0">
                <a:solidFill>
                  <a:srgbClr val="00B050"/>
                </a:solidFill>
              </a:rPr>
              <a:t>&lt;dl&gt; </a:t>
            </a:r>
            <a:r>
              <a:rPr lang="en-US" sz="2400" b="1" dirty="0" smtClean="0">
                <a:solidFill>
                  <a:schemeClr val="accent2"/>
                </a:solidFill>
              </a:rPr>
              <a:t>tag is used in conjunction with </a:t>
            </a:r>
            <a:r>
              <a:rPr lang="en-US" sz="2400" b="1" u="sng" dirty="0" smtClean="0">
                <a:solidFill>
                  <a:srgbClr val="00B050"/>
                </a:solidFill>
              </a:rPr>
              <a:t>&lt;</a:t>
            </a:r>
            <a:r>
              <a:rPr lang="en-US" sz="2400" b="1" u="sng" dirty="0" err="1" smtClean="0">
                <a:solidFill>
                  <a:srgbClr val="00B050"/>
                </a:solidFill>
              </a:rPr>
              <a:t>dt</a:t>
            </a:r>
            <a:r>
              <a:rPr lang="en-US" sz="2400" b="1" u="sng" dirty="0" smtClean="0">
                <a:solidFill>
                  <a:srgbClr val="00B050"/>
                </a:solidFill>
              </a:rPr>
              <a:t>&gt; </a:t>
            </a:r>
            <a:r>
              <a:rPr lang="en-US" sz="2400" b="1" dirty="0" smtClean="0">
                <a:solidFill>
                  <a:schemeClr val="accent2"/>
                </a:solidFill>
              </a:rPr>
              <a:t>(defines terms/names) and </a:t>
            </a:r>
            <a:r>
              <a:rPr lang="en-US" sz="2400" b="1" u="sng" dirty="0" smtClean="0">
                <a:solidFill>
                  <a:srgbClr val="00B050"/>
                </a:solidFill>
              </a:rPr>
              <a:t>&lt;</a:t>
            </a:r>
            <a:r>
              <a:rPr lang="en-US" sz="2400" b="1" u="sng" dirty="0" err="1" smtClean="0">
                <a:solidFill>
                  <a:srgbClr val="00B050"/>
                </a:solidFill>
              </a:rPr>
              <a:t>dd</a:t>
            </a:r>
            <a:r>
              <a:rPr lang="en-US" sz="2400" b="1" u="sng" dirty="0" smtClean="0">
                <a:solidFill>
                  <a:srgbClr val="00B050"/>
                </a:solidFill>
              </a:rPr>
              <a:t>&gt; </a:t>
            </a:r>
            <a:r>
              <a:rPr lang="en-US" sz="2400" b="1" dirty="0" smtClean="0">
                <a:solidFill>
                  <a:schemeClr val="accent2"/>
                </a:solidFill>
              </a:rPr>
              <a:t>(describes each term/name):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Lists</a:t>
            </a:r>
            <a:endParaRPr lang="en-US" sz="48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467544" y="1268760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Types of ordered lists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55576" y="2060847"/>
          <a:ext cx="6096000" cy="1869956"/>
        </p:xfrm>
        <a:graphic>
          <a:graphicData uri="http://schemas.openxmlformats.org/drawingml/2006/table">
            <a:tbl>
              <a:tblPr/>
              <a:tblGrid>
                <a:gridCol w="1800200"/>
                <a:gridCol w="4295800"/>
              </a:tblGrid>
              <a:tr h="421780">
                <a:tc>
                  <a:txBody>
                    <a:bodyPr/>
                    <a:lstStyle/>
                    <a:p>
                      <a:pPr algn="l" fontAlgn="t"/>
                      <a:r>
                        <a:rPr lang="hy-AM" sz="1600" dirty="0" smtClean="0">
                          <a:solidFill>
                            <a:srgbClr val="FFFFFF"/>
                          </a:solidFill>
                          <a:latin typeface="verdana"/>
                        </a:rPr>
                        <a:t>Value</a:t>
                      </a:r>
                      <a:endParaRPr lang="en-US" sz="1600" dirty="0">
                        <a:solidFill>
                          <a:srgbClr val="FFFFFF"/>
                        </a:solidFill>
                        <a:latin typeface="verdana"/>
                      </a:endParaRP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hy-AM" sz="1600" dirty="0" smtClean="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  <a:endParaRPr lang="en-US" sz="1600" dirty="0">
                        <a:solidFill>
                          <a:srgbClr val="FFFFFF"/>
                        </a:solidFill>
                        <a:latin typeface="verdana"/>
                      </a:endParaRP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48226">
                <a:tc>
                  <a:txBody>
                    <a:bodyPr/>
                    <a:lstStyle/>
                    <a:p>
                      <a:pPr algn="ctr" fontAlgn="t"/>
                      <a:r>
                        <a:rPr lang="hy-AM" sz="1600" dirty="0" smtClean="0">
                          <a:solidFill>
                            <a:srgbClr val="FFC000"/>
                          </a:solidFill>
                          <a:latin typeface="verdana"/>
                        </a:rPr>
                        <a:t>A</a:t>
                      </a:r>
                      <a:endParaRPr lang="en-US" sz="1600" dirty="0">
                        <a:solidFill>
                          <a:srgbClr val="FFC000"/>
                        </a:solidFill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smtClean="0">
                          <a:latin typeface="verdana"/>
                        </a:rPr>
                        <a:t>Letters list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226">
                <a:tc>
                  <a:txBody>
                    <a:bodyPr/>
                    <a:lstStyle/>
                    <a:p>
                      <a:pPr algn="ctr" fontAlgn="t"/>
                      <a:r>
                        <a:rPr lang="hy-AM" sz="1600" dirty="0" smtClean="0">
                          <a:solidFill>
                            <a:srgbClr val="FFC000"/>
                          </a:solidFill>
                          <a:latin typeface="verdana"/>
                        </a:rPr>
                        <a:t>a</a:t>
                      </a:r>
                      <a:endParaRPr lang="en-US" sz="1600" dirty="0">
                        <a:solidFill>
                          <a:srgbClr val="FFC000"/>
                        </a:solidFill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smtClean="0">
                          <a:latin typeface="verdana"/>
                        </a:rPr>
                        <a:t>Lowercase letters list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8226">
                <a:tc>
                  <a:txBody>
                    <a:bodyPr/>
                    <a:lstStyle/>
                    <a:p>
                      <a:pPr algn="ctr" fontAlgn="t"/>
                      <a:r>
                        <a:rPr lang="hy-AM" sz="1600" dirty="0" smtClean="0">
                          <a:solidFill>
                            <a:srgbClr val="FFC000"/>
                          </a:solidFill>
                          <a:latin typeface="verdana"/>
                        </a:rPr>
                        <a:t>I</a:t>
                      </a:r>
                      <a:endParaRPr lang="en-US" sz="1600" dirty="0">
                        <a:solidFill>
                          <a:srgbClr val="FFC000"/>
                        </a:solidFill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smtClean="0">
                          <a:latin typeface="verdana"/>
                        </a:rPr>
                        <a:t>Roman numbers list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226">
                <a:tc>
                  <a:txBody>
                    <a:bodyPr/>
                    <a:lstStyle/>
                    <a:p>
                      <a:pPr algn="ctr" fontAlgn="t"/>
                      <a:r>
                        <a:rPr lang="hy-AM" sz="1600" dirty="0" smtClean="0">
                          <a:solidFill>
                            <a:srgbClr val="FFC000"/>
                          </a:solidFill>
                          <a:latin typeface="verdana"/>
                        </a:rPr>
                        <a:t>i</a:t>
                      </a:r>
                      <a:endParaRPr lang="en-US" sz="1600" dirty="0">
                        <a:solidFill>
                          <a:srgbClr val="FFC000"/>
                        </a:solidFill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smtClean="0">
                          <a:latin typeface="verdana"/>
                        </a:rPr>
                        <a:t>Lowercase Roman numbers list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827584" y="4437112"/>
            <a:ext cx="2808312" cy="156966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&lt;</a:t>
            </a:r>
            <a:r>
              <a:rPr lang="hy-AM" sz="2400" b="1" dirty="0" smtClean="0">
                <a:solidFill>
                  <a:srgbClr val="FF0000"/>
                </a:solidFill>
              </a:rPr>
              <a:t>o</a:t>
            </a:r>
            <a:r>
              <a:rPr lang="it-IT" sz="2400" b="1" dirty="0" smtClean="0">
                <a:solidFill>
                  <a:srgbClr val="FF0000"/>
                </a:solidFill>
              </a:rPr>
              <a:t>l</a:t>
            </a:r>
            <a:r>
              <a:rPr lang="hy-AM" sz="2400" b="1" dirty="0" smtClean="0">
                <a:solidFill>
                  <a:srgbClr val="FF0000"/>
                </a:solidFill>
              </a:rPr>
              <a:t> </a:t>
            </a:r>
            <a:r>
              <a:rPr lang="hy-AM" sz="2400" b="1" dirty="0" smtClean="0">
                <a:solidFill>
                  <a:srgbClr val="FFC000"/>
                </a:solidFill>
              </a:rPr>
              <a:t>type=</a:t>
            </a:r>
            <a:r>
              <a:rPr lang="en-US" sz="2400" b="1" dirty="0" smtClean="0">
                <a:solidFill>
                  <a:srgbClr val="FFC000"/>
                </a:solidFill>
              </a:rPr>
              <a:t>"</a:t>
            </a:r>
            <a:r>
              <a:rPr lang="hy-AM" sz="2400" b="1" dirty="0" smtClean="0">
                <a:solidFill>
                  <a:srgbClr val="FFC000"/>
                </a:solidFill>
              </a:rPr>
              <a:t>A</a:t>
            </a:r>
            <a:r>
              <a:rPr lang="en-US" sz="2400" b="1" dirty="0" smtClean="0">
                <a:solidFill>
                  <a:srgbClr val="FFC000"/>
                </a:solidFill>
              </a:rPr>
              <a:t>" </a:t>
            </a:r>
            <a:r>
              <a:rPr lang="it-IT" sz="2400" b="1" dirty="0" smtClean="0">
                <a:solidFill>
                  <a:srgbClr val="FF0000"/>
                </a:solidFill>
              </a:rPr>
              <a:t>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FF0000"/>
                </a:solidFill>
              </a:rPr>
              <a:t>&lt;/</a:t>
            </a:r>
            <a:r>
              <a:rPr lang="hy-AM" sz="2400" b="1" dirty="0" smtClean="0">
                <a:solidFill>
                  <a:srgbClr val="FF0000"/>
                </a:solidFill>
              </a:rPr>
              <a:t>o</a:t>
            </a:r>
            <a:r>
              <a:rPr lang="it-IT" sz="2400" b="1" dirty="0" smtClean="0">
                <a:solidFill>
                  <a:srgbClr val="FF0000"/>
                </a:solidFill>
              </a:rPr>
              <a:t>l&gt;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Rectangle 18"/>
          <p:cNvSpPr/>
          <p:nvPr/>
        </p:nvSpPr>
        <p:spPr>
          <a:xfrm>
            <a:off x="4533530" y="4437112"/>
            <a:ext cx="3782886" cy="1569660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&lt;</a:t>
            </a:r>
            <a:r>
              <a:rPr lang="hy-AM" sz="2400" b="1" dirty="0" smtClean="0">
                <a:solidFill>
                  <a:srgbClr val="FF0000"/>
                </a:solidFill>
              </a:rPr>
              <a:t>o</a:t>
            </a:r>
            <a:r>
              <a:rPr lang="it-IT" sz="2400" b="1" dirty="0" smtClean="0">
                <a:solidFill>
                  <a:srgbClr val="FF0000"/>
                </a:solidFill>
              </a:rPr>
              <a:t>l</a:t>
            </a:r>
            <a:r>
              <a:rPr lang="hy-AM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FFC000"/>
                </a:solidFill>
              </a:rPr>
              <a:t>start</a:t>
            </a:r>
            <a:r>
              <a:rPr lang="hy-AM" sz="2400" b="1" dirty="0" smtClean="0">
                <a:solidFill>
                  <a:srgbClr val="FFC000"/>
                </a:solidFill>
              </a:rPr>
              <a:t>=</a:t>
            </a:r>
            <a:r>
              <a:rPr lang="en-US" sz="2400" b="1" dirty="0" smtClean="0">
                <a:solidFill>
                  <a:srgbClr val="FFC000"/>
                </a:solidFill>
              </a:rPr>
              <a:t>"0" type=</a:t>
            </a:r>
            <a:r>
              <a:rPr lang="en-US" sz="2400" b="1" dirty="0">
                <a:solidFill>
                  <a:srgbClr val="FFC000"/>
                </a:solidFill>
              </a:rPr>
              <a:t> </a:t>
            </a:r>
            <a:r>
              <a:rPr lang="en-US" sz="2400" b="1" dirty="0" smtClean="0">
                <a:solidFill>
                  <a:srgbClr val="FFC000"/>
                </a:solidFill>
              </a:rPr>
              <a:t>"1"</a:t>
            </a:r>
            <a:r>
              <a:rPr lang="it-IT" sz="2400" b="1" dirty="0" smtClean="0">
                <a:solidFill>
                  <a:srgbClr val="FF0000"/>
                </a:solidFill>
              </a:rPr>
              <a:t>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FF0000"/>
                </a:solidFill>
              </a:rPr>
              <a:t>&lt;/</a:t>
            </a:r>
            <a:r>
              <a:rPr lang="hy-AM" sz="2400" b="1" dirty="0" smtClean="0">
                <a:solidFill>
                  <a:srgbClr val="FF0000"/>
                </a:solidFill>
              </a:rPr>
              <a:t>o</a:t>
            </a:r>
            <a:r>
              <a:rPr lang="it-IT" sz="2400" b="1" dirty="0" smtClean="0">
                <a:solidFill>
                  <a:srgbClr val="FF0000"/>
                </a:solidFill>
              </a:rPr>
              <a:t>l&gt;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Lists</a:t>
            </a:r>
            <a:endParaRPr lang="en-US" sz="4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467544" y="1268760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Nested lists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11760" y="2060848"/>
            <a:ext cx="4752528" cy="4154984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&lt;ul&gt;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endParaRPr lang="hy-AM" sz="2400" b="1" dirty="0" smtClean="0">
              <a:solidFill>
                <a:srgbClr val="00B050"/>
              </a:solidFill>
            </a:endParaRPr>
          </a:p>
          <a:p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hy-AM" sz="2400" b="1" dirty="0" smtClean="0">
                <a:solidFill>
                  <a:schemeClr val="tx1"/>
                </a:solidFill>
              </a:rPr>
              <a:t>Tea</a:t>
            </a:r>
          </a:p>
          <a:p>
            <a:r>
              <a:rPr lang="hy-AM" sz="2400" b="1" dirty="0" smtClean="0">
                <a:solidFill>
                  <a:srgbClr val="FF0000"/>
                </a:solidFill>
              </a:rPr>
              <a:t>	</a:t>
            </a:r>
            <a:r>
              <a:rPr lang="it-IT" sz="2400" b="1" dirty="0" smtClean="0">
                <a:solidFill>
                  <a:srgbClr val="FF0000"/>
                </a:solidFill>
              </a:rPr>
              <a:t>&lt;ul&gt;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hy-AM" sz="2400" b="1" dirty="0" smtClean="0"/>
              <a:t>	</a:t>
            </a: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Coffee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endParaRPr lang="hy-AM" sz="2400" b="1" dirty="0" smtClean="0">
              <a:solidFill>
                <a:srgbClr val="00B050"/>
              </a:solidFill>
            </a:endParaRPr>
          </a:p>
          <a:p>
            <a:r>
              <a:rPr lang="hy-AM" sz="2400" b="1" dirty="0" smtClean="0">
                <a:solidFill>
                  <a:srgbClr val="00B050"/>
                </a:solidFill>
              </a:rPr>
              <a:t>	</a:t>
            </a: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hy-AM" sz="2400" b="1" dirty="0" smtClean="0">
                <a:solidFill>
                  <a:schemeClr val="tx1"/>
                </a:solidFill>
              </a:rPr>
              <a:t>Tea</a:t>
            </a:r>
            <a:r>
              <a:rPr lang="it-IT" sz="2400" b="1" dirty="0" smtClean="0">
                <a:solidFill>
                  <a:srgbClr val="00B050"/>
                </a:solidFill>
              </a:rPr>
              <a:t>&lt;/li&gt; </a:t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hy-AM" sz="2400" b="1" dirty="0" smtClean="0">
                <a:solidFill>
                  <a:srgbClr val="00B050"/>
                </a:solidFill>
              </a:rPr>
              <a:t>	</a:t>
            </a: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hy-AM" sz="2400" b="1" dirty="0" smtClean="0"/>
              <a:t>	</a:t>
            </a:r>
            <a:r>
              <a:rPr lang="it-IT" sz="2400" b="1" dirty="0" smtClean="0">
                <a:solidFill>
                  <a:srgbClr val="FF0000"/>
                </a:solidFill>
              </a:rPr>
              <a:t>&lt;/ul&gt;</a:t>
            </a:r>
            <a:endParaRPr lang="hy-AM" sz="2400" b="1" dirty="0" smtClean="0">
              <a:solidFill>
                <a:schemeClr val="tx1"/>
              </a:solidFill>
            </a:endParaRPr>
          </a:p>
          <a:p>
            <a:r>
              <a:rPr lang="it-IT" sz="2400" b="1" dirty="0" smtClean="0">
                <a:solidFill>
                  <a:srgbClr val="00B050"/>
                </a:solidFill>
              </a:rPr>
              <a:t>&lt;/li&gt; </a:t>
            </a:r>
            <a:br>
              <a:rPr lang="it-IT" sz="2400" b="1" dirty="0" smtClean="0">
                <a:solidFill>
                  <a:srgbClr val="00B050"/>
                </a:solidFill>
              </a:rPr>
            </a:br>
            <a:r>
              <a:rPr lang="it-IT" sz="2400" b="1" dirty="0" smtClean="0">
                <a:solidFill>
                  <a:srgbClr val="00B050"/>
                </a:solidFill>
              </a:rPr>
              <a:t>&lt;li&gt;</a:t>
            </a:r>
            <a:r>
              <a:rPr lang="it-IT" sz="2400" b="1" dirty="0" smtClean="0">
                <a:solidFill>
                  <a:schemeClr val="tx1"/>
                </a:solidFill>
              </a:rPr>
              <a:t>Milk</a:t>
            </a:r>
            <a:r>
              <a:rPr lang="it-IT" sz="2400" b="1" dirty="0" smtClean="0">
                <a:solidFill>
                  <a:srgbClr val="00B050"/>
                </a:solidFill>
              </a:rPr>
              <a:t>&lt;/li&gt;</a:t>
            </a:r>
            <a:r>
              <a:rPr lang="it-IT" sz="2400" b="1" dirty="0" smtClean="0"/>
              <a:t/>
            </a:r>
            <a:br>
              <a:rPr lang="it-IT" sz="2400" b="1" dirty="0" smtClean="0"/>
            </a:br>
            <a:r>
              <a:rPr lang="it-IT" sz="2400" b="1" dirty="0" smtClean="0">
                <a:solidFill>
                  <a:srgbClr val="FF0000"/>
                </a:solidFill>
              </a:rPr>
              <a:t>&lt;/ul&gt;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Task:1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3074" name="Picture 2" descr="C:\Users\Araik\Desktop\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08720"/>
            <a:ext cx="4612257" cy="41336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Task:2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049" name="Picture 1" descr="C:\Users\Araik\Desktop\task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908720"/>
            <a:ext cx="3948033" cy="53020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372671"/>
            <a:ext cx="3552381" cy="6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2001</TotalTime>
  <Words>264</Words>
  <Application>Microsoft Office PowerPoint</Application>
  <PresentationFormat>Экран (4:3)</PresentationFormat>
  <Paragraphs>82</Paragraphs>
  <Slides>14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63</cp:revision>
  <dcterms:created xsi:type="dcterms:W3CDTF">2013-08-16T08:22:25Z</dcterms:created>
  <dcterms:modified xsi:type="dcterms:W3CDTF">2016-11-09T13:06:47Z</dcterms:modified>
</cp:coreProperties>
</file>