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7" r:id="rId2"/>
    <p:sldId id="261" r:id="rId3"/>
    <p:sldId id="262" r:id="rId4"/>
    <p:sldId id="260" r:id="rId5"/>
    <p:sldId id="263" r:id="rId6"/>
    <p:sldId id="259" r:id="rId7"/>
    <p:sldId id="258" r:id="rId8"/>
    <p:sldId id="264" r:id="rId9"/>
    <p:sldId id="266" r:id="rId10"/>
    <p:sldId id="265" r:id="rId11"/>
    <p:sldId id="267" r:id="rId12"/>
    <p:sldId id="268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tags/tag_del.asp" TargetMode="External"/><Relationship Id="rId3" Type="http://schemas.openxmlformats.org/officeDocument/2006/relationships/hyperlink" Target="http://www.w3schools.com/tags/tag_i.asp" TargetMode="External"/><Relationship Id="rId7" Type="http://schemas.openxmlformats.org/officeDocument/2006/relationships/hyperlink" Target="http://www.w3schools.com/tags/tag_ins.asp" TargetMode="External"/><Relationship Id="rId2" Type="http://schemas.openxmlformats.org/officeDocument/2006/relationships/hyperlink" Target="http://www.w3schools.com/tags/tag_b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tags/tag_sup.asp" TargetMode="External"/><Relationship Id="rId5" Type="http://schemas.openxmlformats.org/officeDocument/2006/relationships/hyperlink" Target="http://www.w3schools.com/tags/tag_sub.asp" TargetMode="External"/><Relationship Id="rId4" Type="http://schemas.openxmlformats.org/officeDocument/2006/relationships/hyperlink" Target="http://www.w3schools.com/tags/tag_small.asp" TargetMode="External"/><Relationship Id="rId9" Type="http://schemas.openxmlformats.org/officeDocument/2006/relationships/hyperlink" Target="http://www.w3schools.com/tags/tag_mark.asp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1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What is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 </a:t>
            </a:r>
            <a:endParaRPr lang="en-US" sz="48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683568" y="2708920"/>
            <a:ext cx="72728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HTML is a markup language.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536" y="1772816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en-US" sz="36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HyperText</a:t>
            </a:r>
            <a:r>
              <a:rPr lang="en-US" sz="36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Markup Language </a:t>
            </a:r>
            <a:endParaRPr lang="en-US" sz="36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83568" y="3284984"/>
            <a:ext cx="40014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HTML </a:t>
            </a:r>
            <a:r>
              <a:rPr lang="en-US" sz="2800" b="1" dirty="0"/>
              <a:t>-</a:t>
            </a:r>
            <a:r>
              <a:rPr lang="en-US" sz="2800" b="1" dirty="0" smtClean="0"/>
              <a:t> easiest language.</a:t>
            </a:r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1331640" y="4725144"/>
            <a:ext cx="46085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Tim Berners-Lee</a:t>
            </a:r>
            <a:endParaRPr lang="en-US" sz="4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6" name="Picture 2" descr="C:\Users\Araik\Desktop\Tim_Berners-Lee-Knight-cro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3645024"/>
            <a:ext cx="2383622" cy="28529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Versions </a:t>
            </a:r>
            <a:endParaRPr lang="en-US" sz="4800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46921"/>
              </p:ext>
            </p:extLst>
          </p:nvPr>
        </p:nvGraphicFramePr>
        <p:xfrm>
          <a:off x="683568" y="1628800"/>
          <a:ext cx="6096000" cy="3190852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29382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Version</a:t>
                      </a: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FFFFFF"/>
                          </a:solidFill>
                          <a:latin typeface="verdana"/>
                        </a:rPr>
                        <a:t>Year</a:t>
                      </a: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HTML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1991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HTML+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1993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HTML 2.0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1995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HTML 3.2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1997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HTML 4.01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1999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XHTML 1.0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2000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HTML5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2012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370">
                <a:tc>
                  <a:txBody>
                    <a:bodyPr/>
                    <a:lstStyle/>
                    <a:p>
                      <a:pPr fontAlgn="t"/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Tags</a:t>
            </a:r>
            <a:endParaRPr lang="en-US" sz="4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11560" y="1556792"/>
            <a:ext cx="6192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&lt;</a:t>
            </a:r>
            <a:r>
              <a:rPr lang="en-US" sz="3200" b="1" dirty="0" err="1" smtClean="0">
                <a:solidFill>
                  <a:srgbClr val="00B050"/>
                </a:solidFill>
              </a:rPr>
              <a:t>tagname</a:t>
            </a:r>
            <a:r>
              <a:rPr lang="en-US" sz="3200" b="1" dirty="0" smtClean="0">
                <a:solidFill>
                  <a:srgbClr val="00B050"/>
                </a:solidFill>
              </a:rPr>
              <a:t>&gt;</a:t>
            </a:r>
            <a:r>
              <a:rPr lang="en-US" sz="3200" b="1" dirty="0" smtClean="0"/>
              <a:t>content</a:t>
            </a:r>
            <a:r>
              <a:rPr lang="en-US" sz="3200" b="1" dirty="0" smtClean="0">
                <a:solidFill>
                  <a:srgbClr val="00B050"/>
                </a:solidFill>
              </a:rPr>
              <a:t>&lt;/</a:t>
            </a:r>
            <a:r>
              <a:rPr lang="en-US" sz="3200" b="1" dirty="0" err="1">
                <a:solidFill>
                  <a:srgbClr val="00B050"/>
                </a:solidFill>
              </a:rPr>
              <a:t>tagname</a:t>
            </a:r>
            <a:r>
              <a:rPr lang="en-US" sz="3200" b="1" dirty="0">
                <a:solidFill>
                  <a:srgbClr val="00B050"/>
                </a:solidFill>
              </a:rP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528" y="3356992"/>
            <a:ext cx="4801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&lt;p</a:t>
            </a:r>
            <a:r>
              <a:rPr lang="en-US" sz="2800" b="1" dirty="0" smtClean="0">
                <a:solidFill>
                  <a:srgbClr val="00B050"/>
                </a:solidFill>
              </a:rPr>
              <a:t>&gt; </a:t>
            </a:r>
            <a:r>
              <a:rPr lang="en-US" sz="2800" b="1" dirty="0" smtClean="0"/>
              <a:t>This </a:t>
            </a:r>
            <a:r>
              <a:rPr lang="en-US" sz="2800" b="1" dirty="0"/>
              <a:t>is a paragraph</a:t>
            </a:r>
            <a:r>
              <a:rPr lang="en-US" sz="2800" b="1" dirty="0" smtClean="0"/>
              <a:t>. </a:t>
            </a:r>
            <a:r>
              <a:rPr lang="en-US" sz="2800" b="1" dirty="0" smtClean="0">
                <a:solidFill>
                  <a:srgbClr val="00B050"/>
                </a:solidFill>
              </a:rPr>
              <a:t>&lt;/</a:t>
            </a:r>
            <a:r>
              <a:rPr lang="en-US" sz="2800" b="1" dirty="0">
                <a:solidFill>
                  <a:srgbClr val="00B050"/>
                </a:solidFill>
              </a:rPr>
              <a:t>p&gt;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528" y="1196752"/>
            <a:ext cx="6550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HTML markup tags are usually called HTML tags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520" y="2420888"/>
            <a:ext cx="82089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"HTML tags" and "HTML elements" are often used to describe the same thing.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8460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</a:t>
            </a:r>
            <a:r>
              <a:rPr lang="en-US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&lt;!DOCTYPE&gt;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Declaration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552" y="1556792"/>
            <a:ext cx="73448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HTML5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&lt;!DOCTYPE html</a:t>
            </a:r>
            <a:r>
              <a:rPr lang="en-US" sz="1600" b="1" dirty="0" smtClean="0">
                <a:solidFill>
                  <a:srgbClr val="00B050"/>
                </a:solidFill>
              </a:rPr>
              <a:t>&gt;</a:t>
            </a:r>
          </a:p>
          <a:p>
            <a:endParaRPr lang="en-US" sz="1600" dirty="0"/>
          </a:p>
          <a:p>
            <a:r>
              <a:rPr lang="en-US" sz="2800" b="1" dirty="0"/>
              <a:t>HTML 4.01</a:t>
            </a:r>
          </a:p>
          <a:p>
            <a:r>
              <a:rPr lang="en-US" b="1" dirty="0">
                <a:solidFill>
                  <a:srgbClr val="00B050"/>
                </a:solidFill>
              </a:rPr>
              <a:t>&lt;!DOCTYPE HTML PUBLIC "-//W3C//DTD HTML 4.01 Transitional//EN"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"http://www.w3.org/TR/html4/loose.dtd</a:t>
            </a:r>
            <a:r>
              <a:rPr lang="en-US" b="1" dirty="0" smtClean="0">
                <a:solidFill>
                  <a:srgbClr val="00B050"/>
                </a:solidFill>
              </a:rPr>
              <a:t>"&gt;</a:t>
            </a:r>
            <a:endParaRPr lang="hy-AM" b="1" dirty="0" smtClean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sz="2800" b="1" dirty="0"/>
              <a:t>XHTML 1.0</a:t>
            </a:r>
          </a:p>
          <a:p>
            <a:r>
              <a:rPr lang="en-US" b="1" dirty="0">
                <a:solidFill>
                  <a:srgbClr val="00B050"/>
                </a:solidFill>
              </a:rPr>
              <a:t>&lt;!DOCTYPE html PUBLIC "-//W3C//DTD XHTML 1.0 Transitional//EN"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"http://www.w3.org/TR/xhtml1/DTD/xhtml1-transitional.dtd"&gt;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Document structure</a:t>
            </a:r>
            <a:endParaRPr lang="en-US" sz="4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050" name="Picture 2" descr="C:\Users\Araik\Desktop\HTMLdocum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124" y="1700808"/>
            <a:ext cx="8519348" cy="31683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document structure</a:t>
            </a:r>
            <a:endParaRPr lang="en-US" sz="4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6" name="Picture 2" descr="C:\Users\Araik\Desktop\xhtml-tre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340768"/>
            <a:ext cx="6480720" cy="46689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Web Browsers 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95536" y="1700808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purpose of a web browser </a:t>
            </a:r>
            <a:r>
              <a:rPr lang="en-US" sz="2800" b="1" dirty="0" smtClean="0"/>
              <a:t>is </a:t>
            </a:r>
            <a:r>
              <a:rPr lang="en-US" sz="2800" b="1" dirty="0"/>
              <a:t>to read HTML documents and display them as web pages.</a:t>
            </a:r>
          </a:p>
        </p:txBody>
      </p:sp>
      <p:pic>
        <p:nvPicPr>
          <p:cNvPr id="19458" name="Picture 2" descr="C:\Users\Araik\Desktop\pic_i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140968"/>
            <a:ext cx="5150170" cy="2751584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5796136" y="3140968"/>
            <a:ext cx="3096344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&lt;!DOCTYPE html&gt;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&lt;html&gt;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&lt;body&gt;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&lt;h1&gt;My First Heading&lt;/h1&gt;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&lt;p&gt;My first paragraph.&lt;/p&gt;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&lt;/body&gt;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&lt;/html&gt;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5048" y="116632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Headings and                                     Paragraphs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23528" y="2019612"/>
            <a:ext cx="3384376" cy="40934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/>
              <a:t>&lt;!DOCTYPE html&gt;</a:t>
            </a:r>
          </a:p>
          <a:p>
            <a:r>
              <a:rPr lang="en-US" sz="2000" b="1" dirty="0" smtClean="0"/>
              <a:t>&lt;html&gt;</a:t>
            </a:r>
          </a:p>
          <a:p>
            <a:r>
              <a:rPr lang="en-US" sz="2000" b="1" dirty="0" smtClean="0"/>
              <a:t>&lt;body&gt;</a:t>
            </a:r>
            <a:endParaRPr lang="hy-AM" sz="2000" b="1" dirty="0" smtClean="0"/>
          </a:p>
          <a:p>
            <a:endParaRPr lang="hy-AM" sz="2000" b="1" dirty="0" smtClean="0"/>
          </a:p>
          <a:p>
            <a:r>
              <a:rPr lang="hy-AM" sz="2000" b="1" dirty="0" smtClean="0"/>
              <a:t>&lt;h</a:t>
            </a:r>
            <a:r>
              <a:rPr lang="en-US" sz="2000" b="1" dirty="0" smtClean="0"/>
              <a:t>1&gt;This is </a:t>
            </a:r>
            <a:r>
              <a:rPr lang="en-US" sz="2000" b="1" dirty="0" err="1" smtClean="0"/>
              <a:t>headin</a:t>
            </a:r>
            <a:r>
              <a:rPr lang="hy-AM" sz="2000" b="1" dirty="0" smtClean="0"/>
              <a:t>g</a:t>
            </a:r>
            <a:r>
              <a:rPr lang="en-US" sz="2000" b="1" dirty="0" smtClean="0"/>
              <a:t>1&lt;/h1&gt;</a:t>
            </a:r>
          </a:p>
          <a:p>
            <a:r>
              <a:rPr lang="en-US" sz="2000" b="1" dirty="0" smtClean="0"/>
              <a:t>&lt;h2&gt;This is heading 2&lt;/h2&gt;</a:t>
            </a:r>
          </a:p>
          <a:p>
            <a:r>
              <a:rPr lang="en-US" sz="2000" b="1" dirty="0" smtClean="0"/>
              <a:t>&lt;h3&gt;This is heading 3&lt;/h3&gt;</a:t>
            </a:r>
          </a:p>
          <a:p>
            <a:r>
              <a:rPr lang="en-US" sz="2000" b="1" dirty="0" smtClean="0"/>
              <a:t>&lt;h4&gt;This is heading 4&lt;/h4&gt;</a:t>
            </a:r>
          </a:p>
          <a:p>
            <a:r>
              <a:rPr lang="en-US" sz="2000" b="1" dirty="0" smtClean="0"/>
              <a:t>&lt;h5&gt;This is heading 5&lt;/h5&gt;</a:t>
            </a:r>
          </a:p>
          <a:p>
            <a:r>
              <a:rPr lang="en-US" sz="2000" b="1" dirty="0" smtClean="0"/>
              <a:t>&lt;h6&gt;This is heading 6&lt;/h6&gt;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&lt;/body&gt;</a:t>
            </a:r>
          </a:p>
          <a:p>
            <a:r>
              <a:rPr lang="en-US" sz="2000" b="1" dirty="0" smtClean="0"/>
              <a:t>&lt;/html&gt;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4032448" y="2204864"/>
            <a:ext cx="4572000" cy="31700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000" b="1" dirty="0" smtClean="0"/>
              <a:t>&lt;!DOCTYPE html&gt;</a:t>
            </a:r>
          </a:p>
          <a:p>
            <a:r>
              <a:rPr lang="en-US" sz="2000" b="1" dirty="0" smtClean="0"/>
              <a:t>&lt;html&gt;</a:t>
            </a:r>
          </a:p>
          <a:p>
            <a:r>
              <a:rPr lang="en-US" sz="2000" b="1" dirty="0" smtClean="0"/>
              <a:t>&lt;body&gt;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&lt;p&gt;This is a paragraph.&lt;/p&gt;</a:t>
            </a:r>
          </a:p>
          <a:p>
            <a:r>
              <a:rPr lang="en-US" sz="2000" b="1" dirty="0" smtClean="0"/>
              <a:t>&lt;p&gt;This is a paragraph.&lt;/p&gt;</a:t>
            </a:r>
          </a:p>
          <a:p>
            <a:r>
              <a:rPr lang="en-US" sz="2000" b="1" dirty="0" smtClean="0"/>
              <a:t>&lt;p&gt;This is a paragraph.&lt;/p&gt;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&lt;/body&gt;</a:t>
            </a:r>
          </a:p>
          <a:p>
            <a:r>
              <a:rPr lang="en-US" sz="2000" b="1" dirty="0" smtClean="0"/>
              <a:t>&lt;/html&gt;</a:t>
            </a:r>
            <a:endParaRPr lang="en-US" sz="2000" b="1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092280" y="5733256"/>
            <a:ext cx="1763303" cy="769441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h1 { font-size: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itchFamily="49" charset="0"/>
                <a:cs typeface="Consolas" pitchFamily="49" charset="0"/>
              </a:rPr>
              <a:t>2em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; } </a:t>
            </a:r>
            <a:endParaRPr kumimoji="0" lang="hy-AM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h2 { font-size: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itchFamily="49" charset="0"/>
                <a:cs typeface="Consolas" pitchFamily="49" charset="0"/>
              </a:rPr>
              <a:t>1.5em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; }</a:t>
            </a:r>
            <a:endParaRPr kumimoji="0" lang="hy-AM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h3 { font-size: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itchFamily="49" charset="0"/>
                <a:cs typeface="Consolas" pitchFamily="49" charset="0"/>
              </a:rPr>
              <a:t>1.17em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; }</a:t>
            </a:r>
            <a:endParaRPr kumimoji="0" lang="hy-AM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h5 { font-size: .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itchFamily="49" charset="0"/>
                <a:cs typeface="Consolas" pitchFamily="49" charset="0"/>
              </a:rPr>
              <a:t>83em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; }</a:t>
            </a:r>
            <a:endParaRPr kumimoji="0" lang="hy-AM" sz="1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h6 { font-size: .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itchFamily="49" charset="0"/>
                <a:cs typeface="Consolas" pitchFamily="49" charset="0"/>
              </a:rPr>
              <a:t>75em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; }</a:t>
            </a: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Attributes</a:t>
            </a:r>
            <a:endParaRPr lang="en-US" sz="4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395536" y="1556792"/>
            <a:ext cx="85689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&lt;</a:t>
            </a:r>
            <a:r>
              <a:rPr lang="en-US" sz="3200" b="1" dirty="0" err="1" smtClean="0">
                <a:solidFill>
                  <a:srgbClr val="00B050"/>
                </a:solidFill>
              </a:rPr>
              <a:t>tagname</a:t>
            </a:r>
            <a:r>
              <a:rPr lang="hy-AM" sz="3200" b="1" dirty="0" smtClean="0">
                <a:solidFill>
                  <a:srgbClr val="00B050"/>
                </a:solidFill>
              </a:rPr>
              <a:t> attributename=“attributevalue”</a:t>
            </a:r>
            <a:r>
              <a:rPr lang="en-US" sz="3200" b="1" dirty="0" smtClean="0">
                <a:solidFill>
                  <a:srgbClr val="00B050"/>
                </a:solidFill>
              </a:rPr>
              <a:t>&gt;</a:t>
            </a:r>
            <a:endParaRPr lang="hy-AM" sz="3200" b="1" dirty="0" smtClean="0">
              <a:solidFill>
                <a:srgbClr val="00B050"/>
              </a:solidFill>
            </a:endParaRPr>
          </a:p>
          <a:p>
            <a:r>
              <a:rPr lang="hy-AM" sz="3200" b="1" dirty="0" smtClean="0"/>
              <a:t>	</a:t>
            </a:r>
            <a:r>
              <a:rPr lang="en-US" sz="3200" b="1" dirty="0" smtClean="0"/>
              <a:t>Content</a:t>
            </a:r>
            <a:endParaRPr lang="hy-AM" sz="3200" b="1" dirty="0" smtClean="0"/>
          </a:p>
          <a:p>
            <a:r>
              <a:rPr lang="en-US" sz="3200" b="1" dirty="0" smtClean="0">
                <a:solidFill>
                  <a:srgbClr val="00B050"/>
                </a:solidFill>
              </a:rPr>
              <a:t>&lt;/</a:t>
            </a:r>
            <a:r>
              <a:rPr lang="en-US" sz="3200" b="1" dirty="0" err="1">
                <a:solidFill>
                  <a:srgbClr val="00B050"/>
                </a:solidFill>
              </a:rPr>
              <a:t>tagname</a:t>
            </a:r>
            <a:r>
              <a:rPr lang="en-US" sz="3200" b="1" dirty="0">
                <a:solidFill>
                  <a:srgbClr val="00B050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576" y="3717032"/>
            <a:ext cx="69847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&lt;a </a:t>
            </a:r>
            <a:r>
              <a:rPr lang="en-US" sz="2400" b="1" dirty="0" err="1" smtClean="0">
                <a:solidFill>
                  <a:srgbClr val="FF0000"/>
                </a:solidFill>
              </a:rPr>
              <a:t>href</a:t>
            </a:r>
            <a:r>
              <a:rPr lang="en-US" sz="2400" b="1" dirty="0" smtClean="0">
                <a:solidFill>
                  <a:srgbClr val="FF0000"/>
                </a:solidFill>
              </a:rPr>
              <a:t>=</a:t>
            </a:r>
            <a:r>
              <a:rPr lang="hy-AM" sz="2400" b="1" dirty="0" smtClean="0">
                <a:solidFill>
                  <a:srgbClr val="BC8F00"/>
                </a:solidFill>
              </a:rPr>
              <a:t>“</a:t>
            </a:r>
            <a:r>
              <a:rPr lang="en-US" sz="2400" b="1" dirty="0" smtClean="0">
                <a:solidFill>
                  <a:srgbClr val="BC8F00"/>
                </a:solidFill>
              </a:rPr>
              <a:t>http://www.nverner.</a:t>
            </a:r>
            <a:r>
              <a:rPr lang="hy-AM" sz="2400" b="1" dirty="0" smtClean="0">
                <a:solidFill>
                  <a:srgbClr val="BC8F00"/>
                </a:solidFill>
              </a:rPr>
              <a:t>am” </a:t>
            </a:r>
            <a:r>
              <a:rPr lang="en-US" sz="2400" b="1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hy-AM" sz="2400" b="1" dirty="0" smtClean="0"/>
              <a:t>	</a:t>
            </a:r>
            <a:r>
              <a:rPr lang="en-US" sz="2400" b="1" dirty="0" smtClean="0"/>
              <a:t>This is a link</a:t>
            </a:r>
            <a:endParaRPr lang="hy-AM" sz="2400" b="1" dirty="0" smtClean="0"/>
          </a:p>
          <a:p>
            <a:r>
              <a:rPr lang="en-US" sz="2400" b="1" dirty="0" smtClean="0">
                <a:solidFill>
                  <a:srgbClr val="00B050"/>
                </a:solidFill>
              </a:rPr>
              <a:t>&lt;/a&gt;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-</a:t>
            </a:r>
            <a:r>
              <a:rPr lang="en-US" sz="4800" dirty="0" smtClean="0"/>
              <a:t> 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Text Formatting</a:t>
            </a:r>
            <a:endParaRPr lang="en-US" sz="4800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344867"/>
              </p:ext>
            </p:extLst>
          </p:nvPr>
        </p:nvGraphicFramePr>
        <p:xfrm>
          <a:off x="611560" y="1268760"/>
          <a:ext cx="5968689" cy="4200104"/>
        </p:xfrm>
        <a:graphic>
          <a:graphicData uri="http://schemas.openxmlformats.org/drawingml/2006/table">
            <a:tbl>
              <a:tblPr/>
              <a:tblGrid>
                <a:gridCol w="1193738"/>
                <a:gridCol w="4774951"/>
              </a:tblGrid>
              <a:tr h="2876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Tag</a:t>
                      </a:r>
                    </a:p>
                  </a:txBody>
                  <a:tcPr marL="24801" marR="24801" marT="24801" marB="24801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24801" marR="24801" marT="24801" marB="24801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42663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2"/>
                        </a:rPr>
                        <a:t>&lt;b&gt;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Defines bold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fontAlgn="t"/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91909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3"/>
                        </a:rPr>
                        <a:t>&lt;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verdana"/>
                          <a:hlinkClick r:id="rId3"/>
                        </a:rPr>
                        <a:t>i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3"/>
                        </a:rPr>
                        <a:t>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a part of text in an alternate voice or mood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4"/>
                        </a:rPr>
                        <a:t>&lt;small&gt;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smaller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5"/>
                        </a:rPr>
                        <a:t>&lt;sub&gt;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subscripted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6"/>
                        </a:rPr>
                        <a:t>&lt;sup&gt;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superscripted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7"/>
                        </a:rPr>
                        <a:t>&lt;ins&gt;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inserted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/>
                          <a:hlinkClick r:id="rId8"/>
                        </a:rPr>
                        <a:t>&lt;del&gt;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deleted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823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9"/>
                        </a:rPr>
                        <a:t>&lt;mark&gt;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Defines marked/highlighted text</a:t>
                      </a:r>
                    </a:p>
                  </a:txBody>
                  <a:tcPr marL="41334" marR="41334" marT="57868" marB="57868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Task:1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4579" name="Picture 3" descr="C:\Users\Araik\Desktop\j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8029599" cy="31683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Task:2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6626" name="Picture 2" descr="C:\Users\Araik\Desktop\fj.png"/>
          <p:cNvPicPr>
            <a:picLocks noChangeAspect="1" noChangeArrowheads="1"/>
          </p:cNvPicPr>
          <p:nvPr/>
        </p:nvPicPr>
        <p:blipFill>
          <a:blip r:embed="rId2" cstate="print"/>
          <a:srcRect t="2564" r="6518"/>
          <a:stretch>
            <a:fillRect/>
          </a:stretch>
        </p:blipFill>
        <p:spPr bwMode="auto">
          <a:xfrm>
            <a:off x="395536" y="1484784"/>
            <a:ext cx="8352928" cy="2736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67766"/>
            <a:ext cx="8352928" cy="35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0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1568</TotalTime>
  <Words>381</Words>
  <Application>Microsoft Office PowerPoint</Application>
  <PresentationFormat>Экран (4:3)</PresentationFormat>
  <Paragraphs>101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25</cp:revision>
  <dcterms:created xsi:type="dcterms:W3CDTF">2013-08-16T08:22:25Z</dcterms:created>
  <dcterms:modified xsi:type="dcterms:W3CDTF">2016-11-09T12:22:41Z</dcterms:modified>
</cp:coreProperties>
</file>