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4" r:id="rId1"/>
  </p:sldMasterIdLst>
  <p:notesMasterIdLst>
    <p:notesMasterId r:id="rId12"/>
  </p:notesMasterIdLst>
  <p:sldIdLst>
    <p:sldId id="257" r:id="rId2"/>
    <p:sldId id="279" r:id="rId3"/>
    <p:sldId id="261" r:id="rId4"/>
    <p:sldId id="272" r:id="rId5"/>
    <p:sldId id="274" r:id="rId6"/>
    <p:sldId id="273" r:id="rId7"/>
    <p:sldId id="276" r:id="rId8"/>
    <p:sldId id="268" r:id="rId9"/>
    <p:sldId id="270" r:id="rId10"/>
    <p:sldId id="280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C8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717" autoAdjust="0"/>
  </p:normalViewPr>
  <p:slideViewPr>
    <p:cSldViewPr>
      <p:cViewPr>
        <p:scale>
          <a:sx n="70" d="100"/>
          <a:sy n="70" d="100"/>
        </p:scale>
        <p:origin x="-1386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9A533B-BB62-4DA6-BFAC-31FCF3044E77}" type="datetimeFigureOut">
              <a:rPr lang="en-US" smtClean="0"/>
              <a:pPr/>
              <a:t>7/19/2016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4AA493-8083-4A0A-9DB8-8876B538388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19703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3" name="Rounded Rectangle 12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B6477-8826-47CB-B9F3-3F88F5668FA1}" type="datetimeFigureOut">
              <a:rPr lang="en-US" smtClean="0"/>
              <a:pPr/>
              <a:t>7/19/2016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>
            <a:no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fld id="{F859E707-2A3A-45FE-B56F-C51718F36AA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62931" y="1449303"/>
            <a:ext cx="9021537" cy="1527349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62931" y="1396720"/>
            <a:ext cx="9021537" cy="12058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62931" y="2976649"/>
            <a:ext cx="9021537" cy="110532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B6477-8826-47CB-B9F3-3F88F5668FA1}" type="datetimeFigureOut">
              <a:rPr lang="en-US" smtClean="0"/>
              <a:pPr/>
              <a:t>7/19/2016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59E707-2A3A-45FE-B56F-C51718F36AA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0" name="Rounded Rectangle 9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952500"/>
            <a:ext cx="7772400" cy="1362075"/>
          </a:xfrm>
        </p:spPr>
        <p:txBody>
          <a:bodyPr anchor="b" anchorCtr="0"/>
          <a:lstStyle>
            <a:lvl1pPr algn="l">
              <a:buNone/>
              <a:defRPr sz="4000" b="0" cap="none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338262"/>
          </a:xfrm>
        </p:spPr>
        <p:txBody>
          <a:bodyPr anchor="t" anchorCtr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B6477-8826-47CB-B9F3-3F88F5668FA1}" type="datetimeFigureOut">
              <a:rPr lang="en-US" smtClean="0"/>
              <a:pPr/>
              <a:t>7/19/2016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0100" y="6172200"/>
            <a:ext cx="4000500" cy="45720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 flipV="1">
            <a:off x="69412" y="2376830"/>
            <a:ext cx="9013515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9146" y="2341475"/>
            <a:ext cx="9013781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8306" y="2468880"/>
            <a:ext cx="9014621" cy="45720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F859E707-2A3A-45FE-B56F-C51718F36AA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B6477-8826-47CB-B9F3-3F88F5668FA1}" type="datetimeFigureOut">
              <a:rPr lang="en-US" smtClean="0"/>
              <a:pPr/>
              <a:t>7/19/2016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59E707-2A3A-45FE-B56F-C51718F36AA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9530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B6477-8826-47CB-B9F3-3F88F5668FA1}" type="datetimeFigureOut">
              <a:rPr lang="en-US" smtClean="0"/>
              <a:pPr/>
              <a:t>7/19/2016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59E707-2A3A-45FE-B56F-C51718F36AA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>
          <a:xfrm>
            <a:off x="9144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4"/>
          </p:nvPr>
        </p:nvSpPr>
        <p:spPr>
          <a:xfrm>
            <a:off x="49530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B6477-8826-47CB-B9F3-3F88F5668FA1}" type="datetimeFigureOut">
              <a:rPr lang="en-US" smtClean="0"/>
              <a:pPr/>
              <a:t>7/19/2016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59E707-2A3A-45FE-B56F-C51718F36AA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B6477-8826-47CB-B9F3-3F88F5668FA1}" type="datetimeFigureOut">
              <a:rPr lang="en-US" smtClean="0"/>
              <a:pPr/>
              <a:t>7/19/2016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59E707-2A3A-45FE-B56F-C51718F36AA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9" name="Rounded Rectangle 8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 algn="l">
              <a:buNone/>
              <a:defRPr sz="40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B6477-8826-47CB-B9F3-3F88F5668FA1}" type="datetimeFigureOut">
              <a:rPr lang="en-US" smtClean="0"/>
              <a:pPr/>
              <a:t>7/19/2016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59E707-2A3A-45FE-B56F-C51718F36AA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 vert="horz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B6477-8826-47CB-B9F3-3F88F5668FA1}" type="datetimeFigureOut">
              <a:rPr lang="en-US" smtClean="0"/>
              <a:pPr/>
              <a:t>7/19/2016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3886200" cy="45720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F859E707-2A3A-45FE-B56F-C51718F36AA8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Rectangle 10"/>
          <p:cNvSpPr/>
          <p:nvPr/>
        </p:nvSpPr>
        <p:spPr>
          <a:xfrm flipV="1">
            <a:off x="68307" y="4683555"/>
            <a:ext cx="900684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68508" y="4650474"/>
            <a:ext cx="9006639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ctangle 12"/>
          <p:cNvSpPr/>
          <p:nvPr/>
        </p:nvSpPr>
        <p:spPr>
          <a:xfrm>
            <a:off x="68510" y="4773224"/>
            <a:ext cx="9006637" cy="4880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B6477-8826-47CB-B9F3-3F88F5668FA1}" type="datetimeFigureOut">
              <a:rPr lang="en-US" smtClean="0"/>
              <a:pPr/>
              <a:t>7/19/2016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59E707-2A3A-45FE-B56F-C51718F36AA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1168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2B6477-8826-47CB-B9F3-3F88F5668FA1}" type="datetimeFigureOut">
              <a:rPr lang="en-US" smtClean="0"/>
              <a:pPr/>
              <a:t>7/19/2016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59E707-2A3A-45FE-B56F-C51718F36AA8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8" name="Rounded Rectangle 7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</p:spPr>
        <p:txBody>
          <a:bodyPr bIns="91440" anchor="b" anchorCtr="0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132B6477-8826-47CB-B9F3-3F88F5668FA1}" type="datetimeFigureOut">
              <a:rPr lang="en-US" smtClean="0"/>
              <a:pPr/>
              <a:t>7/19/2016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fld id="{F859E707-2A3A-45FE-B56F-C51718F36AA8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580"/>
        </a:spcBef>
        <a:buClr>
          <a:schemeClr val="accent1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rtl="0" eaLnBrk="1" latinLnBrk="0" hangingPunct="1">
        <a:spcBef>
          <a:spcPts val="370"/>
        </a:spcBef>
        <a:buClr>
          <a:schemeClr val="accent2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SzPct val="8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370"/>
        </a:spcBef>
        <a:buClr>
          <a:schemeClr val="accent3"/>
        </a:buClr>
        <a:buSzPct val="8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70"/>
        </a:spcBef>
        <a:buClr>
          <a:schemeClr val="accent3"/>
        </a:buClr>
        <a:buFontTx/>
        <a:buChar char="o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395536" y="1484784"/>
            <a:ext cx="4608512" cy="2369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sz="120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chemeClr val="accent2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HTML</a:t>
            </a:r>
          </a:p>
          <a:p>
            <a:r>
              <a:rPr lang="hy-AM" sz="2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chemeClr val="accent2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Lesson 2</a:t>
            </a:r>
            <a:endParaRPr lang="en-US" sz="2800" b="1" dirty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solidFill>
                <a:schemeClr val="accent2"/>
              </a:solidFill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</a:endParaRPr>
          </a:p>
        </p:txBody>
      </p:sp>
      <p:pic>
        <p:nvPicPr>
          <p:cNvPr id="6148" name="Picture 4" descr="C:\Users\Araik\Desktop\images (1)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148064" y="476672"/>
            <a:ext cx="3631034" cy="3631034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683568" y="260648"/>
            <a:ext cx="79208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HTML</a:t>
            </a:r>
            <a:r>
              <a:rPr lang="en-US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 – Font Tag</a:t>
            </a:r>
            <a:endParaRPr lang="en-US" sz="4800" dirty="0" smtClean="0"/>
          </a:p>
        </p:txBody>
      </p:sp>
      <p:sp>
        <p:nvSpPr>
          <p:cNvPr id="8" name="Rectangle 7"/>
          <p:cNvSpPr/>
          <p:nvPr/>
        </p:nvSpPr>
        <p:spPr>
          <a:xfrm>
            <a:off x="642910" y="1571612"/>
            <a:ext cx="8072494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 smtClean="0"/>
              <a:t>The </a:t>
            </a:r>
            <a:r>
              <a:rPr lang="en-US" sz="2800" b="1" dirty="0" smtClean="0">
                <a:solidFill>
                  <a:srgbClr val="FF0000"/>
                </a:solidFill>
              </a:rPr>
              <a:t>&lt;font&gt;</a:t>
            </a:r>
            <a:r>
              <a:rPr lang="en-US" sz="2800" b="1" dirty="0" smtClean="0"/>
              <a:t> tag specifies the font face, </a:t>
            </a:r>
          </a:p>
          <a:p>
            <a:r>
              <a:rPr lang="en-US" sz="2800" b="1" dirty="0" smtClean="0"/>
              <a:t>font size, and font color of text.</a:t>
            </a:r>
            <a:endParaRPr lang="ru-RU" sz="2800" b="1" dirty="0"/>
          </a:p>
        </p:txBody>
      </p:sp>
      <p:sp>
        <p:nvSpPr>
          <p:cNvPr id="9" name="Rectangle 8"/>
          <p:cNvSpPr/>
          <p:nvPr/>
        </p:nvSpPr>
        <p:spPr>
          <a:xfrm>
            <a:off x="285720" y="2857496"/>
            <a:ext cx="6399572" cy="138499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 smtClean="0">
                <a:solidFill>
                  <a:srgbClr val="FF0000"/>
                </a:solidFill>
              </a:rPr>
              <a:t>&lt;font </a:t>
            </a:r>
            <a:r>
              <a:rPr lang="en-US" sz="2800" dirty="0" smtClean="0">
                <a:solidFill>
                  <a:srgbClr val="00B050"/>
                </a:solidFill>
              </a:rPr>
              <a:t>color="</a:t>
            </a:r>
            <a:r>
              <a:rPr lang="en-US" sz="2800" dirty="0">
                <a:solidFill>
                  <a:srgbClr val="00B050"/>
                </a:solidFill>
              </a:rPr>
              <a:t>blue" </a:t>
            </a:r>
            <a:r>
              <a:rPr lang="en-US" sz="2800" dirty="0" smtClean="0">
                <a:solidFill>
                  <a:srgbClr val="00B0F0"/>
                </a:solidFill>
              </a:rPr>
              <a:t>size="4" </a:t>
            </a:r>
            <a:r>
              <a:rPr lang="en-US" sz="2800" dirty="0" smtClean="0">
                <a:solidFill>
                  <a:srgbClr val="7030A0"/>
                </a:solidFill>
              </a:rPr>
              <a:t>face="</a:t>
            </a:r>
            <a:r>
              <a:rPr lang="en-US" sz="2800" dirty="0" err="1" smtClean="0">
                <a:solidFill>
                  <a:srgbClr val="7030A0"/>
                </a:solidFill>
              </a:rPr>
              <a:t>verdana</a:t>
            </a:r>
            <a:r>
              <a:rPr lang="en-US" sz="2800" dirty="0" smtClean="0">
                <a:solidFill>
                  <a:srgbClr val="7030A0"/>
                </a:solidFill>
              </a:rPr>
              <a:t>"</a:t>
            </a:r>
            <a:r>
              <a:rPr lang="en-US" sz="2800" dirty="0" smtClean="0">
                <a:solidFill>
                  <a:srgbClr val="FF0000"/>
                </a:solidFill>
              </a:rPr>
              <a:t>&gt;</a:t>
            </a:r>
          </a:p>
          <a:p>
            <a:r>
              <a:rPr lang="en-US" sz="2800" dirty="0" smtClean="0"/>
              <a:t>Some text</a:t>
            </a:r>
          </a:p>
          <a:p>
            <a:r>
              <a:rPr lang="en-US" sz="2800" dirty="0" smtClean="0">
                <a:solidFill>
                  <a:srgbClr val="FF0000"/>
                </a:solidFill>
              </a:rPr>
              <a:t>&lt;/font&gt;</a:t>
            </a:r>
            <a:endParaRPr lang="ru-RU" sz="28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/>
        </p:nvSpPr>
        <p:spPr>
          <a:xfrm>
            <a:off x="683568" y="260648"/>
            <a:ext cx="79208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HTML</a:t>
            </a:r>
            <a:r>
              <a:rPr lang="en-US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 – </a:t>
            </a:r>
            <a:r>
              <a:rPr lang="hy-AM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Hyperlinks (links)</a:t>
            </a:r>
            <a:endParaRPr lang="en-US" sz="4800" dirty="0" smtClean="0"/>
          </a:p>
        </p:txBody>
      </p:sp>
      <p:sp>
        <p:nvSpPr>
          <p:cNvPr id="14" name="Rectangle 13"/>
          <p:cNvSpPr/>
          <p:nvPr/>
        </p:nvSpPr>
        <p:spPr>
          <a:xfrm>
            <a:off x="467544" y="1628800"/>
            <a:ext cx="590430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b="1" dirty="0" smtClean="0">
                <a:solidFill>
                  <a:srgbClr val="92D050"/>
                </a:solidFill>
              </a:rPr>
              <a:t>&lt;a </a:t>
            </a:r>
            <a:r>
              <a:rPr lang="en-US" sz="3600" b="1" dirty="0" err="1" smtClean="0">
                <a:solidFill>
                  <a:srgbClr val="FF0000"/>
                </a:solidFill>
              </a:rPr>
              <a:t>href</a:t>
            </a:r>
            <a:r>
              <a:rPr lang="en-US" sz="3600" b="1" dirty="0" smtClean="0">
                <a:solidFill>
                  <a:srgbClr val="FF0000"/>
                </a:solidFill>
              </a:rPr>
              <a:t>="</a:t>
            </a:r>
            <a:r>
              <a:rPr lang="en-US" sz="3600" b="1" i="1" dirty="0" err="1" smtClean="0">
                <a:solidFill>
                  <a:srgbClr val="FF0000"/>
                </a:solidFill>
              </a:rPr>
              <a:t>url</a:t>
            </a:r>
            <a:r>
              <a:rPr lang="en-US" sz="3600" b="1" dirty="0" smtClean="0">
                <a:solidFill>
                  <a:srgbClr val="FF0000"/>
                </a:solidFill>
              </a:rPr>
              <a:t>"</a:t>
            </a:r>
            <a:r>
              <a:rPr lang="en-US" sz="3600" b="1" dirty="0" smtClean="0">
                <a:solidFill>
                  <a:srgbClr val="92D050"/>
                </a:solidFill>
              </a:rPr>
              <a:t>&gt;</a:t>
            </a:r>
            <a:r>
              <a:rPr lang="en-US" sz="3600" b="1" i="1" dirty="0" smtClean="0"/>
              <a:t>Link text</a:t>
            </a:r>
            <a:r>
              <a:rPr lang="en-US" sz="3600" b="1" dirty="0" smtClean="0">
                <a:solidFill>
                  <a:srgbClr val="92D050"/>
                </a:solidFill>
              </a:rPr>
              <a:t>&lt;/a&gt;</a:t>
            </a:r>
            <a:endParaRPr lang="en-US" sz="3600" b="1" dirty="0">
              <a:solidFill>
                <a:srgbClr val="92D050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323528" y="2780928"/>
            <a:ext cx="864096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smtClean="0">
                <a:solidFill>
                  <a:srgbClr val="92D050"/>
                </a:solidFill>
              </a:rPr>
              <a:t>&lt;a </a:t>
            </a:r>
            <a:r>
              <a:rPr lang="en-US" sz="2400" b="1" dirty="0" err="1" smtClean="0">
                <a:solidFill>
                  <a:srgbClr val="FF0000"/>
                </a:solidFill>
              </a:rPr>
              <a:t>href</a:t>
            </a:r>
            <a:r>
              <a:rPr lang="en-US" sz="2400" b="1" dirty="0" smtClean="0">
                <a:solidFill>
                  <a:srgbClr val="FF0000"/>
                </a:solidFill>
              </a:rPr>
              <a:t>="http://www.nverner</a:t>
            </a:r>
            <a:r>
              <a:rPr lang="hy-AM" sz="2400" b="1" dirty="0" smtClean="0">
                <a:solidFill>
                  <a:srgbClr val="FF0000"/>
                </a:solidFill>
              </a:rPr>
              <a:t>.am</a:t>
            </a:r>
            <a:r>
              <a:rPr lang="en-US" sz="2400" b="1" dirty="0" smtClean="0">
                <a:solidFill>
                  <a:srgbClr val="FF0000"/>
                </a:solidFill>
              </a:rPr>
              <a:t>"</a:t>
            </a:r>
            <a:r>
              <a:rPr lang="hy-AM" sz="2400" b="1" dirty="0" smtClean="0">
                <a:solidFill>
                  <a:srgbClr val="FF0000"/>
                </a:solidFill>
              </a:rPr>
              <a:t> </a:t>
            </a:r>
            <a:r>
              <a:rPr lang="en-US" sz="2400" b="1" dirty="0" smtClean="0">
                <a:solidFill>
                  <a:srgbClr val="92D050"/>
                </a:solidFill>
              </a:rPr>
              <a:t>&gt;</a:t>
            </a:r>
            <a:r>
              <a:rPr lang="en-US" sz="2400" b="1" dirty="0" smtClean="0"/>
              <a:t>Visit </a:t>
            </a:r>
            <a:r>
              <a:rPr lang="en-US" sz="2400" b="1" dirty="0" err="1" smtClean="0"/>
              <a:t>Nverner</a:t>
            </a:r>
            <a:r>
              <a:rPr lang="en-US" sz="2400" b="1" dirty="0" smtClean="0">
                <a:solidFill>
                  <a:srgbClr val="92D050"/>
                </a:solidFill>
              </a:rPr>
              <a:t>&lt;/a&gt;</a:t>
            </a:r>
            <a:endParaRPr lang="en-US" sz="2400" b="1" dirty="0">
              <a:solidFill>
                <a:srgbClr val="92D05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683568" y="260648"/>
            <a:ext cx="79208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HTML</a:t>
            </a:r>
            <a:r>
              <a:rPr lang="en-US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 – </a:t>
            </a:r>
            <a:r>
              <a:rPr lang="hy-AM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Hyperlinks (links)</a:t>
            </a:r>
            <a:endParaRPr lang="en-US" sz="4800" dirty="0" smtClean="0"/>
          </a:p>
        </p:txBody>
      </p:sp>
      <p:sp>
        <p:nvSpPr>
          <p:cNvPr id="9" name="Rectangle 8"/>
          <p:cNvSpPr/>
          <p:nvPr/>
        </p:nvSpPr>
        <p:spPr>
          <a:xfrm>
            <a:off x="179512" y="1772816"/>
            <a:ext cx="864096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smtClean="0">
                <a:solidFill>
                  <a:srgbClr val="92D050"/>
                </a:solidFill>
              </a:rPr>
              <a:t>&lt;a </a:t>
            </a:r>
            <a:r>
              <a:rPr lang="en-US" sz="2400" b="1" dirty="0" err="1" smtClean="0">
                <a:solidFill>
                  <a:srgbClr val="FF0000"/>
                </a:solidFill>
              </a:rPr>
              <a:t>href</a:t>
            </a:r>
            <a:r>
              <a:rPr lang="en-US" sz="2400" b="1" dirty="0" smtClean="0">
                <a:solidFill>
                  <a:srgbClr val="FF0000"/>
                </a:solidFill>
              </a:rPr>
              <a:t>="http://www.nverner.</a:t>
            </a:r>
            <a:r>
              <a:rPr lang="hy-AM" sz="2400" b="1" dirty="0" smtClean="0">
                <a:solidFill>
                  <a:srgbClr val="FF0000"/>
                </a:solidFill>
              </a:rPr>
              <a:t>am</a:t>
            </a:r>
            <a:r>
              <a:rPr lang="en-US" sz="2400" b="1" dirty="0" smtClean="0">
                <a:solidFill>
                  <a:srgbClr val="FF0000"/>
                </a:solidFill>
              </a:rPr>
              <a:t>"</a:t>
            </a:r>
            <a:r>
              <a:rPr lang="hy-AM" sz="2400" b="1" dirty="0" smtClean="0">
                <a:solidFill>
                  <a:srgbClr val="FF0000"/>
                </a:solidFill>
              </a:rPr>
              <a:t>  </a:t>
            </a:r>
            <a:r>
              <a:rPr lang="hy-AM" sz="2400" b="1" dirty="0" smtClean="0">
                <a:solidFill>
                  <a:schemeClr val="accent2">
                    <a:lumMod val="75000"/>
                  </a:schemeClr>
                </a:solidFill>
              </a:rPr>
              <a:t>target=</a:t>
            </a:r>
            <a:r>
              <a:rPr lang="en-US" sz="2400" b="1" dirty="0" smtClean="0">
                <a:solidFill>
                  <a:schemeClr val="accent2">
                    <a:lumMod val="75000"/>
                  </a:schemeClr>
                </a:solidFill>
              </a:rPr>
              <a:t>"</a:t>
            </a:r>
            <a:r>
              <a:rPr lang="hy-AM" sz="2400" b="1" dirty="0" smtClean="0">
                <a:solidFill>
                  <a:schemeClr val="accent2">
                    <a:lumMod val="75000"/>
                  </a:schemeClr>
                </a:solidFill>
              </a:rPr>
              <a:t>_blank</a:t>
            </a:r>
            <a:r>
              <a:rPr lang="en-US" sz="2400" b="1" dirty="0" smtClean="0">
                <a:solidFill>
                  <a:schemeClr val="accent2">
                    <a:lumMod val="75000"/>
                  </a:schemeClr>
                </a:solidFill>
              </a:rPr>
              <a:t>"</a:t>
            </a:r>
            <a:r>
              <a:rPr lang="en-US" sz="2400" b="1" dirty="0" smtClean="0">
                <a:solidFill>
                  <a:srgbClr val="92D050"/>
                </a:solidFill>
              </a:rPr>
              <a:t>&gt;</a:t>
            </a:r>
            <a:endParaRPr lang="hy-AM" sz="2400" b="1" dirty="0" smtClean="0">
              <a:solidFill>
                <a:srgbClr val="92D050"/>
              </a:solidFill>
            </a:endParaRPr>
          </a:p>
          <a:p>
            <a:r>
              <a:rPr lang="en-US" sz="2400" b="1" dirty="0" smtClean="0"/>
              <a:t>Visit </a:t>
            </a:r>
            <a:r>
              <a:rPr lang="en-US" sz="2400" b="1" dirty="0" err="1" smtClean="0"/>
              <a:t>Nverner</a:t>
            </a:r>
            <a:r>
              <a:rPr lang="en-US" sz="2400" b="1" dirty="0" smtClean="0">
                <a:solidFill>
                  <a:srgbClr val="92D050"/>
                </a:solidFill>
              </a:rPr>
              <a:t>&lt;/a&gt;</a:t>
            </a:r>
            <a:endParaRPr lang="en-US" sz="2400" b="1" dirty="0">
              <a:solidFill>
                <a:srgbClr val="92D050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79512" y="1167135"/>
            <a:ext cx="37444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sz="24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The  Target  Attribute:</a:t>
            </a:r>
            <a:endParaRPr lang="en-US" sz="2400" dirty="0" smtClean="0"/>
          </a:p>
        </p:txBody>
      </p:sp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1768712"/>
              </p:ext>
            </p:extLst>
          </p:nvPr>
        </p:nvGraphicFramePr>
        <p:xfrm>
          <a:off x="539552" y="2708919"/>
          <a:ext cx="8064896" cy="3195488"/>
        </p:xfrm>
        <a:graphic>
          <a:graphicData uri="http://schemas.openxmlformats.org/drawingml/2006/table">
            <a:tbl>
              <a:tblPr/>
              <a:tblGrid>
                <a:gridCol w="1612979"/>
                <a:gridCol w="6451917"/>
              </a:tblGrid>
              <a:tr h="562644"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dirty="0">
                          <a:solidFill>
                            <a:srgbClr val="FFFFFF"/>
                          </a:solidFill>
                          <a:latin typeface="verdana"/>
                        </a:rPr>
                        <a:t>Value</a:t>
                      </a:r>
                    </a:p>
                  </a:txBody>
                  <a:tcPr marL="25330" marR="25330" marT="25330" marB="25330">
                    <a:lnL w="9525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5555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dirty="0">
                          <a:solidFill>
                            <a:srgbClr val="FFFFFF"/>
                          </a:solidFill>
                          <a:latin typeface="verdana"/>
                        </a:rPr>
                        <a:t>Description</a:t>
                      </a:r>
                    </a:p>
                  </a:txBody>
                  <a:tcPr marL="25330" marR="25330" marT="25330" marB="25330">
                    <a:lnL w="9525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5555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55555"/>
                    </a:solidFill>
                  </a:tcPr>
                </a:tc>
              </a:tr>
              <a:tr h="506740">
                <a:tc>
                  <a:txBody>
                    <a:bodyPr/>
                    <a:lstStyle/>
                    <a:p>
                      <a:pPr fontAlgn="t"/>
                      <a:r>
                        <a:rPr lang="en-US" sz="1600">
                          <a:latin typeface="verdana"/>
                        </a:rPr>
                        <a:t>_blank</a:t>
                      </a:r>
                    </a:p>
                  </a:txBody>
                  <a:tcPr marL="42216" marR="42216" marT="59102" marB="59102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600" dirty="0">
                          <a:latin typeface="verdana"/>
                        </a:rPr>
                        <a:t>Opens the linked document in a new window or tab</a:t>
                      </a:r>
                    </a:p>
                  </a:txBody>
                  <a:tcPr marL="42216" marR="42216" marT="59102" marB="59102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6740">
                <a:tc>
                  <a:txBody>
                    <a:bodyPr/>
                    <a:lstStyle/>
                    <a:p>
                      <a:pPr fontAlgn="t"/>
                      <a:r>
                        <a:rPr lang="en-US" sz="1600" dirty="0">
                          <a:latin typeface="verdana"/>
                        </a:rPr>
                        <a:t>_self</a:t>
                      </a:r>
                    </a:p>
                  </a:txBody>
                  <a:tcPr marL="42216" marR="42216" marT="59102" marB="59102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600" dirty="0">
                          <a:latin typeface="verdana"/>
                        </a:rPr>
                        <a:t>Opens the linked document in the same frame as it was clicked (this is default)</a:t>
                      </a:r>
                    </a:p>
                  </a:txBody>
                  <a:tcPr marL="42216" marR="42216" marT="59102" marB="59102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</a:tr>
              <a:tr h="506740">
                <a:tc>
                  <a:txBody>
                    <a:bodyPr/>
                    <a:lstStyle/>
                    <a:p>
                      <a:pPr fontAlgn="t"/>
                      <a:r>
                        <a:rPr lang="en-US" sz="1600" dirty="0">
                          <a:latin typeface="verdana"/>
                        </a:rPr>
                        <a:t>_parent</a:t>
                      </a:r>
                    </a:p>
                  </a:txBody>
                  <a:tcPr marL="42216" marR="42216" marT="59102" marB="59102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600" dirty="0">
                          <a:latin typeface="verdana"/>
                        </a:rPr>
                        <a:t>Opens the linked document in the parent frame</a:t>
                      </a:r>
                    </a:p>
                  </a:txBody>
                  <a:tcPr marL="42216" marR="42216" marT="59102" marB="59102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6740">
                <a:tc>
                  <a:txBody>
                    <a:bodyPr/>
                    <a:lstStyle/>
                    <a:p>
                      <a:pPr fontAlgn="t"/>
                      <a:r>
                        <a:rPr lang="en-US" sz="1600" dirty="0">
                          <a:latin typeface="verdana"/>
                        </a:rPr>
                        <a:t>_top</a:t>
                      </a:r>
                    </a:p>
                  </a:txBody>
                  <a:tcPr marL="42216" marR="42216" marT="59102" marB="59102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600">
                          <a:latin typeface="verdana"/>
                        </a:rPr>
                        <a:t>Opens the linked document in the full body of the window</a:t>
                      </a:r>
                    </a:p>
                  </a:txBody>
                  <a:tcPr marL="42216" marR="42216" marT="59102" marB="59102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4F0"/>
                    </a:solidFill>
                  </a:tcPr>
                </a:tc>
              </a:tr>
              <a:tr h="506740">
                <a:tc>
                  <a:txBody>
                    <a:bodyPr/>
                    <a:lstStyle/>
                    <a:p>
                      <a:pPr fontAlgn="t"/>
                      <a:r>
                        <a:rPr lang="en-US" sz="1600" i="1" dirty="0" err="1">
                          <a:latin typeface="verdana"/>
                        </a:rPr>
                        <a:t>framename</a:t>
                      </a:r>
                      <a:endParaRPr lang="en-US" sz="1600" dirty="0">
                        <a:latin typeface="verdana"/>
                      </a:endParaRPr>
                    </a:p>
                  </a:txBody>
                  <a:tcPr marL="42216" marR="42216" marT="59102" marB="59102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600" dirty="0">
                          <a:latin typeface="verdana"/>
                        </a:rPr>
                        <a:t>Opens the linked document in a named frame</a:t>
                      </a:r>
                    </a:p>
                  </a:txBody>
                  <a:tcPr marL="42216" marR="42216" marT="59102" marB="59102">
                    <a:lnL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4D4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395536" y="764704"/>
            <a:ext cx="374441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sz="24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The Id Attribute:</a:t>
            </a:r>
            <a:endParaRPr lang="en-US" sz="2400" dirty="0" smtClean="0"/>
          </a:p>
        </p:txBody>
      </p:sp>
      <p:sp>
        <p:nvSpPr>
          <p:cNvPr id="7" name="Rectangle 6"/>
          <p:cNvSpPr/>
          <p:nvPr/>
        </p:nvSpPr>
        <p:spPr>
          <a:xfrm>
            <a:off x="251520" y="1484784"/>
            <a:ext cx="864096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smtClean="0">
                <a:solidFill>
                  <a:srgbClr val="92D050"/>
                </a:solidFill>
              </a:rPr>
              <a:t>&lt;p </a:t>
            </a:r>
            <a:r>
              <a:rPr lang="hy-AM" sz="2400" b="1" dirty="0" smtClean="0">
                <a:solidFill>
                  <a:srgbClr val="FF0000"/>
                </a:solidFill>
              </a:rPr>
              <a:t>id =</a:t>
            </a:r>
            <a:r>
              <a:rPr lang="en-US" sz="2400" b="1" dirty="0" smtClean="0">
                <a:solidFill>
                  <a:srgbClr val="FF0000"/>
                </a:solidFill>
              </a:rPr>
              <a:t>"</a:t>
            </a:r>
            <a:r>
              <a:rPr lang="hy-AM" sz="2400" b="1" dirty="0" smtClean="0">
                <a:solidFill>
                  <a:srgbClr val="FF0000"/>
                </a:solidFill>
              </a:rPr>
              <a:t>useful</a:t>
            </a:r>
            <a:r>
              <a:rPr lang="en-US" sz="2400" b="1" dirty="0" smtClean="0">
                <a:solidFill>
                  <a:srgbClr val="FF0000"/>
                </a:solidFill>
              </a:rPr>
              <a:t>" </a:t>
            </a:r>
            <a:r>
              <a:rPr lang="en-US" sz="2400" b="1" dirty="0" smtClean="0">
                <a:solidFill>
                  <a:srgbClr val="92D050"/>
                </a:solidFill>
              </a:rPr>
              <a:t>&gt;</a:t>
            </a:r>
            <a:r>
              <a:rPr lang="en-US" sz="2400" b="1" dirty="0" smtClean="0"/>
              <a:t>Useful Section</a:t>
            </a:r>
            <a:r>
              <a:rPr lang="en-US" sz="2400" b="1" dirty="0" smtClean="0">
                <a:solidFill>
                  <a:srgbClr val="92D050"/>
                </a:solidFill>
              </a:rPr>
              <a:t>&lt;/p&gt;</a:t>
            </a:r>
          </a:p>
        </p:txBody>
      </p:sp>
      <p:sp>
        <p:nvSpPr>
          <p:cNvPr id="8" name="Rectangle 7"/>
          <p:cNvSpPr/>
          <p:nvPr/>
        </p:nvSpPr>
        <p:spPr>
          <a:xfrm>
            <a:off x="323528" y="1988840"/>
            <a:ext cx="864096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smtClean="0">
                <a:solidFill>
                  <a:srgbClr val="92D050"/>
                </a:solidFill>
              </a:rPr>
              <a:t>&lt;a </a:t>
            </a:r>
            <a:r>
              <a:rPr lang="hy-AM" sz="2400" b="1" dirty="0" smtClean="0">
                <a:solidFill>
                  <a:srgbClr val="FF0000"/>
                </a:solidFill>
              </a:rPr>
              <a:t>href=</a:t>
            </a:r>
            <a:r>
              <a:rPr lang="en-US" sz="2400" b="1" dirty="0" smtClean="0">
                <a:solidFill>
                  <a:srgbClr val="FF0000"/>
                </a:solidFill>
              </a:rPr>
              <a:t>"</a:t>
            </a:r>
            <a:r>
              <a:rPr lang="hy-AM" sz="2400" b="1" dirty="0" smtClean="0">
                <a:solidFill>
                  <a:srgbClr val="FF0000"/>
                </a:solidFill>
              </a:rPr>
              <a:t>#useful</a:t>
            </a:r>
            <a:r>
              <a:rPr lang="en-US" sz="2400" b="1" dirty="0" smtClean="0">
                <a:solidFill>
                  <a:srgbClr val="FF0000"/>
                </a:solidFill>
              </a:rPr>
              <a:t>" </a:t>
            </a:r>
            <a:r>
              <a:rPr lang="en-US" sz="2400" b="1" dirty="0" smtClean="0">
                <a:solidFill>
                  <a:srgbClr val="92D050"/>
                </a:solidFill>
              </a:rPr>
              <a:t>&gt;</a:t>
            </a:r>
            <a:r>
              <a:rPr lang="hy-AM" sz="2400" b="1" dirty="0" smtClean="0"/>
              <a:t>Visit</a:t>
            </a:r>
            <a:r>
              <a:rPr lang="hy-AM" sz="2400" b="1" dirty="0" smtClean="0">
                <a:solidFill>
                  <a:srgbClr val="92D050"/>
                </a:solidFill>
              </a:rPr>
              <a:t> </a:t>
            </a:r>
            <a:r>
              <a:rPr lang="en-US" sz="2400" b="1" dirty="0" smtClean="0"/>
              <a:t>Useful Section</a:t>
            </a:r>
            <a:r>
              <a:rPr lang="en-US" sz="2400" b="1" dirty="0" smtClean="0">
                <a:solidFill>
                  <a:srgbClr val="92D050"/>
                </a:solidFill>
              </a:rPr>
              <a:t>&lt;/a&gt;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683568" y="260648"/>
            <a:ext cx="79208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HTML</a:t>
            </a:r>
            <a:r>
              <a:rPr lang="en-US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 – </a:t>
            </a:r>
            <a:r>
              <a:rPr lang="hy-AM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Images</a:t>
            </a:r>
            <a:endParaRPr lang="en-US" sz="4800" dirty="0" smtClean="0"/>
          </a:p>
        </p:txBody>
      </p:sp>
      <p:sp>
        <p:nvSpPr>
          <p:cNvPr id="11" name="Rectangle 10"/>
          <p:cNvSpPr/>
          <p:nvPr/>
        </p:nvSpPr>
        <p:spPr>
          <a:xfrm>
            <a:off x="683568" y="1556792"/>
            <a:ext cx="633295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dirty="0" smtClean="0">
                <a:solidFill>
                  <a:srgbClr val="92D050"/>
                </a:solidFill>
              </a:rPr>
              <a:t>&lt;</a:t>
            </a:r>
            <a:r>
              <a:rPr lang="en-US" sz="3200" b="1" dirty="0" err="1" smtClean="0">
                <a:solidFill>
                  <a:srgbClr val="92D050"/>
                </a:solidFill>
              </a:rPr>
              <a:t>img</a:t>
            </a:r>
            <a:r>
              <a:rPr lang="en-US" sz="3200" b="1" dirty="0" smtClean="0">
                <a:solidFill>
                  <a:srgbClr val="92D050"/>
                </a:solidFill>
              </a:rPr>
              <a:t> </a:t>
            </a:r>
            <a:r>
              <a:rPr lang="en-US" sz="3200" b="1" dirty="0" err="1" smtClean="0">
                <a:solidFill>
                  <a:srgbClr val="FF0000"/>
                </a:solidFill>
              </a:rPr>
              <a:t>src</a:t>
            </a:r>
            <a:r>
              <a:rPr lang="en-US" sz="3200" b="1" dirty="0" smtClean="0">
                <a:solidFill>
                  <a:srgbClr val="FF0000"/>
                </a:solidFill>
              </a:rPr>
              <a:t>=</a:t>
            </a:r>
            <a:r>
              <a:rPr lang="en-US" sz="3200" b="1" dirty="0" smtClean="0">
                <a:solidFill>
                  <a:srgbClr val="7030A0"/>
                </a:solidFill>
              </a:rPr>
              <a:t> </a:t>
            </a:r>
            <a:r>
              <a:rPr lang="en-US" sz="3200" b="1" dirty="0" smtClean="0">
                <a:solidFill>
                  <a:srgbClr val="FF0000"/>
                </a:solidFill>
              </a:rPr>
              <a:t>"</a:t>
            </a:r>
            <a:r>
              <a:rPr lang="en-US" sz="3200" b="1" i="1" dirty="0" err="1" smtClean="0">
                <a:solidFill>
                  <a:srgbClr val="FF0000"/>
                </a:solidFill>
              </a:rPr>
              <a:t>url</a:t>
            </a:r>
            <a:r>
              <a:rPr lang="en-US" sz="3200" b="1" dirty="0" smtClean="0">
                <a:solidFill>
                  <a:srgbClr val="FF0000"/>
                </a:solidFill>
              </a:rPr>
              <a:t>" alt=</a:t>
            </a:r>
            <a:r>
              <a:rPr lang="en-US" sz="3200" b="1" dirty="0" smtClean="0">
                <a:solidFill>
                  <a:srgbClr val="7030A0"/>
                </a:solidFill>
              </a:rPr>
              <a:t> </a:t>
            </a:r>
            <a:r>
              <a:rPr lang="en-US" sz="3200" b="1" dirty="0" smtClean="0">
                <a:solidFill>
                  <a:srgbClr val="FF0000"/>
                </a:solidFill>
              </a:rPr>
              <a:t>"</a:t>
            </a:r>
            <a:r>
              <a:rPr lang="en-US" sz="3200" b="1" i="1" dirty="0" err="1" smtClean="0">
                <a:solidFill>
                  <a:srgbClr val="FF0000"/>
                </a:solidFill>
              </a:rPr>
              <a:t>some_text</a:t>
            </a:r>
            <a:r>
              <a:rPr lang="en-US" sz="3200" b="1" dirty="0" smtClean="0">
                <a:solidFill>
                  <a:srgbClr val="FF0000"/>
                </a:solidFill>
              </a:rPr>
              <a:t>" </a:t>
            </a:r>
            <a:r>
              <a:rPr lang="en-US" sz="3200" b="1" dirty="0" smtClean="0">
                <a:solidFill>
                  <a:srgbClr val="92D050"/>
                </a:solidFill>
              </a:rPr>
              <a:t>&gt;</a:t>
            </a:r>
            <a:endParaRPr lang="en-US" sz="3200" b="1" dirty="0">
              <a:solidFill>
                <a:srgbClr val="92D050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755576" y="2348880"/>
            <a:ext cx="380264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 smtClean="0"/>
              <a:t>The &lt;</a:t>
            </a:r>
            <a:r>
              <a:rPr lang="en-US" sz="2800" b="1" dirty="0" err="1" smtClean="0"/>
              <a:t>img</a:t>
            </a:r>
            <a:r>
              <a:rPr lang="en-US" sz="2800" b="1" dirty="0" smtClean="0"/>
              <a:t>&gt; tag is empty</a:t>
            </a:r>
            <a:endParaRPr lang="en-US" sz="2800" b="1" dirty="0"/>
          </a:p>
        </p:txBody>
      </p:sp>
      <p:sp>
        <p:nvSpPr>
          <p:cNvPr id="14" name="Rectangle 13"/>
          <p:cNvSpPr/>
          <p:nvPr/>
        </p:nvSpPr>
        <p:spPr>
          <a:xfrm>
            <a:off x="539552" y="3501008"/>
            <a:ext cx="8064896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 smtClean="0">
                <a:solidFill>
                  <a:srgbClr val="92D050"/>
                </a:solidFill>
              </a:rPr>
              <a:t>&lt;</a:t>
            </a:r>
            <a:r>
              <a:rPr lang="en-US" sz="2800" b="1" dirty="0" err="1" smtClean="0">
                <a:solidFill>
                  <a:srgbClr val="92D050"/>
                </a:solidFill>
              </a:rPr>
              <a:t>img</a:t>
            </a:r>
            <a:r>
              <a:rPr lang="en-US" sz="2800" b="1" dirty="0" smtClean="0">
                <a:solidFill>
                  <a:srgbClr val="92D050"/>
                </a:solidFill>
              </a:rPr>
              <a:t> </a:t>
            </a:r>
            <a:r>
              <a:rPr lang="hy-AM" sz="2800" b="1" dirty="0" smtClean="0">
                <a:solidFill>
                  <a:srgbClr val="92D050"/>
                </a:solidFill>
              </a:rPr>
              <a:t> </a:t>
            </a:r>
            <a:r>
              <a:rPr lang="en-US" sz="2800" b="1" dirty="0" err="1" smtClean="0">
                <a:solidFill>
                  <a:srgbClr val="FF0000"/>
                </a:solidFill>
              </a:rPr>
              <a:t>src</a:t>
            </a:r>
            <a:r>
              <a:rPr lang="en-US" sz="2800" b="1" dirty="0" smtClean="0">
                <a:solidFill>
                  <a:srgbClr val="FF0000"/>
                </a:solidFill>
              </a:rPr>
              <a:t>=</a:t>
            </a:r>
            <a:r>
              <a:rPr lang="en-US" sz="2800" b="1" dirty="0" smtClean="0">
                <a:solidFill>
                  <a:srgbClr val="7030A0"/>
                </a:solidFill>
              </a:rPr>
              <a:t> </a:t>
            </a:r>
            <a:r>
              <a:rPr lang="en-US" sz="2800" b="1" dirty="0" smtClean="0">
                <a:solidFill>
                  <a:srgbClr val="FF0000"/>
                </a:solidFill>
              </a:rPr>
              <a:t>"</a:t>
            </a:r>
            <a:r>
              <a:rPr lang="hy-AM" sz="2800" b="1" dirty="0" smtClean="0">
                <a:solidFill>
                  <a:srgbClr val="FF0000"/>
                </a:solidFill>
              </a:rPr>
              <a:t>image</a:t>
            </a:r>
            <a:r>
              <a:rPr lang="en-US" sz="2800" b="1" dirty="0" smtClean="0">
                <a:solidFill>
                  <a:srgbClr val="FF0000"/>
                </a:solidFill>
              </a:rPr>
              <a:t>.jpg" </a:t>
            </a:r>
            <a:r>
              <a:rPr lang="en-US" sz="2800" b="1" dirty="0" smtClean="0">
                <a:solidFill>
                  <a:srgbClr val="00B0F0"/>
                </a:solidFill>
              </a:rPr>
              <a:t>alt=</a:t>
            </a:r>
            <a:r>
              <a:rPr lang="en-US" sz="2800" b="1" dirty="0" smtClean="0">
                <a:solidFill>
                  <a:srgbClr val="7030A0"/>
                </a:solidFill>
              </a:rPr>
              <a:t> </a:t>
            </a:r>
            <a:r>
              <a:rPr lang="en-US" sz="2800" b="1" dirty="0" smtClean="0">
                <a:solidFill>
                  <a:srgbClr val="00B0F0"/>
                </a:solidFill>
              </a:rPr>
              <a:t>"</a:t>
            </a:r>
            <a:r>
              <a:rPr lang="hy-AM" sz="2800" b="1" dirty="0" smtClean="0">
                <a:solidFill>
                  <a:srgbClr val="00B0F0"/>
                </a:solidFill>
              </a:rPr>
              <a:t>Image</a:t>
            </a:r>
            <a:r>
              <a:rPr lang="en-US" sz="2800" b="1" dirty="0" smtClean="0">
                <a:solidFill>
                  <a:srgbClr val="00B0F0"/>
                </a:solidFill>
              </a:rPr>
              <a:t>" </a:t>
            </a:r>
            <a:endParaRPr lang="hy-AM" sz="2800" b="1" dirty="0" smtClean="0">
              <a:solidFill>
                <a:srgbClr val="00B0F0"/>
              </a:solidFill>
            </a:endParaRPr>
          </a:p>
          <a:p>
            <a:r>
              <a:rPr lang="en-US" sz="2800" b="1" dirty="0" smtClean="0">
                <a:solidFill>
                  <a:srgbClr val="7030A0"/>
                </a:solidFill>
              </a:rPr>
              <a:t>width="304" height= "228"</a:t>
            </a:r>
            <a:r>
              <a:rPr lang="hy-AM" sz="2800" b="1" dirty="0" smtClean="0">
                <a:solidFill>
                  <a:srgbClr val="7030A0"/>
                </a:solidFill>
              </a:rPr>
              <a:t> </a:t>
            </a:r>
            <a:r>
              <a:rPr lang="en-US" sz="2800" b="1" dirty="0" smtClean="0">
                <a:solidFill>
                  <a:srgbClr val="92D050"/>
                </a:solidFill>
              </a:rPr>
              <a:t>&gt;</a:t>
            </a:r>
            <a:endParaRPr lang="en-US" sz="2800" b="1" dirty="0">
              <a:solidFill>
                <a:srgbClr val="92D05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683568" y="260648"/>
            <a:ext cx="79208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HTML</a:t>
            </a:r>
            <a:r>
              <a:rPr lang="en-US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 – </a:t>
            </a:r>
            <a:r>
              <a:rPr lang="hy-AM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Div</a:t>
            </a:r>
            <a:endParaRPr lang="en-US" sz="4800" dirty="0" smtClean="0"/>
          </a:p>
        </p:txBody>
      </p:sp>
      <p:sp>
        <p:nvSpPr>
          <p:cNvPr id="9" name="Rectangle 8"/>
          <p:cNvSpPr/>
          <p:nvPr/>
        </p:nvSpPr>
        <p:spPr>
          <a:xfrm>
            <a:off x="395536" y="1268760"/>
            <a:ext cx="8496944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 smtClean="0"/>
              <a:t>The </a:t>
            </a:r>
            <a:r>
              <a:rPr lang="en-US" sz="2800" b="1" dirty="0" smtClean="0">
                <a:solidFill>
                  <a:srgbClr val="FF0000"/>
                </a:solidFill>
              </a:rPr>
              <a:t>&lt;div&gt; </a:t>
            </a:r>
            <a:r>
              <a:rPr lang="en-US" sz="2800" b="1" dirty="0" smtClean="0"/>
              <a:t>tag defines a division or a section in an HTML document.</a:t>
            </a:r>
            <a:endParaRPr lang="en-US" sz="2800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539552" y="2564904"/>
            <a:ext cx="79208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HTML</a:t>
            </a:r>
            <a:r>
              <a:rPr lang="en-US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 – </a:t>
            </a:r>
            <a:r>
              <a:rPr lang="hy-AM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rgbClr val="C00000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Span</a:t>
            </a:r>
            <a:endParaRPr lang="en-US" sz="4800" dirty="0" smtClean="0"/>
          </a:p>
        </p:txBody>
      </p:sp>
      <p:sp>
        <p:nvSpPr>
          <p:cNvPr id="12" name="TextBox 11"/>
          <p:cNvSpPr txBox="1"/>
          <p:nvPr/>
        </p:nvSpPr>
        <p:spPr>
          <a:xfrm>
            <a:off x="539552" y="3789040"/>
            <a:ext cx="828092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sz="2800" b="1" dirty="0" smtClean="0">
                <a:solidFill>
                  <a:srgbClr val="FF0000"/>
                </a:solidFill>
              </a:rPr>
              <a:t>&lt;span&gt; </a:t>
            </a:r>
            <a:r>
              <a:rPr lang="hy-AM" sz="2800" b="1" dirty="0" smtClean="0"/>
              <a:t>is very much like a </a:t>
            </a:r>
            <a:r>
              <a:rPr lang="hy-AM" sz="2800" b="1" dirty="0" smtClean="0">
                <a:solidFill>
                  <a:srgbClr val="FFC000"/>
                </a:solidFill>
              </a:rPr>
              <a:t>&lt;div&gt; </a:t>
            </a:r>
            <a:r>
              <a:rPr lang="hy-AM" sz="2800" b="1" dirty="0" smtClean="0"/>
              <a:t>element,</a:t>
            </a:r>
          </a:p>
          <a:p>
            <a:r>
              <a:rPr lang="hy-AM" sz="2800" b="1" dirty="0" smtClean="0"/>
              <a:t> but </a:t>
            </a:r>
            <a:r>
              <a:rPr lang="hy-AM" sz="2800" b="1" dirty="0" smtClean="0">
                <a:solidFill>
                  <a:srgbClr val="FFC000"/>
                </a:solidFill>
              </a:rPr>
              <a:t>&lt;div&gt; </a:t>
            </a:r>
            <a:r>
              <a:rPr lang="hy-AM" sz="2800" b="1" dirty="0" smtClean="0"/>
              <a:t>is a block-level element whereas a</a:t>
            </a:r>
          </a:p>
          <a:p>
            <a:r>
              <a:rPr lang="hy-AM" sz="2800" b="1" dirty="0" smtClean="0"/>
              <a:t> </a:t>
            </a:r>
            <a:r>
              <a:rPr lang="hy-AM" sz="2800" b="1" dirty="0" smtClean="0">
                <a:solidFill>
                  <a:srgbClr val="FF0000"/>
                </a:solidFill>
              </a:rPr>
              <a:t>&lt;span &gt; </a:t>
            </a:r>
            <a:r>
              <a:rPr lang="hy-AM" sz="2800" b="1" dirty="0" smtClean="0"/>
              <a:t>is an inline element.</a:t>
            </a:r>
            <a:endParaRPr lang="en-US" sz="2800" b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75048" y="116632"/>
            <a:ext cx="745333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chemeClr val="accent2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Task:1</a:t>
            </a:r>
            <a:endParaRPr lang="en-US" sz="4800" b="1" dirty="0" smtClean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solidFill>
                <a:schemeClr val="accent2"/>
              </a:solidFill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</a:endParaRPr>
          </a:p>
        </p:txBody>
      </p:sp>
      <p:pic>
        <p:nvPicPr>
          <p:cNvPr id="1026" name="Picture 2" descr="C:\Users\Comp\Desktop\contuct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83568" y="1071546"/>
            <a:ext cx="5162551" cy="5210175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75048" y="116632"/>
            <a:ext cx="745333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chemeClr val="accent2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Task:2</a:t>
            </a:r>
            <a:endParaRPr lang="en-US" sz="4800" b="1" dirty="0" smtClean="0">
              <a:ln w="18000">
                <a:solidFill>
                  <a:schemeClr val="accent2">
                    <a:satMod val="140000"/>
                  </a:schemeClr>
                </a:solidFill>
                <a:prstDash val="solid"/>
                <a:miter lim="800000"/>
              </a:ln>
              <a:solidFill>
                <a:schemeClr val="accent2"/>
              </a:solidFill>
              <a:effectLst>
                <a:outerShdw blurRad="25500" dist="23000" dir="7020000" algn="tl">
                  <a:srgbClr val="000000">
                    <a:alpha val="50000"/>
                  </a:srgbClr>
                </a:outerShdw>
              </a:effectLst>
            </a:endParaRPr>
          </a:p>
        </p:txBody>
      </p:sp>
      <p:pic>
        <p:nvPicPr>
          <p:cNvPr id="2050" name="Picture 2" descr="C:\Users\Comp\Desktop\task1\task2\product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23900" y="1366838"/>
            <a:ext cx="5381625" cy="42291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575048" y="116632"/>
            <a:ext cx="745333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y-AM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chemeClr val="accent2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Task:</a:t>
            </a:r>
            <a:r>
              <a:rPr lang="en-US" sz="4800" b="1" dirty="0" smtClean="0">
                <a:ln w="18000">
                  <a:solidFill>
                    <a:schemeClr val="accent2">
                      <a:satMod val="140000"/>
                    </a:schemeClr>
                  </a:solidFill>
                  <a:prstDash val="solid"/>
                  <a:miter lim="800000"/>
                </a:ln>
                <a:solidFill>
                  <a:schemeClr val="accent2"/>
                </a:solidFill>
                <a:effectLst>
                  <a:outerShdw blurRad="25500" dist="23000" dir="7020000" algn="tl">
                    <a:srgbClr val="000000">
                      <a:alpha val="50000"/>
                    </a:srgbClr>
                  </a:outerShdw>
                </a:effectLst>
              </a:rPr>
              <a:t>3</a:t>
            </a: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576" y="947628"/>
            <a:ext cx="5572125" cy="5343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44460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quity">
  <a:themeElements>
    <a:clrScheme name="Equity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Equity">
      <a:majorFont>
        <a:latin typeface="Franklin Gothic Book"/>
        <a:ea typeface=""/>
        <a:cs typeface=""/>
        <a:font script="Grek" typeface="Calibri"/>
        <a:font script="Cyrl" typeface="Calibri"/>
        <a:font script="Jpan" typeface="HGｺﾞｼｯｸM"/>
        <a:font script="Hang" typeface="바탕"/>
        <a:font script="Hans" typeface="幼圆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Perpetua"/>
        <a:ea typeface=""/>
        <a:cs typeface=""/>
        <a:font script="Grek" typeface="Cambria"/>
        <a:font script="Cyrl" typeface="Cambria"/>
        <a:font script="Jpan" typeface="HG創英ﾌﾟﾚｾﾞﾝｽEB"/>
        <a:font script="Hang" typeface="맑은 고딕"/>
        <a:font script="Hans" typeface="宋体"/>
        <a:font script="Hant" typeface="新細明體"/>
        <a:font script="Arab" typeface="Times New Roman"/>
        <a:font script="Hebr" typeface="Aharoni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Equity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tint val="30000"/>
                <a:satMod val="300000"/>
              </a:schemeClr>
              <a:schemeClr val="phClr">
                <a:tint val="40000"/>
                <a:satMod val="200000"/>
              </a:schemeClr>
            </a:duotone>
          </a:blip>
          <a:tile tx="0" ty="0" sx="70000" sy="70000" flip="none" algn="ctr"/>
        </a:blipFill>
        <a:blipFill>
          <a:blip xmlns:r="http://schemas.openxmlformats.org/officeDocument/2006/relationships" r:embed="rId1">
            <a:duotone>
              <a:schemeClr val="phClr">
                <a:shade val="22000"/>
                <a:satMod val="160000"/>
              </a:schemeClr>
              <a:schemeClr val="phClr">
                <a:shade val="45000"/>
                <a:satMod val="100000"/>
              </a:schemeClr>
            </a:duotone>
          </a:blip>
          <a:tile tx="0" ty="0" sx="65000" sy="65000" flip="none" algn="ctr"/>
        </a:blipFill>
      </a:fillStyleLst>
      <a:lnStyleLst>
        <a:ln w="9525" cap="flat" cmpd="sng" algn="ctr">
          <a:solidFill>
            <a:schemeClr val="phClr">
              <a:shade val="60000"/>
              <a:satMod val="110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50800" dir="5400000" algn="t" rotWithShape="0">
              <a:srgbClr val="000000">
                <a:alpha val="60000"/>
              </a:srgbClr>
            </a:outerShdw>
          </a:effectLst>
          <a:scene3d>
            <a:camera prst="isometricBottomUp" fov="0">
              <a:rot lat="0" lon="0" rev="0"/>
            </a:camera>
            <a:lightRig rig="soft" dir="b">
              <a:rot lat="0" lon="0" rev="9000000"/>
            </a:lightRig>
          </a:scene3d>
          <a:sp3d contourW="35000" prstMaterial="matte">
            <a:bevelT w="45000" h="38100" prst="convex"/>
            <a:contourClr>
              <a:schemeClr val="phClr">
                <a:tint val="1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Equity</Template>
  <TotalTime>1757</TotalTime>
  <Words>307</Words>
  <Application>Microsoft Office PowerPoint</Application>
  <PresentationFormat>Экран (4:3)</PresentationFormat>
  <Paragraphs>44</Paragraphs>
  <Slides>10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1" baseType="lpstr">
      <vt:lpstr>Equity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Araik</dc:creator>
  <cp:lastModifiedBy>home</cp:lastModifiedBy>
  <cp:revision>56</cp:revision>
  <dcterms:created xsi:type="dcterms:W3CDTF">2013-08-16T08:22:25Z</dcterms:created>
  <dcterms:modified xsi:type="dcterms:W3CDTF">2016-07-19T05:58:19Z</dcterms:modified>
</cp:coreProperties>
</file>