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notesMasterIdLst>
    <p:notesMasterId r:id="rId17"/>
  </p:notesMasterIdLst>
  <p:sldIdLst>
    <p:sldId id="257" r:id="rId2"/>
    <p:sldId id="279" r:id="rId3"/>
    <p:sldId id="277" r:id="rId4"/>
    <p:sldId id="278" r:id="rId5"/>
    <p:sldId id="261" r:id="rId6"/>
    <p:sldId id="272" r:id="rId7"/>
    <p:sldId id="274" r:id="rId8"/>
    <p:sldId id="273" r:id="rId9"/>
    <p:sldId id="275" r:id="rId10"/>
    <p:sldId id="276" r:id="rId11"/>
    <p:sldId id="268" r:id="rId12"/>
    <p:sldId id="270" r:id="rId13"/>
    <p:sldId id="269" r:id="rId14"/>
    <p:sldId id="271" r:id="rId15"/>
    <p:sldId id="280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C8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717" autoAdjust="0"/>
  </p:normalViewPr>
  <p:slideViewPr>
    <p:cSldViewPr>
      <p:cViewPr>
        <p:scale>
          <a:sx n="70" d="100"/>
          <a:sy n="70" d="100"/>
        </p:scale>
        <p:origin x="-1386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9A533B-BB62-4DA6-BFAC-31FCF3044E77}" type="datetimeFigureOut">
              <a:rPr lang="en-US" smtClean="0"/>
              <a:pPr/>
              <a:t>7/21/2016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4AA493-8083-4A0A-9DB8-8876B538388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3513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4AA493-8083-4A0A-9DB8-8876B538388F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ounded Rectangle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477-8826-47CB-B9F3-3F88F5668FA1}" type="datetimeFigureOut">
              <a:rPr lang="en-US" smtClean="0"/>
              <a:pPr/>
              <a:t>7/21/2016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477-8826-47CB-B9F3-3F88F5668FA1}" type="datetimeFigureOut">
              <a:rPr lang="en-US" smtClean="0"/>
              <a:pPr/>
              <a:t>7/21/2016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ounded Rectangle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477-8826-47CB-B9F3-3F88F5668FA1}" type="datetimeFigureOut">
              <a:rPr lang="en-US" smtClean="0"/>
              <a:pPr/>
              <a:t>7/21/2016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477-8826-47CB-B9F3-3F88F5668FA1}" type="datetimeFigureOut">
              <a:rPr lang="en-US" smtClean="0"/>
              <a:pPr/>
              <a:t>7/21/2016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477-8826-47CB-B9F3-3F88F5668FA1}" type="datetimeFigureOut">
              <a:rPr lang="en-US" smtClean="0"/>
              <a:pPr/>
              <a:t>7/21/2016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477-8826-47CB-B9F3-3F88F5668FA1}" type="datetimeFigureOut">
              <a:rPr lang="en-US" smtClean="0"/>
              <a:pPr/>
              <a:t>7/21/2016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477-8826-47CB-B9F3-3F88F5668FA1}" type="datetimeFigureOut">
              <a:rPr lang="en-US" smtClean="0"/>
              <a:pPr/>
              <a:t>7/21/2016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477-8826-47CB-B9F3-3F88F5668FA1}" type="datetimeFigureOut">
              <a:rPr lang="en-US" smtClean="0"/>
              <a:pPr/>
              <a:t>7/21/2016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477-8826-47CB-B9F3-3F88F5668FA1}" type="datetimeFigureOut">
              <a:rPr lang="en-US" smtClean="0"/>
              <a:pPr/>
              <a:t>7/21/2016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477-8826-47CB-B9F3-3F88F5668FA1}" type="datetimeFigureOut">
              <a:rPr lang="en-US" smtClean="0"/>
              <a:pPr/>
              <a:t>7/21/2016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477-8826-47CB-B9F3-3F88F5668FA1}" type="datetimeFigureOut">
              <a:rPr lang="en-US" smtClean="0"/>
              <a:pPr/>
              <a:t>7/21/2016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132B6477-8826-47CB-B9F3-3F88F5668FA1}" type="datetimeFigureOut">
              <a:rPr lang="en-US" smtClean="0"/>
              <a:pPr/>
              <a:t>7/21/2016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://www.w3schools.com/tags/tag_col.asp" TargetMode="External"/><Relationship Id="rId3" Type="http://schemas.openxmlformats.org/officeDocument/2006/relationships/hyperlink" Target="http://www.w3schools.com/tags/tag_th.asp" TargetMode="External"/><Relationship Id="rId7" Type="http://schemas.openxmlformats.org/officeDocument/2006/relationships/hyperlink" Target="http://www.w3schools.com/tags/tag_colgroup.asp" TargetMode="External"/><Relationship Id="rId2" Type="http://schemas.openxmlformats.org/officeDocument/2006/relationships/hyperlink" Target="http://www.w3schools.com/tags/tag_table.asp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ww.w3schools.com/tags/tag_caption.asp" TargetMode="External"/><Relationship Id="rId11" Type="http://schemas.openxmlformats.org/officeDocument/2006/relationships/hyperlink" Target="http://www.w3schools.com/tags/tag_tfoot.asp" TargetMode="External"/><Relationship Id="rId5" Type="http://schemas.openxmlformats.org/officeDocument/2006/relationships/hyperlink" Target="http://www.w3schools.com/tags/tag_td.asp" TargetMode="External"/><Relationship Id="rId10" Type="http://schemas.openxmlformats.org/officeDocument/2006/relationships/hyperlink" Target="http://www.w3schools.com/tags/tag_tbody.asp" TargetMode="External"/><Relationship Id="rId4" Type="http://schemas.openxmlformats.org/officeDocument/2006/relationships/hyperlink" Target="http://www.w3schools.com/tags/tag_tr.asp" TargetMode="External"/><Relationship Id="rId9" Type="http://schemas.openxmlformats.org/officeDocument/2006/relationships/hyperlink" Target="http://www.w3schools.com/tags/tag_thead.asp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95536" y="1484784"/>
            <a:ext cx="4608512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120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HTML</a:t>
            </a:r>
          </a:p>
          <a:p>
            <a:r>
              <a:rPr lang="hy-AM" sz="2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Lesson 4</a:t>
            </a:r>
            <a:endParaRPr lang="en-US" sz="2800" b="1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chemeClr val="accent2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pic>
        <p:nvPicPr>
          <p:cNvPr id="6148" name="Picture 4" descr="C:\Users\Araik\Desktop\images (1)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148064" y="476672"/>
            <a:ext cx="3631034" cy="3631034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83568" y="260648"/>
            <a:ext cx="79208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HTML</a:t>
            </a:r>
            <a:r>
              <a:rPr lang="en-US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– </a:t>
            </a:r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Tables</a:t>
            </a:r>
            <a:endParaRPr lang="en-US" sz="4800" dirty="0" smtClean="0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899592" y="1916833"/>
          <a:ext cx="6696744" cy="4248473"/>
        </p:xfrm>
        <a:graphic>
          <a:graphicData uri="http://schemas.openxmlformats.org/drawingml/2006/table">
            <a:tbl>
              <a:tblPr/>
              <a:tblGrid>
                <a:gridCol w="1944216"/>
                <a:gridCol w="4752528"/>
              </a:tblGrid>
              <a:tr h="281675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>
                          <a:solidFill>
                            <a:srgbClr val="FFFFFF"/>
                          </a:solidFill>
                          <a:latin typeface="verdana"/>
                        </a:rPr>
                        <a:t>Tag</a:t>
                      </a:r>
                    </a:p>
                  </a:txBody>
                  <a:tcPr marL="17588" marR="17588" marT="17588" marB="17588">
                    <a:lnL w="9525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5555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>
                          <a:solidFill>
                            <a:srgbClr val="FFFFFF"/>
                          </a:solidFill>
                          <a:latin typeface="verdana"/>
                        </a:rPr>
                        <a:t>Description</a:t>
                      </a:r>
                    </a:p>
                  </a:txBody>
                  <a:tcPr marL="17588" marR="17588" marT="17588" marB="17588">
                    <a:lnL w="9525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55555"/>
                    </a:solidFill>
                  </a:tcPr>
                </a:tc>
              </a:tr>
              <a:tr h="257866">
                <a:tc>
                  <a:txBody>
                    <a:bodyPr/>
                    <a:lstStyle/>
                    <a:p>
                      <a:pPr fontAlgn="t"/>
                      <a:r>
                        <a:rPr lang="en-US" sz="1100">
                          <a:solidFill>
                            <a:srgbClr val="000000"/>
                          </a:solidFill>
                          <a:latin typeface="verdana"/>
                          <a:hlinkClick r:id="rId2"/>
                        </a:rPr>
                        <a:t>&lt;table&gt;</a:t>
                      </a:r>
                      <a:endParaRPr lang="en-US" sz="1100">
                        <a:latin typeface="verdana"/>
                      </a:endParaRPr>
                    </a:p>
                  </a:txBody>
                  <a:tcPr marL="29313" marR="29313" marT="41039" marB="41039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100">
                          <a:latin typeface="verdana"/>
                        </a:rPr>
                        <a:t>Defines a table</a:t>
                      </a:r>
                    </a:p>
                  </a:txBody>
                  <a:tcPr marL="29313" marR="29313" marT="41039" marB="41039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1383">
                <a:tc>
                  <a:txBody>
                    <a:bodyPr/>
                    <a:lstStyle/>
                    <a:p>
                      <a:pPr fontAlgn="t"/>
                      <a:r>
                        <a:rPr lang="en-US" sz="1100">
                          <a:solidFill>
                            <a:srgbClr val="000000"/>
                          </a:solidFill>
                          <a:latin typeface="verdana"/>
                          <a:hlinkClick r:id="rId3"/>
                        </a:rPr>
                        <a:t>&lt;th&gt;</a:t>
                      </a:r>
                      <a:endParaRPr lang="en-US" sz="1100">
                        <a:latin typeface="verdana"/>
                      </a:endParaRPr>
                    </a:p>
                  </a:txBody>
                  <a:tcPr marL="29313" marR="29313" marT="41039" marB="41039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100" dirty="0">
                          <a:latin typeface="verdana"/>
                        </a:rPr>
                        <a:t>Defines a header cell in a table</a:t>
                      </a:r>
                    </a:p>
                  </a:txBody>
                  <a:tcPr marL="29313" marR="29313" marT="41039" marB="41039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</a:tr>
              <a:tr h="257866">
                <a:tc>
                  <a:txBody>
                    <a:bodyPr/>
                    <a:lstStyle/>
                    <a:p>
                      <a:pPr fontAlgn="t"/>
                      <a:r>
                        <a:rPr lang="en-US" sz="1100">
                          <a:solidFill>
                            <a:srgbClr val="000000"/>
                          </a:solidFill>
                          <a:latin typeface="verdana"/>
                          <a:hlinkClick r:id="rId4"/>
                        </a:rPr>
                        <a:t>&lt;tr&gt;</a:t>
                      </a:r>
                      <a:endParaRPr lang="en-US" sz="1100">
                        <a:latin typeface="verdana"/>
                      </a:endParaRPr>
                    </a:p>
                  </a:txBody>
                  <a:tcPr marL="29313" marR="29313" marT="41039" marB="41039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100">
                          <a:latin typeface="verdana"/>
                        </a:rPr>
                        <a:t>Defines a row in a table</a:t>
                      </a:r>
                    </a:p>
                  </a:txBody>
                  <a:tcPr marL="29313" marR="29313" marT="41039" marB="41039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7866">
                <a:tc>
                  <a:txBody>
                    <a:bodyPr/>
                    <a:lstStyle/>
                    <a:p>
                      <a:pPr fontAlgn="t"/>
                      <a:r>
                        <a:rPr lang="en-US" sz="1100">
                          <a:solidFill>
                            <a:srgbClr val="000000"/>
                          </a:solidFill>
                          <a:latin typeface="verdana"/>
                          <a:hlinkClick r:id="rId5"/>
                        </a:rPr>
                        <a:t>&lt;td&gt;</a:t>
                      </a:r>
                      <a:endParaRPr lang="en-US" sz="1100">
                        <a:latin typeface="verdana"/>
                      </a:endParaRPr>
                    </a:p>
                  </a:txBody>
                  <a:tcPr marL="29313" marR="29313" marT="41039" marB="41039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100">
                          <a:latin typeface="verdana"/>
                        </a:rPr>
                        <a:t>Defines a cell in a table</a:t>
                      </a:r>
                    </a:p>
                  </a:txBody>
                  <a:tcPr marL="29313" marR="29313" marT="41039" marB="41039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</a:tr>
              <a:tr h="257866">
                <a:tc>
                  <a:txBody>
                    <a:bodyPr/>
                    <a:lstStyle/>
                    <a:p>
                      <a:pPr fontAlgn="t"/>
                      <a:r>
                        <a:rPr lang="en-US" sz="1100">
                          <a:solidFill>
                            <a:srgbClr val="000000"/>
                          </a:solidFill>
                          <a:latin typeface="verdana"/>
                          <a:hlinkClick r:id="rId6"/>
                        </a:rPr>
                        <a:t>&lt;caption&gt;</a:t>
                      </a:r>
                      <a:endParaRPr lang="en-US" sz="1100">
                        <a:latin typeface="verdana"/>
                      </a:endParaRPr>
                    </a:p>
                  </a:txBody>
                  <a:tcPr marL="29313" marR="29313" marT="41039" marB="41039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100">
                          <a:latin typeface="verdana"/>
                        </a:rPr>
                        <a:t>Defines a table caption</a:t>
                      </a:r>
                    </a:p>
                  </a:txBody>
                  <a:tcPr marL="29313" marR="29313" marT="41039" marB="41039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4901">
                <a:tc>
                  <a:txBody>
                    <a:bodyPr/>
                    <a:lstStyle/>
                    <a:p>
                      <a:pPr fontAlgn="t"/>
                      <a:r>
                        <a:rPr lang="en-US" sz="1100">
                          <a:solidFill>
                            <a:srgbClr val="000000"/>
                          </a:solidFill>
                          <a:latin typeface="verdana"/>
                          <a:hlinkClick r:id="rId7"/>
                        </a:rPr>
                        <a:t>&lt;colgroup&gt;</a:t>
                      </a:r>
                      <a:endParaRPr lang="en-US" sz="1100">
                        <a:latin typeface="verdana"/>
                      </a:endParaRPr>
                    </a:p>
                  </a:txBody>
                  <a:tcPr marL="29313" marR="29313" marT="41039" marB="41039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100">
                          <a:latin typeface="verdana"/>
                        </a:rPr>
                        <a:t>Specifies a group of one or more columns in a table for formatting</a:t>
                      </a:r>
                    </a:p>
                  </a:txBody>
                  <a:tcPr marL="29313" marR="29313" marT="41039" marB="41039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</a:tr>
              <a:tr h="604901">
                <a:tc>
                  <a:txBody>
                    <a:bodyPr/>
                    <a:lstStyle/>
                    <a:p>
                      <a:pPr fontAlgn="t"/>
                      <a:r>
                        <a:rPr lang="en-US" sz="1100">
                          <a:solidFill>
                            <a:srgbClr val="000000"/>
                          </a:solidFill>
                          <a:latin typeface="verdana"/>
                          <a:hlinkClick r:id="rId8"/>
                        </a:rPr>
                        <a:t>&lt;col&gt;</a:t>
                      </a:r>
                      <a:endParaRPr lang="en-US" sz="1100">
                        <a:latin typeface="verdana"/>
                      </a:endParaRPr>
                    </a:p>
                  </a:txBody>
                  <a:tcPr marL="29313" marR="29313" marT="41039" marB="41039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100">
                          <a:latin typeface="verdana"/>
                        </a:rPr>
                        <a:t>Specifies column properties for each column within a &lt;colgroup&gt; element</a:t>
                      </a:r>
                    </a:p>
                  </a:txBody>
                  <a:tcPr marL="29313" marR="29313" marT="41039" marB="41039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1383">
                <a:tc>
                  <a:txBody>
                    <a:bodyPr/>
                    <a:lstStyle/>
                    <a:p>
                      <a:pPr fontAlgn="t"/>
                      <a:r>
                        <a:rPr lang="en-US" sz="1100">
                          <a:solidFill>
                            <a:srgbClr val="000000"/>
                          </a:solidFill>
                          <a:latin typeface="verdana"/>
                          <a:hlinkClick r:id="rId9"/>
                        </a:rPr>
                        <a:t>&lt;thead&gt;</a:t>
                      </a:r>
                      <a:endParaRPr lang="en-US" sz="1100">
                        <a:latin typeface="verdana"/>
                      </a:endParaRPr>
                    </a:p>
                  </a:txBody>
                  <a:tcPr marL="29313" marR="29313" marT="41039" marB="41039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100">
                          <a:latin typeface="verdana"/>
                        </a:rPr>
                        <a:t>Groups the header content in a table</a:t>
                      </a:r>
                    </a:p>
                  </a:txBody>
                  <a:tcPr marL="29313" marR="29313" marT="41039" marB="41039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</a:tr>
              <a:tr h="431383">
                <a:tc>
                  <a:txBody>
                    <a:bodyPr/>
                    <a:lstStyle/>
                    <a:p>
                      <a:pPr fontAlgn="t"/>
                      <a:r>
                        <a:rPr lang="en-US" sz="1100">
                          <a:solidFill>
                            <a:srgbClr val="000000"/>
                          </a:solidFill>
                          <a:latin typeface="verdana"/>
                          <a:hlinkClick r:id="rId10"/>
                        </a:rPr>
                        <a:t>&lt;tbody&gt;</a:t>
                      </a:r>
                      <a:endParaRPr lang="en-US" sz="1100">
                        <a:latin typeface="verdana"/>
                      </a:endParaRPr>
                    </a:p>
                  </a:txBody>
                  <a:tcPr marL="29313" marR="29313" marT="41039" marB="41039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100">
                          <a:latin typeface="verdana"/>
                        </a:rPr>
                        <a:t>Groups the body content in a table</a:t>
                      </a:r>
                    </a:p>
                  </a:txBody>
                  <a:tcPr marL="29313" marR="29313" marT="41039" marB="41039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1383">
                <a:tc>
                  <a:txBody>
                    <a:bodyPr/>
                    <a:lstStyle/>
                    <a:p>
                      <a:pPr fontAlgn="t"/>
                      <a:r>
                        <a:rPr lang="en-US" sz="1100">
                          <a:solidFill>
                            <a:srgbClr val="000000"/>
                          </a:solidFill>
                          <a:latin typeface="verdana"/>
                          <a:hlinkClick r:id="rId11"/>
                        </a:rPr>
                        <a:t>&lt;tfoot&gt;</a:t>
                      </a:r>
                      <a:endParaRPr lang="en-US" sz="1100">
                        <a:latin typeface="verdana"/>
                      </a:endParaRPr>
                    </a:p>
                  </a:txBody>
                  <a:tcPr marL="29313" marR="29313" marT="41039" marB="41039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100" dirty="0">
                          <a:latin typeface="verdana"/>
                        </a:rPr>
                        <a:t>Groups the footer content in a table</a:t>
                      </a:r>
                    </a:p>
                  </a:txBody>
                  <a:tcPr marL="29313" marR="29313" marT="41039" marB="41039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1043608" y="1105580"/>
            <a:ext cx="33843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2800" b="1" dirty="0" smtClean="0">
                <a:solidFill>
                  <a:schemeClr val="accent2"/>
                </a:solidFill>
              </a:rPr>
              <a:t>HTML  T</a:t>
            </a:r>
            <a:r>
              <a:rPr lang="en-US" sz="2800" b="1" dirty="0" smtClean="0">
                <a:solidFill>
                  <a:schemeClr val="accent2"/>
                </a:solidFill>
              </a:rPr>
              <a:t>a</a:t>
            </a:r>
            <a:r>
              <a:rPr lang="hy-AM" sz="2800" b="1" dirty="0" smtClean="0">
                <a:solidFill>
                  <a:schemeClr val="accent2"/>
                </a:solidFill>
              </a:rPr>
              <a:t>ble  Tags</a:t>
            </a:r>
            <a:endParaRPr lang="en-US" sz="2800" b="1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683568" y="260648"/>
            <a:ext cx="79208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HTML</a:t>
            </a:r>
            <a:r>
              <a:rPr lang="en-US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– </a:t>
            </a:r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Tables</a:t>
            </a:r>
            <a:endParaRPr lang="en-US" sz="4800" dirty="0" smtClean="0"/>
          </a:p>
        </p:txBody>
      </p:sp>
      <p:pic>
        <p:nvPicPr>
          <p:cNvPr id="13313" name="Picture 1" descr="C:\Users\Araik\Desktop\Untitled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1196752"/>
            <a:ext cx="3965903" cy="2376264"/>
          </a:xfrm>
          <a:prstGeom prst="rect">
            <a:avLst/>
          </a:prstGeom>
          <a:noFill/>
        </p:spPr>
      </p:pic>
      <p:sp>
        <p:nvSpPr>
          <p:cNvPr id="11" name="Rectangle 10"/>
          <p:cNvSpPr/>
          <p:nvPr/>
        </p:nvSpPr>
        <p:spPr>
          <a:xfrm>
            <a:off x="395536" y="3975447"/>
            <a:ext cx="536108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solidFill>
                  <a:schemeClr val="accent2"/>
                </a:solidFill>
              </a:rPr>
              <a:t>Tables are defined with the </a:t>
            </a:r>
            <a:r>
              <a:rPr lang="en-US" sz="2400" b="1" dirty="0" smtClean="0">
                <a:solidFill>
                  <a:srgbClr val="00B050"/>
                </a:solidFill>
              </a:rPr>
              <a:t>&lt;table&gt; </a:t>
            </a:r>
            <a:r>
              <a:rPr lang="en-US" sz="2400" b="1" dirty="0" smtClean="0">
                <a:solidFill>
                  <a:schemeClr val="accent2"/>
                </a:solidFill>
              </a:rPr>
              <a:t>tag.</a:t>
            </a:r>
            <a:endParaRPr lang="en-US" sz="2400" b="1" dirty="0">
              <a:solidFill>
                <a:schemeClr val="accent2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95536" y="4365104"/>
            <a:ext cx="784887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>
                <a:solidFill>
                  <a:schemeClr val="accent2"/>
                </a:solidFill>
              </a:rPr>
              <a:t>A table is divided into rows </a:t>
            </a:r>
            <a:r>
              <a:rPr lang="hy-AM" sz="2400" b="1" dirty="0" smtClean="0">
                <a:solidFill>
                  <a:schemeClr val="accent2"/>
                </a:solidFill>
              </a:rPr>
              <a:t>-</a:t>
            </a:r>
            <a:r>
              <a:rPr lang="en-US" sz="2400" b="1" dirty="0" smtClean="0">
                <a:solidFill>
                  <a:srgbClr val="00B050"/>
                </a:solidFill>
              </a:rPr>
              <a:t>&lt;</a:t>
            </a:r>
            <a:r>
              <a:rPr lang="en-US" sz="2400" b="1" dirty="0" err="1" smtClean="0">
                <a:solidFill>
                  <a:srgbClr val="00B050"/>
                </a:solidFill>
              </a:rPr>
              <a:t>tr</a:t>
            </a:r>
            <a:r>
              <a:rPr lang="en-US" sz="2400" b="1" dirty="0" smtClean="0">
                <a:solidFill>
                  <a:srgbClr val="00B050"/>
                </a:solidFill>
              </a:rPr>
              <a:t>&gt; </a:t>
            </a:r>
            <a:r>
              <a:rPr lang="en-US" sz="2400" b="1" dirty="0" smtClean="0">
                <a:solidFill>
                  <a:schemeClr val="accent2"/>
                </a:solidFill>
              </a:rPr>
              <a:t>tag</a:t>
            </a:r>
            <a:endParaRPr lang="hy-AM" sz="2400" b="1" dirty="0" smtClean="0">
              <a:solidFill>
                <a:schemeClr val="accent2"/>
              </a:solidFill>
            </a:endParaRPr>
          </a:p>
          <a:p>
            <a:r>
              <a:rPr lang="hy-AM" sz="2400" b="1" dirty="0" smtClean="0">
                <a:solidFill>
                  <a:schemeClr val="accent2"/>
                </a:solidFill>
              </a:rPr>
              <a:t>E</a:t>
            </a:r>
            <a:r>
              <a:rPr lang="en-US" sz="2400" b="1" dirty="0" smtClean="0">
                <a:solidFill>
                  <a:schemeClr val="accent2"/>
                </a:solidFill>
              </a:rPr>
              <a:t>ach row is divided into data cells </a:t>
            </a:r>
            <a:r>
              <a:rPr lang="hy-AM" sz="2400" b="1" dirty="0" smtClean="0">
                <a:solidFill>
                  <a:schemeClr val="accent2"/>
                </a:solidFill>
              </a:rPr>
              <a:t>-</a:t>
            </a:r>
            <a:r>
              <a:rPr lang="en-US" sz="2400" b="1" dirty="0" smtClean="0">
                <a:solidFill>
                  <a:srgbClr val="00B050"/>
                </a:solidFill>
              </a:rPr>
              <a:t>&lt;td&gt; </a:t>
            </a:r>
            <a:r>
              <a:rPr lang="en-US" sz="2400" b="1" dirty="0" smtClean="0">
                <a:solidFill>
                  <a:schemeClr val="accent2"/>
                </a:solidFill>
              </a:rPr>
              <a:t>tag</a:t>
            </a:r>
            <a:endParaRPr lang="en-US" sz="2400" b="1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67544" y="1339021"/>
            <a:ext cx="3168352" cy="3170099"/>
          </a:xfrm>
          <a:prstGeom prst="rect">
            <a:avLst/>
          </a:prstGeom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000" b="1" dirty="0" smtClean="0">
                <a:solidFill>
                  <a:srgbClr val="FF0000"/>
                </a:solidFill>
              </a:rPr>
              <a:t>&lt;table </a:t>
            </a:r>
            <a:r>
              <a:rPr lang="en-US" sz="2000" b="1" dirty="0" smtClean="0">
                <a:solidFill>
                  <a:srgbClr val="00B050"/>
                </a:solidFill>
              </a:rPr>
              <a:t>border="1"</a:t>
            </a:r>
            <a:r>
              <a:rPr lang="en-US" sz="2000" b="1" dirty="0" smtClean="0">
                <a:solidFill>
                  <a:srgbClr val="FF0000"/>
                </a:solidFill>
              </a:rPr>
              <a:t>&gt;</a:t>
            </a:r>
            <a:r>
              <a:rPr lang="en-US" sz="2000" b="1" dirty="0" smtClean="0"/>
              <a:t/>
            </a:r>
            <a:br>
              <a:rPr lang="en-US" sz="2000" b="1" dirty="0" smtClean="0"/>
            </a:br>
            <a:r>
              <a:rPr lang="en-US" sz="2000" b="1" dirty="0" smtClean="0">
                <a:solidFill>
                  <a:srgbClr val="7030A0"/>
                </a:solidFill>
              </a:rPr>
              <a:t>&lt;</a:t>
            </a:r>
            <a:r>
              <a:rPr lang="en-US" sz="2000" b="1" dirty="0" err="1" smtClean="0">
                <a:solidFill>
                  <a:srgbClr val="7030A0"/>
                </a:solidFill>
              </a:rPr>
              <a:t>tr</a:t>
            </a:r>
            <a:r>
              <a:rPr lang="en-US" sz="2000" b="1" dirty="0" smtClean="0">
                <a:solidFill>
                  <a:srgbClr val="7030A0"/>
                </a:solidFill>
              </a:rPr>
              <a:t>&gt;</a:t>
            </a:r>
            <a:r>
              <a:rPr lang="en-US" sz="2000" b="1" dirty="0" smtClean="0">
                <a:solidFill>
                  <a:srgbClr val="FF0000"/>
                </a:solidFill>
              </a:rPr>
              <a:t/>
            </a:r>
            <a:br>
              <a:rPr lang="en-US" sz="2000" b="1" dirty="0" smtClean="0">
                <a:solidFill>
                  <a:srgbClr val="FF0000"/>
                </a:solidFill>
              </a:rPr>
            </a:br>
            <a:r>
              <a:rPr lang="en-US" sz="2000" b="1" dirty="0" smtClean="0">
                <a:solidFill>
                  <a:srgbClr val="FF0000"/>
                </a:solidFill>
              </a:rPr>
              <a:t>&lt;td&gt;</a:t>
            </a:r>
            <a:r>
              <a:rPr lang="en-US" sz="2000" b="1" dirty="0" smtClean="0">
                <a:solidFill>
                  <a:schemeClr val="tx1"/>
                </a:solidFill>
              </a:rPr>
              <a:t>row 1, cell 1</a:t>
            </a:r>
            <a:r>
              <a:rPr lang="en-US" sz="2000" b="1" dirty="0" smtClean="0">
                <a:solidFill>
                  <a:srgbClr val="FF0000"/>
                </a:solidFill>
              </a:rPr>
              <a:t>&lt;/td&gt;</a:t>
            </a:r>
            <a:br>
              <a:rPr lang="en-US" sz="2000" b="1" dirty="0" smtClean="0">
                <a:solidFill>
                  <a:srgbClr val="FF0000"/>
                </a:solidFill>
              </a:rPr>
            </a:br>
            <a:r>
              <a:rPr lang="en-US" sz="2000" b="1" dirty="0" smtClean="0">
                <a:solidFill>
                  <a:srgbClr val="FF0000"/>
                </a:solidFill>
              </a:rPr>
              <a:t>&lt;td&gt;</a:t>
            </a:r>
            <a:r>
              <a:rPr lang="en-US" sz="2000" b="1" dirty="0" smtClean="0">
                <a:solidFill>
                  <a:schemeClr val="tx1"/>
                </a:solidFill>
              </a:rPr>
              <a:t>row 1, cell 2</a:t>
            </a:r>
            <a:r>
              <a:rPr lang="en-US" sz="2000" b="1" dirty="0" smtClean="0">
                <a:solidFill>
                  <a:srgbClr val="FF0000"/>
                </a:solidFill>
              </a:rPr>
              <a:t>&lt;/td&gt;</a:t>
            </a:r>
            <a:br>
              <a:rPr lang="en-US" sz="2000" b="1" dirty="0" smtClean="0">
                <a:solidFill>
                  <a:srgbClr val="FF0000"/>
                </a:solidFill>
              </a:rPr>
            </a:br>
            <a:r>
              <a:rPr lang="en-US" sz="2000" b="1" dirty="0" smtClean="0">
                <a:solidFill>
                  <a:srgbClr val="7030A0"/>
                </a:solidFill>
              </a:rPr>
              <a:t>&lt;/</a:t>
            </a:r>
            <a:r>
              <a:rPr lang="en-US" sz="2000" b="1" dirty="0" err="1" smtClean="0">
                <a:solidFill>
                  <a:srgbClr val="7030A0"/>
                </a:solidFill>
              </a:rPr>
              <a:t>tr</a:t>
            </a:r>
            <a:r>
              <a:rPr lang="en-US" sz="2000" b="1" dirty="0" smtClean="0">
                <a:solidFill>
                  <a:srgbClr val="7030A0"/>
                </a:solidFill>
              </a:rPr>
              <a:t>&gt;</a:t>
            </a:r>
            <a:r>
              <a:rPr lang="en-US" sz="2000" b="1" dirty="0" smtClean="0">
                <a:solidFill>
                  <a:srgbClr val="FF0000"/>
                </a:solidFill>
              </a:rPr>
              <a:t/>
            </a:r>
            <a:br>
              <a:rPr lang="en-US" sz="2000" b="1" dirty="0" smtClean="0">
                <a:solidFill>
                  <a:srgbClr val="FF0000"/>
                </a:solidFill>
              </a:rPr>
            </a:br>
            <a:r>
              <a:rPr lang="en-US" sz="2000" b="1" dirty="0" smtClean="0">
                <a:solidFill>
                  <a:srgbClr val="7030A0"/>
                </a:solidFill>
              </a:rPr>
              <a:t>&lt;</a:t>
            </a:r>
            <a:r>
              <a:rPr lang="en-US" sz="2000" b="1" dirty="0" err="1" smtClean="0">
                <a:solidFill>
                  <a:srgbClr val="7030A0"/>
                </a:solidFill>
              </a:rPr>
              <a:t>tr</a:t>
            </a:r>
            <a:r>
              <a:rPr lang="en-US" sz="2000" b="1" dirty="0" smtClean="0">
                <a:solidFill>
                  <a:srgbClr val="7030A0"/>
                </a:solidFill>
              </a:rPr>
              <a:t>&gt;</a:t>
            </a:r>
            <a:r>
              <a:rPr lang="en-US" sz="2000" b="1" dirty="0" smtClean="0">
                <a:solidFill>
                  <a:srgbClr val="FF0000"/>
                </a:solidFill>
              </a:rPr>
              <a:t/>
            </a:r>
            <a:br>
              <a:rPr lang="en-US" sz="2000" b="1" dirty="0" smtClean="0">
                <a:solidFill>
                  <a:srgbClr val="FF0000"/>
                </a:solidFill>
              </a:rPr>
            </a:br>
            <a:r>
              <a:rPr lang="en-US" sz="2000" b="1" dirty="0" smtClean="0">
                <a:solidFill>
                  <a:srgbClr val="FF0000"/>
                </a:solidFill>
              </a:rPr>
              <a:t>&lt;td&gt;</a:t>
            </a:r>
            <a:r>
              <a:rPr lang="en-US" sz="2000" b="1" dirty="0" smtClean="0">
                <a:solidFill>
                  <a:schemeClr val="tx1"/>
                </a:solidFill>
              </a:rPr>
              <a:t>row 2, cell 1</a:t>
            </a:r>
            <a:r>
              <a:rPr lang="en-US" sz="2000" b="1" dirty="0" smtClean="0">
                <a:solidFill>
                  <a:srgbClr val="FF0000"/>
                </a:solidFill>
              </a:rPr>
              <a:t>&lt;/td&gt;</a:t>
            </a:r>
            <a:br>
              <a:rPr lang="en-US" sz="2000" b="1" dirty="0" smtClean="0">
                <a:solidFill>
                  <a:srgbClr val="FF0000"/>
                </a:solidFill>
              </a:rPr>
            </a:br>
            <a:r>
              <a:rPr lang="en-US" sz="2000" b="1" dirty="0" smtClean="0">
                <a:solidFill>
                  <a:srgbClr val="FF0000"/>
                </a:solidFill>
              </a:rPr>
              <a:t>&lt;td&gt;</a:t>
            </a:r>
            <a:r>
              <a:rPr lang="en-US" sz="2000" b="1" dirty="0" smtClean="0">
                <a:solidFill>
                  <a:schemeClr val="tx1"/>
                </a:solidFill>
              </a:rPr>
              <a:t>row 2, cell 2</a:t>
            </a:r>
            <a:r>
              <a:rPr lang="en-US" sz="2000" b="1" dirty="0" smtClean="0">
                <a:solidFill>
                  <a:srgbClr val="FF0000"/>
                </a:solidFill>
              </a:rPr>
              <a:t>&lt;/td&gt;</a:t>
            </a:r>
            <a:r>
              <a:rPr lang="en-US" sz="2000" b="1" dirty="0" smtClean="0"/>
              <a:t/>
            </a:r>
            <a:br>
              <a:rPr lang="en-US" sz="2000" b="1" dirty="0" smtClean="0"/>
            </a:br>
            <a:r>
              <a:rPr lang="en-US" sz="2000" b="1" dirty="0" smtClean="0">
                <a:solidFill>
                  <a:srgbClr val="7030A0"/>
                </a:solidFill>
              </a:rPr>
              <a:t>&lt;/</a:t>
            </a:r>
            <a:r>
              <a:rPr lang="en-US" sz="2000" b="1" dirty="0" err="1" smtClean="0">
                <a:solidFill>
                  <a:srgbClr val="7030A0"/>
                </a:solidFill>
              </a:rPr>
              <a:t>tr</a:t>
            </a:r>
            <a:r>
              <a:rPr lang="en-US" sz="2000" b="1" dirty="0" smtClean="0">
                <a:solidFill>
                  <a:srgbClr val="7030A0"/>
                </a:solidFill>
              </a:rPr>
              <a:t>&gt;</a:t>
            </a:r>
            <a:r>
              <a:rPr lang="en-US" sz="2000" b="1" dirty="0" smtClean="0">
                <a:solidFill>
                  <a:srgbClr val="FF0000"/>
                </a:solidFill>
              </a:rPr>
              <a:t/>
            </a:r>
            <a:br>
              <a:rPr lang="en-US" sz="2000" b="1" dirty="0" smtClean="0">
                <a:solidFill>
                  <a:srgbClr val="FF0000"/>
                </a:solidFill>
              </a:rPr>
            </a:br>
            <a:r>
              <a:rPr lang="en-US" sz="2000" b="1" dirty="0" smtClean="0">
                <a:solidFill>
                  <a:srgbClr val="FF0000"/>
                </a:solidFill>
              </a:rPr>
              <a:t>&lt;/table&gt;</a:t>
            </a:r>
            <a:endParaRPr lang="en-US" sz="2000" b="1" dirty="0">
              <a:solidFill>
                <a:srgbClr val="FF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83568" y="260648"/>
            <a:ext cx="79208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HTML</a:t>
            </a:r>
            <a:r>
              <a:rPr lang="en-US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– </a:t>
            </a:r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Tables</a:t>
            </a:r>
            <a:endParaRPr lang="en-US" sz="4800" dirty="0" smtClean="0"/>
          </a:p>
        </p:txBody>
      </p:sp>
      <p:sp>
        <p:nvSpPr>
          <p:cNvPr id="7" name="Rectangle 6"/>
          <p:cNvSpPr/>
          <p:nvPr/>
        </p:nvSpPr>
        <p:spPr>
          <a:xfrm>
            <a:off x="1835696" y="4941168"/>
            <a:ext cx="676875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 smtClean="0">
                <a:solidFill>
                  <a:schemeClr val="accent2"/>
                </a:solidFill>
              </a:rPr>
              <a:t>To display a table with borders, specify the border attribute</a:t>
            </a:r>
            <a:r>
              <a:rPr lang="hy-AM" sz="2000" b="1" dirty="0" smtClean="0">
                <a:solidFill>
                  <a:schemeClr val="accent2"/>
                </a:solidFill>
              </a:rPr>
              <a:t>.</a:t>
            </a:r>
            <a:endParaRPr lang="en-US" sz="2000" b="1" dirty="0">
              <a:solidFill>
                <a:schemeClr val="accent2"/>
              </a:solidFill>
            </a:endParaRPr>
          </a:p>
        </p:txBody>
      </p:sp>
      <p:pic>
        <p:nvPicPr>
          <p:cNvPr id="12289" name="Picture 1" descr="C:\Users\Araik\Desktop\Untitled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499992" y="2492896"/>
            <a:ext cx="3024336" cy="885579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83568" y="260648"/>
            <a:ext cx="79208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HTML</a:t>
            </a:r>
            <a:r>
              <a:rPr lang="en-US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– </a:t>
            </a:r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Tables</a:t>
            </a:r>
            <a:endParaRPr lang="en-US" sz="4800" dirty="0" smtClean="0"/>
          </a:p>
        </p:txBody>
      </p:sp>
      <p:sp>
        <p:nvSpPr>
          <p:cNvPr id="18" name="TextBox 17"/>
          <p:cNvSpPr txBox="1"/>
          <p:nvPr/>
        </p:nvSpPr>
        <p:spPr>
          <a:xfrm>
            <a:off x="251520" y="1052736"/>
            <a:ext cx="45365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32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Table Headers:</a:t>
            </a:r>
            <a:endParaRPr lang="en-US" sz="3200" dirty="0" smtClean="0"/>
          </a:p>
        </p:txBody>
      </p:sp>
      <p:sp>
        <p:nvSpPr>
          <p:cNvPr id="19" name="Rectangle 18"/>
          <p:cNvSpPr/>
          <p:nvPr/>
        </p:nvSpPr>
        <p:spPr>
          <a:xfrm>
            <a:off x="395536" y="1916832"/>
            <a:ext cx="316835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>
                <a:solidFill>
                  <a:schemeClr val="accent2"/>
                </a:solidFill>
              </a:rPr>
              <a:t>Header information in a table are defined with the </a:t>
            </a:r>
            <a:r>
              <a:rPr lang="en-US" sz="2400" b="1" dirty="0" smtClean="0">
                <a:solidFill>
                  <a:srgbClr val="00B050"/>
                </a:solidFill>
              </a:rPr>
              <a:t>&lt;</a:t>
            </a:r>
            <a:r>
              <a:rPr lang="en-US" sz="2400" b="1" dirty="0" err="1" smtClean="0">
                <a:solidFill>
                  <a:srgbClr val="00B050"/>
                </a:solidFill>
              </a:rPr>
              <a:t>th</a:t>
            </a:r>
            <a:r>
              <a:rPr lang="en-US" sz="2400" b="1" dirty="0" smtClean="0">
                <a:solidFill>
                  <a:srgbClr val="00B050"/>
                </a:solidFill>
              </a:rPr>
              <a:t>&gt; </a:t>
            </a:r>
            <a:r>
              <a:rPr lang="en-US" sz="2400" b="1" dirty="0" smtClean="0">
                <a:solidFill>
                  <a:schemeClr val="accent2"/>
                </a:solidFill>
              </a:rPr>
              <a:t>tag.</a:t>
            </a:r>
            <a:endParaRPr lang="en-US" sz="2400" b="1" dirty="0">
              <a:solidFill>
                <a:schemeClr val="accent2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4211960" y="1700808"/>
            <a:ext cx="3168352" cy="4401205"/>
          </a:xfrm>
          <a:prstGeom prst="rect">
            <a:avLst/>
          </a:prstGeom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000" b="1" dirty="0" smtClean="0">
                <a:solidFill>
                  <a:srgbClr val="FF0000"/>
                </a:solidFill>
              </a:rPr>
              <a:t>&lt;table </a:t>
            </a:r>
            <a:r>
              <a:rPr lang="en-US" sz="2000" b="1" dirty="0" smtClean="0">
                <a:solidFill>
                  <a:srgbClr val="00B050"/>
                </a:solidFill>
              </a:rPr>
              <a:t>border="1"</a:t>
            </a:r>
            <a:r>
              <a:rPr lang="en-US" sz="2000" b="1" dirty="0" smtClean="0">
                <a:solidFill>
                  <a:srgbClr val="FF0000"/>
                </a:solidFill>
              </a:rPr>
              <a:t>&gt;</a:t>
            </a:r>
            <a:endParaRPr lang="hy-AM" sz="2000" b="1" dirty="0" smtClean="0">
              <a:solidFill>
                <a:srgbClr val="FF0000"/>
              </a:solidFill>
            </a:endParaRPr>
          </a:p>
          <a:p>
            <a:r>
              <a:rPr lang="en-US" sz="2000" b="1" dirty="0" smtClean="0">
                <a:solidFill>
                  <a:srgbClr val="7030A0"/>
                </a:solidFill>
              </a:rPr>
              <a:t>&lt;</a:t>
            </a:r>
            <a:r>
              <a:rPr lang="en-US" sz="2000" b="1" dirty="0" err="1" smtClean="0">
                <a:solidFill>
                  <a:srgbClr val="7030A0"/>
                </a:solidFill>
              </a:rPr>
              <a:t>tr</a:t>
            </a:r>
            <a:r>
              <a:rPr lang="en-US" sz="2000" b="1" dirty="0" smtClean="0">
                <a:solidFill>
                  <a:srgbClr val="7030A0"/>
                </a:solidFill>
              </a:rPr>
              <a:t>&gt;</a:t>
            </a:r>
            <a:r>
              <a:rPr lang="en-US" sz="2000" b="1" dirty="0" smtClean="0"/>
              <a:t/>
            </a:r>
            <a:br>
              <a:rPr lang="en-US" sz="2000" b="1" dirty="0" smtClean="0"/>
            </a:br>
            <a:r>
              <a:rPr lang="en-US" sz="2000" b="1" dirty="0" smtClean="0">
                <a:solidFill>
                  <a:srgbClr val="0070C0"/>
                </a:solidFill>
              </a:rPr>
              <a:t>&lt;</a:t>
            </a:r>
            <a:r>
              <a:rPr lang="en-US" sz="2000" b="1" dirty="0" err="1" smtClean="0">
                <a:solidFill>
                  <a:srgbClr val="0070C0"/>
                </a:solidFill>
              </a:rPr>
              <a:t>th</a:t>
            </a:r>
            <a:r>
              <a:rPr lang="en-US" sz="2000" b="1" dirty="0" smtClean="0">
                <a:solidFill>
                  <a:srgbClr val="0070C0"/>
                </a:solidFill>
              </a:rPr>
              <a:t>&gt;</a:t>
            </a:r>
            <a:r>
              <a:rPr lang="en-US" sz="2000" b="1" dirty="0" smtClean="0">
                <a:solidFill>
                  <a:schemeClr val="tx1"/>
                </a:solidFill>
              </a:rPr>
              <a:t>Header 1</a:t>
            </a:r>
            <a:r>
              <a:rPr lang="en-US" sz="2000" b="1" dirty="0" smtClean="0">
                <a:solidFill>
                  <a:srgbClr val="0070C0"/>
                </a:solidFill>
              </a:rPr>
              <a:t>&lt;/</a:t>
            </a:r>
            <a:r>
              <a:rPr lang="en-US" sz="2000" b="1" dirty="0" err="1" smtClean="0">
                <a:solidFill>
                  <a:srgbClr val="0070C0"/>
                </a:solidFill>
              </a:rPr>
              <a:t>th</a:t>
            </a:r>
            <a:r>
              <a:rPr lang="en-US" sz="2000" b="1" dirty="0" smtClean="0">
                <a:solidFill>
                  <a:srgbClr val="0070C0"/>
                </a:solidFill>
              </a:rPr>
              <a:t>&gt;</a:t>
            </a:r>
            <a:br>
              <a:rPr lang="en-US" sz="2000" b="1" dirty="0" smtClean="0">
                <a:solidFill>
                  <a:srgbClr val="0070C0"/>
                </a:solidFill>
              </a:rPr>
            </a:br>
            <a:r>
              <a:rPr lang="en-US" sz="2000" b="1" dirty="0" smtClean="0">
                <a:solidFill>
                  <a:srgbClr val="0070C0"/>
                </a:solidFill>
              </a:rPr>
              <a:t>&lt;</a:t>
            </a:r>
            <a:r>
              <a:rPr lang="en-US" sz="2000" b="1" dirty="0" err="1" smtClean="0">
                <a:solidFill>
                  <a:srgbClr val="0070C0"/>
                </a:solidFill>
              </a:rPr>
              <a:t>th</a:t>
            </a:r>
            <a:r>
              <a:rPr lang="en-US" sz="2000" b="1" dirty="0" smtClean="0">
                <a:solidFill>
                  <a:srgbClr val="0070C0"/>
                </a:solidFill>
              </a:rPr>
              <a:t>&gt;</a:t>
            </a:r>
            <a:r>
              <a:rPr lang="en-US" sz="2000" b="1" dirty="0" smtClean="0">
                <a:solidFill>
                  <a:schemeClr val="tx1"/>
                </a:solidFill>
              </a:rPr>
              <a:t>Header 2</a:t>
            </a:r>
            <a:r>
              <a:rPr lang="en-US" sz="2000" b="1" dirty="0" smtClean="0">
                <a:solidFill>
                  <a:srgbClr val="0070C0"/>
                </a:solidFill>
              </a:rPr>
              <a:t>&lt;/</a:t>
            </a:r>
            <a:r>
              <a:rPr lang="en-US" sz="2000" b="1" dirty="0" err="1" smtClean="0">
                <a:solidFill>
                  <a:srgbClr val="0070C0"/>
                </a:solidFill>
              </a:rPr>
              <a:t>th</a:t>
            </a:r>
            <a:r>
              <a:rPr lang="en-US" sz="2000" b="1" dirty="0" smtClean="0">
                <a:solidFill>
                  <a:srgbClr val="0070C0"/>
                </a:solidFill>
              </a:rPr>
              <a:t>&gt;</a:t>
            </a:r>
            <a:r>
              <a:rPr lang="en-US" sz="2000" b="1" dirty="0" smtClean="0"/>
              <a:t/>
            </a:r>
            <a:br>
              <a:rPr lang="en-US" sz="2000" b="1" dirty="0" smtClean="0"/>
            </a:br>
            <a:r>
              <a:rPr lang="en-US" sz="2000" b="1" dirty="0" smtClean="0">
                <a:solidFill>
                  <a:srgbClr val="7030A0"/>
                </a:solidFill>
              </a:rPr>
              <a:t>&lt;/</a:t>
            </a:r>
            <a:r>
              <a:rPr lang="en-US" sz="2000" b="1" dirty="0" err="1" smtClean="0">
                <a:solidFill>
                  <a:srgbClr val="7030A0"/>
                </a:solidFill>
              </a:rPr>
              <a:t>tr</a:t>
            </a:r>
            <a:r>
              <a:rPr lang="en-US" sz="2000" b="1" dirty="0" smtClean="0">
                <a:solidFill>
                  <a:srgbClr val="7030A0"/>
                </a:solidFill>
              </a:rPr>
              <a:t>&gt; </a:t>
            </a:r>
            <a:r>
              <a:rPr lang="en-US" sz="2000" b="1" dirty="0" smtClean="0"/>
              <a:t/>
            </a:r>
            <a:br>
              <a:rPr lang="en-US" sz="2000" b="1" dirty="0" smtClean="0"/>
            </a:br>
            <a:r>
              <a:rPr lang="en-US" sz="2000" b="1" dirty="0" smtClean="0">
                <a:solidFill>
                  <a:srgbClr val="7030A0"/>
                </a:solidFill>
              </a:rPr>
              <a:t>&lt;</a:t>
            </a:r>
            <a:r>
              <a:rPr lang="en-US" sz="2000" b="1" dirty="0" err="1" smtClean="0">
                <a:solidFill>
                  <a:srgbClr val="7030A0"/>
                </a:solidFill>
              </a:rPr>
              <a:t>tr</a:t>
            </a:r>
            <a:r>
              <a:rPr lang="en-US" sz="2000" b="1" dirty="0" smtClean="0">
                <a:solidFill>
                  <a:srgbClr val="7030A0"/>
                </a:solidFill>
              </a:rPr>
              <a:t>&gt;</a:t>
            </a:r>
            <a:r>
              <a:rPr lang="en-US" sz="2000" b="1" dirty="0" smtClean="0">
                <a:solidFill>
                  <a:srgbClr val="FF0000"/>
                </a:solidFill>
              </a:rPr>
              <a:t/>
            </a:r>
            <a:br>
              <a:rPr lang="en-US" sz="2000" b="1" dirty="0" smtClean="0">
                <a:solidFill>
                  <a:srgbClr val="FF0000"/>
                </a:solidFill>
              </a:rPr>
            </a:br>
            <a:r>
              <a:rPr lang="en-US" sz="2000" b="1" dirty="0" smtClean="0">
                <a:solidFill>
                  <a:srgbClr val="FF0000"/>
                </a:solidFill>
              </a:rPr>
              <a:t>&lt;td&gt;</a:t>
            </a:r>
            <a:r>
              <a:rPr lang="en-US" sz="2000" b="1" dirty="0" smtClean="0">
                <a:solidFill>
                  <a:schemeClr val="tx1"/>
                </a:solidFill>
              </a:rPr>
              <a:t>row 1, cell 1</a:t>
            </a:r>
            <a:r>
              <a:rPr lang="en-US" sz="2000" b="1" dirty="0" smtClean="0">
                <a:solidFill>
                  <a:srgbClr val="FF0000"/>
                </a:solidFill>
              </a:rPr>
              <a:t>&lt;/td&gt;</a:t>
            </a:r>
            <a:br>
              <a:rPr lang="en-US" sz="2000" b="1" dirty="0" smtClean="0">
                <a:solidFill>
                  <a:srgbClr val="FF0000"/>
                </a:solidFill>
              </a:rPr>
            </a:br>
            <a:r>
              <a:rPr lang="en-US" sz="2000" b="1" dirty="0" smtClean="0">
                <a:solidFill>
                  <a:srgbClr val="FF0000"/>
                </a:solidFill>
              </a:rPr>
              <a:t>&lt;td&gt;</a:t>
            </a:r>
            <a:r>
              <a:rPr lang="en-US" sz="2000" b="1" dirty="0" smtClean="0">
                <a:solidFill>
                  <a:schemeClr val="tx1"/>
                </a:solidFill>
              </a:rPr>
              <a:t>row 1, cell 2</a:t>
            </a:r>
            <a:r>
              <a:rPr lang="en-US" sz="2000" b="1" dirty="0" smtClean="0">
                <a:solidFill>
                  <a:srgbClr val="FF0000"/>
                </a:solidFill>
              </a:rPr>
              <a:t>&lt;/td&gt;</a:t>
            </a:r>
            <a:br>
              <a:rPr lang="en-US" sz="2000" b="1" dirty="0" smtClean="0">
                <a:solidFill>
                  <a:srgbClr val="FF0000"/>
                </a:solidFill>
              </a:rPr>
            </a:br>
            <a:r>
              <a:rPr lang="en-US" sz="2000" b="1" dirty="0" smtClean="0">
                <a:solidFill>
                  <a:srgbClr val="7030A0"/>
                </a:solidFill>
              </a:rPr>
              <a:t>&lt;/</a:t>
            </a:r>
            <a:r>
              <a:rPr lang="en-US" sz="2000" b="1" dirty="0" err="1" smtClean="0">
                <a:solidFill>
                  <a:srgbClr val="7030A0"/>
                </a:solidFill>
              </a:rPr>
              <a:t>tr</a:t>
            </a:r>
            <a:r>
              <a:rPr lang="en-US" sz="2000" b="1" dirty="0" smtClean="0">
                <a:solidFill>
                  <a:srgbClr val="7030A0"/>
                </a:solidFill>
              </a:rPr>
              <a:t>&gt;</a:t>
            </a:r>
            <a:r>
              <a:rPr lang="en-US" sz="2000" b="1" dirty="0" smtClean="0">
                <a:solidFill>
                  <a:srgbClr val="FF0000"/>
                </a:solidFill>
              </a:rPr>
              <a:t/>
            </a:r>
            <a:br>
              <a:rPr lang="en-US" sz="2000" b="1" dirty="0" smtClean="0">
                <a:solidFill>
                  <a:srgbClr val="FF0000"/>
                </a:solidFill>
              </a:rPr>
            </a:br>
            <a:r>
              <a:rPr lang="en-US" sz="2000" b="1" dirty="0" smtClean="0">
                <a:solidFill>
                  <a:srgbClr val="7030A0"/>
                </a:solidFill>
              </a:rPr>
              <a:t>&lt;</a:t>
            </a:r>
            <a:r>
              <a:rPr lang="en-US" sz="2000" b="1" dirty="0" err="1" smtClean="0">
                <a:solidFill>
                  <a:srgbClr val="7030A0"/>
                </a:solidFill>
              </a:rPr>
              <a:t>tr</a:t>
            </a:r>
            <a:r>
              <a:rPr lang="en-US" sz="2000" b="1" dirty="0" smtClean="0">
                <a:solidFill>
                  <a:srgbClr val="7030A0"/>
                </a:solidFill>
              </a:rPr>
              <a:t>&gt;</a:t>
            </a:r>
            <a:r>
              <a:rPr lang="en-US" sz="2000" b="1" dirty="0" smtClean="0">
                <a:solidFill>
                  <a:srgbClr val="FF0000"/>
                </a:solidFill>
              </a:rPr>
              <a:t/>
            </a:r>
            <a:br>
              <a:rPr lang="en-US" sz="2000" b="1" dirty="0" smtClean="0">
                <a:solidFill>
                  <a:srgbClr val="FF0000"/>
                </a:solidFill>
              </a:rPr>
            </a:br>
            <a:r>
              <a:rPr lang="en-US" sz="2000" b="1" dirty="0" smtClean="0">
                <a:solidFill>
                  <a:srgbClr val="FF0000"/>
                </a:solidFill>
              </a:rPr>
              <a:t>&lt;td&gt;</a:t>
            </a:r>
            <a:r>
              <a:rPr lang="en-US" sz="2000" b="1" dirty="0" smtClean="0">
                <a:solidFill>
                  <a:schemeClr val="tx1"/>
                </a:solidFill>
              </a:rPr>
              <a:t>row 2, cell 1</a:t>
            </a:r>
            <a:r>
              <a:rPr lang="en-US" sz="2000" b="1" dirty="0" smtClean="0">
                <a:solidFill>
                  <a:srgbClr val="FF0000"/>
                </a:solidFill>
              </a:rPr>
              <a:t>&lt;/td&gt;</a:t>
            </a:r>
            <a:br>
              <a:rPr lang="en-US" sz="2000" b="1" dirty="0" smtClean="0">
                <a:solidFill>
                  <a:srgbClr val="FF0000"/>
                </a:solidFill>
              </a:rPr>
            </a:br>
            <a:r>
              <a:rPr lang="en-US" sz="2000" b="1" dirty="0" smtClean="0">
                <a:solidFill>
                  <a:srgbClr val="FF0000"/>
                </a:solidFill>
              </a:rPr>
              <a:t>&lt;td&gt;</a:t>
            </a:r>
            <a:r>
              <a:rPr lang="en-US" sz="2000" b="1" dirty="0" smtClean="0">
                <a:solidFill>
                  <a:schemeClr val="tx1"/>
                </a:solidFill>
              </a:rPr>
              <a:t>row 2, cell 2</a:t>
            </a:r>
            <a:r>
              <a:rPr lang="en-US" sz="2000" b="1" dirty="0" smtClean="0">
                <a:solidFill>
                  <a:srgbClr val="FF0000"/>
                </a:solidFill>
              </a:rPr>
              <a:t>&lt;/td&gt;</a:t>
            </a:r>
            <a:r>
              <a:rPr lang="en-US" sz="2000" b="1" dirty="0" smtClean="0"/>
              <a:t/>
            </a:r>
            <a:br>
              <a:rPr lang="en-US" sz="2000" b="1" dirty="0" smtClean="0"/>
            </a:br>
            <a:r>
              <a:rPr lang="en-US" sz="2000" b="1" dirty="0" smtClean="0">
                <a:solidFill>
                  <a:srgbClr val="7030A0"/>
                </a:solidFill>
              </a:rPr>
              <a:t>&lt;/</a:t>
            </a:r>
            <a:r>
              <a:rPr lang="en-US" sz="2000" b="1" dirty="0" err="1" smtClean="0">
                <a:solidFill>
                  <a:srgbClr val="7030A0"/>
                </a:solidFill>
              </a:rPr>
              <a:t>tr</a:t>
            </a:r>
            <a:r>
              <a:rPr lang="en-US" sz="2000" b="1" dirty="0" smtClean="0">
                <a:solidFill>
                  <a:srgbClr val="7030A0"/>
                </a:solidFill>
              </a:rPr>
              <a:t>&gt;</a:t>
            </a:r>
            <a:r>
              <a:rPr lang="en-US" sz="2000" b="1" dirty="0" smtClean="0">
                <a:solidFill>
                  <a:srgbClr val="FF0000"/>
                </a:solidFill>
              </a:rPr>
              <a:t/>
            </a:r>
            <a:br>
              <a:rPr lang="en-US" sz="2000" b="1" dirty="0" smtClean="0">
                <a:solidFill>
                  <a:srgbClr val="FF0000"/>
                </a:solidFill>
              </a:rPr>
            </a:br>
            <a:r>
              <a:rPr lang="en-US" sz="2000" b="1" dirty="0" smtClean="0">
                <a:solidFill>
                  <a:srgbClr val="FF0000"/>
                </a:solidFill>
              </a:rPr>
              <a:t>&lt;/table&gt;</a:t>
            </a:r>
            <a:endParaRPr lang="en-US" sz="2000" b="1" dirty="0">
              <a:solidFill>
                <a:srgbClr val="FF0000"/>
              </a:solidFill>
            </a:endParaRPr>
          </a:p>
        </p:txBody>
      </p:sp>
      <p:pic>
        <p:nvPicPr>
          <p:cNvPr id="11265" name="Picture 1" descr="C:\Users\Araik\Desktop\Untitled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2" y="4077072"/>
            <a:ext cx="2421603" cy="1067147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83568" y="260648"/>
            <a:ext cx="79208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HTML</a:t>
            </a:r>
            <a:r>
              <a:rPr lang="en-US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– </a:t>
            </a:r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Tables</a:t>
            </a:r>
            <a:endParaRPr lang="en-US" sz="4800" dirty="0" smtClean="0"/>
          </a:p>
        </p:txBody>
      </p:sp>
      <p:sp>
        <p:nvSpPr>
          <p:cNvPr id="18" name="TextBox 17"/>
          <p:cNvSpPr txBox="1"/>
          <p:nvPr/>
        </p:nvSpPr>
        <p:spPr>
          <a:xfrm>
            <a:off x="251520" y="1052736"/>
            <a:ext cx="45365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32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Table Captions:</a:t>
            </a:r>
            <a:endParaRPr lang="en-US" sz="3200" dirty="0" smtClean="0"/>
          </a:p>
        </p:txBody>
      </p:sp>
      <p:sp>
        <p:nvSpPr>
          <p:cNvPr id="21" name="Rectangle 20"/>
          <p:cNvSpPr/>
          <p:nvPr/>
        </p:nvSpPr>
        <p:spPr>
          <a:xfrm>
            <a:off x="4286248" y="1556792"/>
            <a:ext cx="4643470" cy="4708981"/>
          </a:xfrm>
          <a:prstGeom prst="rect">
            <a:avLst/>
          </a:prstGeom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000" b="1" dirty="0" smtClean="0">
                <a:solidFill>
                  <a:srgbClr val="FF0000"/>
                </a:solidFill>
              </a:rPr>
              <a:t>&lt;table </a:t>
            </a:r>
            <a:r>
              <a:rPr lang="en-US" sz="2000" b="1" dirty="0" smtClean="0">
                <a:solidFill>
                  <a:srgbClr val="00B050"/>
                </a:solidFill>
              </a:rPr>
              <a:t>border="1"</a:t>
            </a:r>
            <a:r>
              <a:rPr lang="hy-AM" sz="2000" b="1" dirty="0" smtClean="0">
                <a:solidFill>
                  <a:srgbClr val="00B050"/>
                </a:solidFill>
              </a:rPr>
              <a:t>  width=</a:t>
            </a:r>
            <a:r>
              <a:rPr lang="en-US" sz="2000" b="1" dirty="0" smtClean="0">
                <a:solidFill>
                  <a:srgbClr val="00B050"/>
                </a:solidFill>
              </a:rPr>
              <a:t>"</a:t>
            </a:r>
            <a:r>
              <a:rPr lang="hy-AM" sz="2000" b="1" dirty="0" smtClean="0">
                <a:solidFill>
                  <a:srgbClr val="00B050"/>
                </a:solidFill>
              </a:rPr>
              <a:t>450</a:t>
            </a:r>
            <a:r>
              <a:rPr lang="en-US" sz="2000" b="1" dirty="0" smtClean="0">
                <a:solidFill>
                  <a:srgbClr val="00B050"/>
                </a:solidFill>
              </a:rPr>
              <a:t>"</a:t>
            </a:r>
            <a:r>
              <a:rPr lang="en-US" sz="2000" b="1" dirty="0" smtClean="0">
                <a:solidFill>
                  <a:srgbClr val="FF0000"/>
                </a:solidFill>
              </a:rPr>
              <a:t>&gt;</a:t>
            </a:r>
            <a:endParaRPr lang="hy-AM" sz="2000" b="1" dirty="0" smtClean="0">
              <a:solidFill>
                <a:srgbClr val="FF0000"/>
              </a:solidFill>
            </a:endParaRPr>
          </a:p>
          <a:p>
            <a:r>
              <a:rPr lang="hy-AM" sz="2000" b="1" dirty="0" smtClean="0">
                <a:solidFill>
                  <a:srgbClr val="C00000"/>
                </a:solidFill>
              </a:rPr>
              <a:t>&lt;caption&gt;</a:t>
            </a:r>
            <a:r>
              <a:rPr lang="en-US" sz="2000" b="1" dirty="0" smtClean="0">
                <a:solidFill>
                  <a:schemeClr val="tx1"/>
                </a:solidFill>
              </a:rPr>
              <a:t>Monthly savings</a:t>
            </a:r>
            <a:r>
              <a:rPr lang="hy-AM" sz="2000" b="1" dirty="0" smtClean="0">
                <a:solidFill>
                  <a:srgbClr val="C00000"/>
                </a:solidFill>
              </a:rPr>
              <a:t>&lt;/caption&gt;</a:t>
            </a:r>
          </a:p>
          <a:p>
            <a:r>
              <a:rPr lang="en-US" sz="2000" b="1" dirty="0" smtClean="0">
                <a:solidFill>
                  <a:srgbClr val="7030A0"/>
                </a:solidFill>
              </a:rPr>
              <a:t>&lt;</a:t>
            </a:r>
            <a:r>
              <a:rPr lang="en-US" sz="2000" b="1" dirty="0" err="1" smtClean="0">
                <a:solidFill>
                  <a:srgbClr val="7030A0"/>
                </a:solidFill>
              </a:rPr>
              <a:t>tr</a:t>
            </a:r>
            <a:r>
              <a:rPr lang="en-US" sz="2000" b="1" dirty="0" smtClean="0">
                <a:solidFill>
                  <a:srgbClr val="7030A0"/>
                </a:solidFill>
              </a:rPr>
              <a:t>&gt;</a:t>
            </a:r>
            <a:r>
              <a:rPr lang="en-US" sz="2000" b="1" dirty="0" smtClean="0"/>
              <a:t/>
            </a:r>
            <a:br>
              <a:rPr lang="en-US" sz="2000" b="1" dirty="0" smtClean="0"/>
            </a:br>
            <a:r>
              <a:rPr lang="en-US" sz="2000" b="1" dirty="0" smtClean="0">
                <a:solidFill>
                  <a:srgbClr val="0070C0"/>
                </a:solidFill>
              </a:rPr>
              <a:t>&lt;</a:t>
            </a:r>
            <a:r>
              <a:rPr lang="en-US" sz="2000" b="1" dirty="0" err="1" smtClean="0">
                <a:solidFill>
                  <a:srgbClr val="0070C0"/>
                </a:solidFill>
              </a:rPr>
              <a:t>th</a:t>
            </a:r>
            <a:r>
              <a:rPr lang="en-US" sz="2000" b="1" dirty="0" smtClean="0">
                <a:solidFill>
                  <a:srgbClr val="0070C0"/>
                </a:solidFill>
              </a:rPr>
              <a:t>&gt;</a:t>
            </a:r>
            <a:r>
              <a:rPr lang="en-US" sz="2000" b="1" dirty="0" smtClean="0">
                <a:solidFill>
                  <a:schemeClr val="tx1"/>
                </a:solidFill>
              </a:rPr>
              <a:t>Month</a:t>
            </a:r>
            <a:r>
              <a:rPr lang="en-US" sz="2000" b="1" dirty="0" smtClean="0">
                <a:solidFill>
                  <a:srgbClr val="0070C0"/>
                </a:solidFill>
              </a:rPr>
              <a:t>&lt;/</a:t>
            </a:r>
            <a:r>
              <a:rPr lang="en-US" sz="2000" b="1" dirty="0" err="1" smtClean="0">
                <a:solidFill>
                  <a:srgbClr val="0070C0"/>
                </a:solidFill>
              </a:rPr>
              <a:t>th</a:t>
            </a:r>
            <a:r>
              <a:rPr lang="en-US" sz="2000" b="1" dirty="0" smtClean="0">
                <a:solidFill>
                  <a:srgbClr val="0070C0"/>
                </a:solidFill>
              </a:rPr>
              <a:t>&gt;</a:t>
            </a:r>
            <a:br>
              <a:rPr lang="en-US" sz="2000" b="1" dirty="0" smtClean="0">
                <a:solidFill>
                  <a:srgbClr val="0070C0"/>
                </a:solidFill>
              </a:rPr>
            </a:br>
            <a:r>
              <a:rPr lang="en-US" sz="2000" b="1" dirty="0" smtClean="0">
                <a:solidFill>
                  <a:srgbClr val="0070C0"/>
                </a:solidFill>
              </a:rPr>
              <a:t>&lt;</a:t>
            </a:r>
            <a:r>
              <a:rPr lang="en-US" sz="2000" b="1" dirty="0" err="1" smtClean="0">
                <a:solidFill>
                  <a:srgbClr val="0070C0"/>
                </a:solidFill>
              </a:rPr>
              <a:t>th</a:t>
            </a:r>
            <a:r>
              <a:rPr lang="en-US" sz="2000" b="1" dirty="0" smtClean="0">
                <a:solidFill>
                  <a:srgbClr val="0070C0"/>
                </a:solidFill>
              </a:rPr>
              <a:t>&gt;  </a:t>
            </a:r>
            <a:r>
              <a:rPr lang="en-US" sz="2000" b="1" dirty="0" smtClean="0">
                <a:solidFill>
                  <a:schemeClr val="tx1"/>
                </a:solidFill>
              </a:rPr>
              <a:t>Savings</a:t>
            </a:r>
            <a:r>
              <a:rPr lang="en-US" sz="2000" b="1" dirty="0" smtClean="0">
                <a:solidFill>
                  <a:srgbClr val="0070C0"/>
                </a:solidFill>
              </a:rPr>
              <a:t>  &lt;/</a:t>
            </a:r>
            <a:r>
              <a:rPr lang="en-US" sz="2000" b="1" dirty="0" err="1" smtClean="0">
                <a:solidFill>
                  <a:srgbClr val="0070C0"/>
                </a:solidFill>
              </a:rPr>
              <a:t>th</a:t>
            </a:r>
            <a:r>
              <a:rPr lang="en-US" sz="2000" b="1" dirty="0" smtClean="0">
                <a:solidFill>
                  <a:srgbClr val="0070C0"/>
                </a:solidFill>
              </a:rPr>
              <a:t>&gt;</a:t>
            </a:r>
            <a:r>
              <a:rPr lang="en-US" sz="2000" b="1" dirty="0" smtClean="0"/>
              <a:t/>
            </a:r>
            <a:br>
              <a:rPr lang="en-US" sz="2000" b="1" dirty="0" smtClean="0"/>
            </a:br>
            <a:r>
              <a:rPr lang="en-US" sz="2000" b="1" dirty="0" smtClean="0">
                <a:solidFill>
                  <a:srgbClr val="7030A0"/>
                </a:solidFill>
              </a:rPr>
              <a:t>&lt;/</a:t>
            </a:r>
            <a:r>
              <a:rPr lang="en-US" sz="2000" b="1" dirty="0" err="1" smtClean="0">
                <a:solidFill>
                  <a:srgbClr val="7030A0"/>
                </a:solidFill>
              </a:rPr>
              <a:t>tr</a:t>
            </a:r>
            <a:r>
              <a:rPr lang="en-US" sz="2000" b="1" dirty="0" smtClean="0">
                <a:solidFill>
                  <a:srgbClr val="7030A0"/>
                </a:solidFill>
              </a:rPr>
              <a:t>&gt; </a:t>
            </a:r>
            <a:r>
              <a:rPr lang="en-US" sz="2000" b="1" dirty="0" smtClean="0"/>
              <a:t/>
            </a:r>
            <a:br>
              <a:rPr lang="en-US" sz="2000" b="1" dirty="0" smtClean="0"/>
            </a:br>
            <a:r>
              <a:rPr lang="en-US" sz="2000" b="1" dirty="0" smtClean="0">
                <a:solidFill>
                  <a:srgbClr val="7030A0"/>
                </a:solidFill>
              </a:rPr>
              <a:t>&lt;</a:t>
            </a:r>
            <a:r>
              <a:rPr lang="en-US" sz="2000" b="1" dirty="0" err="1" smtClean="0">
                <a:solidFill>
                  <a:srgbClr val="7030A0"/>
                </a:solidFill>
              </a:rPr>
              <a:t>tr</a:t>
            </a:r>
            <a:r>
              <a:rPr lang="en-US" sz="2000" b="1" dirty="0" smtClean="0">
                <a:solidFill>
                  <a:srgbClr val="7030A0"/>
                </a:solidFill>
              </a:rPr>
              <a:t>&gt;</a:t>
            </a:r>
            <a:r>
              <a:rPr lang="en-US" sz="2000" b="1" dirty="0" smtClean="0">
                <a:solidFill>
                  <a:srgbClr val="FF0000"/>
                </a:solidFill>
              </a:rPr>
              <a:t/>
            </a:r>
            <a:br>
              <a:rPr lang="en-US" sz="2000" b="1" dirty="0" smtClean="0">
                <a:solidFill>
                  <a:srgbClr val="FF0000"/>
                </a:solidFill>
              </a:rPr>
            </a:br>
            <a:r>
              <a:rPr lang="en-US" sz="2000" b="1" dirty="0" smtClean="0">
                <a:solidFill>
                  <a:srgbClr val="FF0000"/>
                </a:solidFill>
              </a:rPr>
              <a:t>&lt;td&gt;</a:t>
            </a:r>
            <a:r>
              <a:rPr lang="en-US" sz="2000" b="1" dirty="0" smtClean="0">
                <a:solidFill>
                  <a:schemeClr val="tx1"/>
                </a:solidFill>
              </a:rPr>
              <a:t> January</a:t>
            </a:r>
            <a:r>
              <a:rPr lang="en-US" sz="2000" b="1" dirty="0" smtClean="0">
                <a:solidFill>
                  <a:srgbClr val="FF0000"/>
                </a:solidFill>
              </a:rPr>
              <a:t>&lt;/td&gt;</a:t>
            </a:r>
            <a:br>
              <a:rPr lang="en-US" sz="2000" b="1" dirty="0" smtClean="0">
                <a:solidFill>
                  <a:srgbClr val="FF0000"/>
                </a:solidFill>
              </a:rPr>
            </a:br>
            <a:r>
              <a:rPr lang="en-US" sz="2000" b="1" dirty="0" smtClean="0">
                <a:solidFill>
                  <a:srgbClr val="FF0000"/>
                </a:solidFill>
              </a:rPr>
              <a:t>&lt;td&gt;</a:t>
            </a:r>
            <a:r>
              <a:rPr lang="en-US" sz="2000" b="1" dirty="0" smtClean="0">
                <a:solidFill>
                  <a:schemeClr val="tx1"/>
                </a:solidFill>
              </a:rPr>
              <a:t> $100</a:t>
            </a:r>
            <a:r>
              <a:rPr lang="en-US" sz="2000" b="1" dirty="0" smtClean="0">
                <a:solidFill>
                  <a:srgbClr val="FF0000"/>
                </a:solidFill>
              </a:rPr>
              <a:t>&lt;/td&gt;</a:t>
            </a:r>
            <a:br>
              <a:rPr lang="en-US" sz="2000" b="1" dirty="0" smtClean="0">
                <a:solidFill>
                  <a:srgbClr val="FF0000"/>
                </a:solidFill>
              </a:rPr>
            </a:br>
            <a:r>
              <a:rPr lang="en-US" sz="2000" b="1" dirty="0" smtClean="0">
                <a:solidFill>
                  <a:srgbClr val="7030A0"/>
                </a:solidFill>
              </a:rPr>
              <a:t>&lt;/</a:t>
            </a:r>
            <a:r>
              <a:rPr lang="en-US" sz="2000" b="1" dirty="0" err="1" smtClean="0">
                <a:solidFill>
                  <a:srgbClr val="7030A0"/>
                </a:solidFill>
              </a:rPr>
              <a:t>tr</a:t>
            </a:r>
            <a:r>
              <a:rPr lang="en-US" sz="2000" b="1" dirty="0" smtClean="0">
                <a:solidFill>
                  <a:srgbClr val="7030A0"/>
                </a:solidFill>
              </a:rPr>
              <a:t>&gt;</a:t>
            </a:r>
            <a:r>
              <a:rPr lang="en-US" sz="2000" b="1" dirty="0" smtClean="0">
                <a:solidFill>
                  <a:srgbClr val="FF0000"/>
                </a:solidFill>
              </a:rPr>
              <a:t/>
            </a:r>
            <a:br>
              <a:rPr lang="en-US" sz="2000" b="1" dirty="0" smtClean="0">
                <a:solidFill>
                  <a:srgbClr val="FF0000"/>
                </a:solidFill>
              </a:rPr>
            </a:br>
            <a:r>
              <a:rPr lang="en-US" sz="2000" b="1" dirty="0" smtClean="0">
                <a:solidFill>
                  <a:srgbClr val="7030A0"/>
                </a:solidFill>
              </a:rPr>
              <a:t>&lt;</a:t>
            </a:r>
            <a:r>
              <a:rPr lang="en-US" sz="2000" b="1" dirty="0" err="1" smtClean="0">
                <a:solidFill>
                  <a:srgbClr val="7030A0"/>
                </a:solidFill>
              </a:rPr>
              <a:t>tr</a:t>
            </a:r>
            <a:r>
              <a:rPr lang="en-US" sz="2000" b="1" dirty="0" smtClean="0">
                <a:solidFill>
                  <a:srgbClr val="7030A0"/>
                </a:solidFill>
              </a:rPr>
              <a:t>&gt;</a:t>
            </a:r>
            <a:r>
              <a:rPr lang="en-US" sz="2000" b="1" dirty="0" smtClean="0">
                <a:solidFill>
                  <a:srgbClr val="FF0000"/>
                </a:solidFill>
              </a:rPr>
              <a:t/>
            </a:r>
            <a:br>
              <a:rPr lang="en-US" sz="2000" b="1" dirty="0" smtClean="0">
                <a:solidFill>
                  <a:srgbClr val="FF0000"/>
                </a:solidFill>
              </a:rPr>
            </a:br>
            <a:r>
              <a:rPr lang="en-US" sz="2000" b="1" dirty="0" smtClean="0">
                <a:solidFill>
                  <a:srgbClr val="FF0000"/>
                </a:solidFill>
              </a:rPr>
              <a:t>&lt;td&gt;</a:t>
            </a:r>
            <a:r>
              <a:rPr lang="en-US" sz="2000" b="1" dirty="0" smtClean="0">
                <a:solidFill>
                  <a:schemeClr val="tx1"/>
                </a:solidFill>
              </a:rPr>
              <a:t> February</a:t>
            </a:r>
            <a:r>
              <a:rPr lang="en-US" sz="2000" b="1" dirty="0" smtClean="0">
                <a:solidFill>
                  <a:srgbClr val="FF0000"/>
                </a:solidFill>
              </a:rPr>
              <a:t>&lt;/td&gt;</a:t>
            </a:r>
            <a:br>
              <a:rPr lang="en-US" sz="2000" b="1" dirty="0" smtClean="0">
                <a:solidFill>
                  <a:srgbClr val="FF0000"/>
                </a:solidFill>
              </a:rPr>
            </a:br>
            <a:r>
              <a:rPr lang="en-US" sz="2000" b="1" dirty="0" smtClean="0">
                <a:solidFill>
                  <a:srgbClr val="FF0000"/>
                </a:solidFill>
              </a:rPr>
              <a:t>&lt;td&gt;</a:t>
            </a:r>
            <a:r>
              <a:rPr lang="en-US" sz="2000" b="1" dirty="0" smtClean="0">
                <a:solidFill>
                  <a:schemeClr val="tx1"/>
                </a:solidFill>
              </a:rPr>
              <a:t> $50</a:t>
            </a:r>
            <a:r>
              <a:rPr lang="en-US" sz="2000" b="1" dirty="0" smtClean="0">
                <a:solidFill>
                  <a:srgbClr val="FF0000"/>
                </a:solidFill>
              </a:rPr>
              <a:t>&lt;/td&gt;</a:t>
            </a:r>
            <a:r>
              <a:rPr lang="en-US" sz="2000" b="1" dirty="0" smtClean="0"/>
              <a:t/>
            </a:r>
            <a:br>
              <a:rPr lang="en-US" sz="2000" b="1" dirty="0" smtClean="0"/>
            </a:br>
            <a:r>
              <a:rPr lang="en-US" sz="2000" b="1" dirty="0" smtClean="0">
                <a:solidFill>
                  <a:srgbClr val="7030A0"/>
                </a:solidFill>
              </a:rPr>
              <a:t>&lt;/</a:t>
            </a:r>
            <a:r>
              <a:rPr lang="en-US" sz="2000" b="1" dirty="0" err="1" smtClean="0">
                <a:solidFill>
                  <a:srgbClr val="7030A0"/>
                </a:solidFill>
              </a:rPr>
              <a:t>tr</a:t>
            </a:r>
            <a:r>
              <a:rPr lang="en-US" sz="2000" b="1" dirty="0" smtClean="0">
                <a:solidFill>
                  <a:srgbClr val="7030A0"/>
                </a:solidFill>
              </a:rPr>
              <a:t>&gt;</a:t>
            </a:r>
            <a:r>
              <a:rPr lang="en-US" sz="2000" b="1" dirty="0" smtClean="0">
                <a:solidFill>
                  <a:srgbClr val="FF0000"/>
                </a:solidFill>
              </a:rPr>
              <a:t/>
            </a:r>
            <a:br>
              <a:rPr lang="en-US" sz="2000" b="1" dirty="0" smtClean="0">
                <a:solidFill>
                  <a:srgbClr val="FF0000"/>
                </a:solidFill>
              </a:rPr>
            </a:br>
            <a:r>
              <a:rPr lang="en-US" sz="2000" b="1" dirty="0" smtClean="0">
                <a:solidFill>
                  <a:srgbClr val="FF0000"/>
                </a:solidFill>
              </a:rPr>
              <a:t>&lt;/table&gt;</a:t>
            </a:r>
            <a:endParaRPr lang="en-US" sz="2000" b="1" dirty="0">
              <a:solidFill>
                <a:srgbClr val="FF0000"/>
              </a:solidFill>
            </a:endParaRPr>
          </a:p>
        </p:txBody>
      </p:sp>
      <p:pic>
        <p:nvPicPr>
          <p:cNvPr id="10243" name="Picture 3" descr="C:\Users\Araik\Desktop\Untitled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1916832"/>
            <a:ext cx="3865807" cy="1154978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683568" y="1412776"/>
            <a:ext cx="788896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7030A0"/>
                </a:solidFill>
              </a:rPr>
              <a:t>&lt;table&gt;</a:t>
            </a:r>
          </a:p>
          <a:p>
            <a:r>
              <a:rPr lang="en-US" b="1" dirty="0" smtClean="0">
                <a:solidFill>
                  <a:srgbClr val="7030A0"/>
                </a:solidFill>
              </a:rPr>
              <a:t>&lt;</a:t>
            </a:r>
            <a:r>
              <a:rPr lang="en-US" b="1" dirty="0" err="1" smtClean="0">
                <a:solidFill>
                  <a:srgbClr val="7030A0"/>
                </a:solidFill>
              </a:rPr>
              <a:t>colgroup</a:t>
            </a:r>
            <a:r>
              <a:rPr lang="en-US" b="1" dirty="0" smtClean="0">
                <a:solidFill>
                  <a:srgbClr val="7030A0"/>
                </a:solidFill>
              </a:rPr>
              <a:t>&gt;</a:t>
            </a:r>
          </a:p>
          <a:p>
            <a:r>
              <a:rPr lang="en-US" b="1" dirty="0" smtClean="0">
                <a:solidFill>
                  <a:srgbClr val="00B0F0"/>
                </a:solidFill>
              </a:rPr>
              <a:t>    &lt;</a:t>
            </a:r>
            <a:r>
              <a:rPr lang="en-US" b="1" dirty="0" err="1" smtClean="0">
                <a:solidFill>
                  <a:srgbClr val="00B0F0"/>
                </a:solidFill>
              </a:rPr>
              <a:t>col</a:t>
            </a:r>
            <a:r>
              <a:rPr lang="en-US" b="1" dirty="0" smtClean="0">
                <a:solidFill>
                  <a:srgbClr val="00B0F0"/>
                </a:solidFill>
              </a:rPr>
              <a:t> </a:t>
            </a:r>
            <a:r>
              <a:rPr lang="hy-AM" b="1" dirty="0" smtClean="0">
                <a:solidFill>
                  <a:srgbClr val="00B0F0"/>
                </a:solidFill>
              </a:rPr>
              <a:t> </a:t>
            </a:r>
            <a:r>
              <a:rPr lang="en-US" b="1" dirty="0" smtClean="0">
                <a:solidFill>
                  <a:srgbClr val="00B050"/>
                </a:solidFill>
              </a:rPr>
              <a:t>span="2" </a:t>
            </a:r>
            <a:r>
              <a:rPr lang="en-US" b="1" dirty="0" err="1" smtClean="0">
                <a:solidFill>
                  <a:srgbClr val="0070C0"/>
                </a:solidFill>
              </a:rPr>
              <a:t>bgcolor</a:t>
            </a:r>
            <a:r>
              <a:rPr lang="en-US" b="1" dirty="0" smtClean="0">
                <a:solidFill>
                  <a:srgbClr val="0070C0"/>
                </a:solidFill>
              </a:rPr>
              <a:t>="yellow"</a:t>
            </a:r>
            <a:r>
              <a:rPr lang="en-US" b="1" dirty="0" smtClean="0">
                <a:solidFill>
                  <a:srgbClr val="00B0F0"/>
                </a:solidFill>
              </a:rPr>
              <a:t>&gt;</a:t>
            </a:r>
          </a:p>
          <a:p>
            <a:r>
              <a:rPr lang="en-US" b="1" dirty="0" smtClean="0">
                <a:solidFill>
                  <a:srgbClr val="7030A0"/>
                </a:solidFill>
              </a:rPr>
              <a:t>    </a:t>
            </a:r>
            <a:r>
              <a:rPr lang="en-US" b="1" dirty="0" smtClean="0">
                <a:solidFill>
                  <a:srgbClr val="00B0F0"/>
                </a:solidFill>
              </a:rPr>
              <a:t>&lt;col </a:t>
            </a:r>
            <a:r>
              <a:rPr lang="en-US" b="1" dirty="0" err="1">
                <a:solidFill>
                  <a:srgbClr val="0070C0"/>
                </a:solidFill>
              </a:rPr>
              <a:t>bgcolor</a:t>
            </a:r>
            <a:r>
              <a:rPr lang="en-US" b="1" smtClean="0">
                <a:solidFill>
                  <a:srgbClr val="0070C0"/>
                </a:solidFill>
              </a:rPr>
              <a:t>="red"</a:t>
            </a:r>
            <a:r>
              <a:rPr lang="en-US" b="1" smtClean="0">
                <a:solidFill>
                  <a:srgbClr val="00B0F0"/>
                </a:solidFill>
              </a:rPr>
              <a:t>&gt;</a:t>
            </a:r>
            <a:endParaRPr lang="en-US" b="1" dirty="0" smtClean="0">
              <a:solidFill>
                <a:srgbClr val="00B0F0"/>
              </a:solidFill>
            </a:endParaRPr>
          </a:p>
          <a:p>
            <a:r>
              <a:rPr lang="en-US" b="1" dirty="0" smtClean="0">
                <a:solidFill>
                  <a:srgbClr val="7030A0"/>
                </a:solidFill>
              </a:rPr>
              <a:t> &lt;/</a:t>
            </a:r>
            <a:r>
              <a:rPr lang="en-US" b="1" dirty="0" err="1" smtClean="0">
                <a:solidFill>
                  <a:srgbClr val="7030A0"/>
                </a:solidFill>
              </a:rPr>
              <a:t>colgroup</a:t>
            </a:r>
            <a:r>
              <a:rPr lang="en-US" b="1" dirty="0" smtClean="0">
                <a:solidFill>
                  <a:srgbClr val="7030A0"/>
                </a:solidFill>
              </a:rPr>
              <a:t>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5576" y="188640"/>
            <a:ext cx="79208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HTML</a:t>
            </a:r>
            <a:r>
              <a:rPr lang="en-US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– </a:t>
            </a:r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Tables</a:t>
            </a:r>
            <a:endParaRPr lang="en-US" sz="4800" dirty="0" smtClean="0"/>
          </a:p>
        </p:txBody>
      </p:sp>
      <p:pic>
        <p:nvPicPr>
          <p:cNvPr id="12" name="Picture 1" descr="C:\Users\Araik\Desktop\Untitled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19872" y="3068960"/>
            <a:ext cx="4168155" cy="1596154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39552" y="260648"/>
            <a:ext cx="79208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HTML</a:t>
            </a:r>
            <a:r>
              <a:rPr lang="en-US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– </a:t>
            </a:r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Tables</a:t>
            </a:r>
            <a:endParaRPr lang="en-US" sz="4800" dirty="0" smtClean="0"/>
          </a:p>
        </p:txBody>
      </p:sp>
      <p:sp>
        <p:nvSpPr>
          <p:cNvPr id="7" name="Rectangle 6"/>
          <p:cNvSpPr/>
          <p:nvPr/>
        </p:nvSpPr>
        <p:spPr>
          <a:xfrm>
            <a:off x="4500562" y="1011399"/>
            <a:ext cx="4391918" cy="5632311"/>
          </a:xfrm>
          <a:prstGeom prst="rect">
            <a:avLst/>
          </a:prstGeom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&lt;table border="1"&gt;</a:t>
            </a:r>
          </a:p>
          <a:p>
            <a:r>
              <a:rPr lang="en-US" b="1" dirty="0" smtClean="0">
                <a:solidFill>
                  <a:srgbClr val="FF0000"/>
                </a:solidFill>
              </a:rPr>
              <a:t>  </a:t>
            </a:r>
            <a:r>
              <a:rPr lang="en-US" b="1" dirty="0" smtClean="0">
                <a:solidFill>
                  <a:srgbClr val="7030A0"/>
                </a:solidFill>
              </a:rPr>
              <a:t>&lt;</a:t>
            </a:r>
            <a:r>
              <a:rPr lang="en-US" b="1" dirty="0" err="1" smtClean="0">
                <a:solidFill>
                  <a:srgbClr val="7030A0"/>
                </a:solidFill>
              </a:rPr>
              <a:t>thead</a:t>
            </a:r>
            <a:r>
              <a:rPr lang="en-US" b="1" dirty="0" smtClean="0">
                <a:solidFill>
                  <a:srgbClr val="7030A0"/>
                </a:solidFill>
              </a:rPr>
              <a:t>&gt;</a:t>
            </a:r>
          </a:p>
          <a:p>
            <a:r>
              <a:rPr lang="en-US" b="1" dirty="0" smtClean="0">
                <a:solidFill>
                  <a:srgbClr val="FF0000"/>
                </a:solidFill>
              </a:rPr>
              <a:t>    </a:t>
            </a:r>
            <a:r>
              <a:rPr lang="hy-AM" b="1" dirty="0" smtClean="0">
                <a:solidFill>
                  <a:srgbClr val="FF0000"/>
                </a:solidFill>
              </a:rPr>
              <a:t> </a:t>
            </a:r>
            <a:r>
              <a:rPr lang="en-US" b="1" dirty="0" smtClean="0">
                <a:solidFill>
                  <a:srgbClr val="FF0000"/>
                </a:solidFill>
              </a:rPr>
              <a:t>&lt;</a:t>
            </a:r>
            <a:r>
              <a:rPr lang="en-US" b="1" dirty="0" err="1" smtClean="0">
                <a:solidFill>
                  <a:srgbClr val="FF0000"/>
                </a:solidFill>
              </a:rPr>
              <a:t>tr</a:t>
            </a:r>
            <a:r>
              <a:rPr lang="en-US" b="1" dirty="0" smtClean="0">
                <a:solidFill>
                  <a:srgbClr val="FF0000"/>
                </a:solidFill>
              </a:rPr>
              <a:t>&gt;</a:t>
            </a:r>
          </a:p>
          <a:p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hy-AM" b="1" dirty="0" smtClean="0">
                <a:solidFill>
                  <a:srgbClr val="FF0000"/>
                </a:solidFill>
              </a:rPr>
              <a:t>       </a:t>
            </a:r>
            <a:r>
              <a:rPr lang="en-US" b="1" dirty="0" smtClean="0">
                <a:solidFill>
                  <a:srgbClr val="FF0000"/>
                </a:solidFill>
              </a:rPr>
              <a:t>&lt;</a:t>
            </a:r>
            <a:r>
              <a:rPr lang="en-US" b="1" dirty="0" err="1" smtClean="0">
                <a:solidFill>
                  <a:srgbClr val="FF0000"/>
                </a:solidFill>
              </a:rPr>
              <a:t>th</a:t>
            </a:r>
            <a:r>
              <a:rPr lang="en-US" b="1" dirty="0" smtClean="0">
                <a:solidFill>
                  <a:srgbClr val="FF0000"/>
                </a:solidFill>
              </a:rPr>
              <a:t>&gt;</a:t>
            </a:r>
            <a:r>
              <a:rPr lang="en-US" b="1" dirty="0" smtClean="0"/>
              <a:t>Month</a:t>
            </a:r>
            <a:r>
              <a:rPr lang="en-US" b="1" dirty="0" smtClean="0">
                <a:solidFill>
                  <a:srgbClr val="FF0000"/>
                </a:solidFill>
              </a:rPr>
              <a:t>&lt;/</a:t>
            </a:r>
            <a:r>
              <a:rPr lang="en-US" b="1" dirty="0" err="1" smtClean="0">
                <a:solidFill>
                  <a:srgbClr val="FF0000"/>
                </a:solidFill>
              </a:rPr>
              <a:t>th</a:t>
            </a:r>
            <a:r>
              <a:rPr lang="en-US" b="1" dirty="0" smtClean="0">
                <a:solidFill>
                  <a:srgbClr val="FF0000"/>
                </a:solidFill>
              </a:rPr>
              <a:t>&gt;</a:t>
            </a:r>
            <a:r>
              <a:rPr lang="hy-AM" b="1" dirty="0" smtClean="0">
                <a:solidFill>
                  <a:srgbClr val="FF0000"/>
                </a:solidFill>
              </a:rPr>
              <a:t>&lt;th&gt;</a:t>
            </a:r>
            <a:r>
              <a:rPr lang="en-US" b="1" dirty="0" smtClean="0">
                <a:solidFill>
                  <a:schemeClr val="tx1"/>
                </a:solidFill>
              </a:rPr>
              <a:t>Savings</a:t>
            </a:r>
            <a:r>
              <a:rPr lang="hy-AM" b="1" dirty="0" smtClean="0">
                <a:solidFill>
                  <a:srgbClr val="FF0000"/>
                </a:solidFill>
              </a:rPr>
              <a:t>&lt;/th&gt;</a:t>
            </a:r>
            <a:endParaRPr lang="en-US" b="1" dirty="0" smtClean="0">
              <a:solidFill>
                <a:srgbClr val="FF0000"/>
              </a:solidFill>
            </a:endParaRPr>
          </a:p>
          <a:p>
            <a:r>
              <a:rPr lang="hy-AM" b="1" dirty="0" smtClean="0">
                <a:solidFill>
                  <a:srgbClr val="FF0000"/>
                </a:solidFill>
              </a:rPr>
              <a:t>      </a:t>
            </a:r>
            <a:r>
              <a:rPr lang="en-US" b="1" dirty="0" smtClean="0">
                <a:solidFill>
                  <a:srgbClr val="FF0000"/>
                </a:solidFill>
              </a:rPr>
              <a:t>&lt;/</a:t>
            </a:r>
            <a:r>
              <a:rPr lang="en-US" b="1" dirty="0" err="1" smtClean="0">
                <a:solidFill>
                  <a:srgbClr val="FF0000"/>
                </a:solidFill>
              </a:rPr>
              <a:t>tr</a:t>
            </a:r>
            <a:r>
              <a:rPr lang="en-US" b="1" dirty="0" smtClean="0">
                <a:solidFill>
                  <a:srgbClr val="FF0000"/>
                </a:solidFill>
              </a:rPr>
              <a:t>&gt;</a:t>
            </a:r>
          </a:p>
          <a:p>
            <a:r>
              <a:rPr lang="en-US" b="1" dirty="0" smtClean="0">
                <a:solidFill>
                  <a:srgbClr val="7030A0"/>
                </a:solidFill>
              </a:rPr>
              <a:t>  &lt;/</a:t>
            </a:r>
            <a:r>
              <a:rPr lang="en-US" b="1" dirty="0" err="1" smtClean="0">
                <a:solidFill>
                  <a:srgbClr val="7030A0"/>
                </a:solidFill>
              </a:rPr>
              <a:t>thead</a:t>
            </a:r>
            <a:r>
              <a:rPr lang="en-US" b="1" dirty="0" smtClean="0">
                <a:solidFill>
                  <a:srgbClr val="7030A0"/>
                </a:solidFill>
              </a:rPr>
              <a:t>&gt;</a:t>
            </a:r>
          </a:p>
          <a:p>
            <a:r>
              <a:rPr lang="en-US" b="1" dirty="0" smtClean="0">
                <a:solidFill>
                  <a:srgbClr val="FF0000"/>
                </a:solidFill>
              </a:rPr>
              <a:t>  </a:t>
            </a:r>
            <a:r>
              <a:rPr lang="en-US" b="1" dirty="0" smtClean="0">
                <a:solidFill>
                  <a:srgbClr val="00B050"/>
                </a:solidFill>
              </a:rPr>
              <a:t>&lt;</a:t>
            </a:r>
            <a:r>
              <a:rPr lang="en-US" b="1" dirty="0" err="1" smtClean="0">
                <a:solidFill>
                  <a:srgbClr val="00B050"/>
                </a:solidFill>
              </a:rPr>
              <a:t>tfoot</a:t>
            </a:r>
            <a:r>
              <a:rPr lang="en-US" b="1" dirty="0" smtClean="0">
                <a:solidFill>
                  <a:srgbClr val="00B050"/>
                </a:solidFill>
              </a:rPr>
              <a:t>&gt;</a:t>
            </a:r>
          </a:p>
          <a:p>
            <a:r>
              <a:rPr lang="en-US" b="1" dirty="0" smtClean="0">
                <a:solidFill>
                  <a:srgbClr val="FF0000"/>
                </a:solidFill>
              </a:rPr>
              <a:t>    &lt;</a:t>
            </a:r>
            <a:r>
              <a:rPr lang="en-US" b="1" dirty="0" err="1" smtClean="0">
                <a:solidFill>
                  <a:srgbClr val="FF0000"/>
                </a:solidFill>
              </a:rPr>
              <a:t>tr</a:t>
            </a:r>
            <a:r>
              <a:rPr lang="en-US" b="1" dirty="0" smtClean="0">
                <a:solidFill>
                  <a:srgbClr val="FF0000"/>
                </a:solidFill>
              </a:rPr>
              <a:t>&gt;</a:t>
            </a:r>
          </a:p>
          <a:p>
            <a:r>
              <a:rPr lang="en-US" b="1" dirty="0" smtClean="0">
                <a:solidFill>
                  <a:srgbClr val="FF0000"/>
                </a:solidFill>
              </a:rPr>
              <a:t>      </a:t>
            </a:r>
            <a:r>
              <a:rPr lang="hy-AM" b="1" dirty="0" smtClean="0">
                <a:solidFill>
                  <a:srgbClr val="FF0000"/>
                </a:solidFill>
              </a:rPr>
              <a:t>    </a:t>
            </a:r>
            <a:r>
              <a:rPr lang="en-US" b="1" dirty="0" smtClean="0">
                <a:solidFill>
                  <a:srgbClr val="FF0000"/>
                </a:solidFill>
              </a:rPr>
              <a:t>&lt;td&gt;</a:t>
            </a:r>
            <a:r>
              <a:rPr lang="en-US" b="1" dirty="0" smtClean="0"/>
              <a:t>Sum</a:t>
            </a:r>
            <a:r>
              <a:rPr lang="en-US" b="1" dirty="0" smtClean="0">
                <a:solidFill>
                  <a:srgbClr val="FF0000"/>
                </a:solidFill>
              </a:rPr>
              <a:t>&lt;/td&gt;</a:t>
            </a:r>
            <a:r>
              <a:rPr lang="hy-AM" b="1" dirty="0" smtClean="0">
                <a:solidFill>
                  <a:srgbClr val="FF0000"/>
                </a:solidFill>
              </a:rPr>
              <a:t>&lt;td&gt;</a:t>
            </a:r>
            <a:r>
              <a:rPr lang="hy-AM" b="1" dirty="0" smtClean="0">
                <a:solidFill>
                  <a:schemeClr val="tx1"/>
                </a:solidFill>
              </a:rPr>
              <a:t>$180</a:t>
            </a:r>
            <a:r>
              <a:rPr lang="hy-AM" b="1" dirty="0" smtClean="0">
                <a:solidFill>
                  <a:srgbClr val="FF0000"/>
                </a:solidFill>
              </a:rPr>
              <a:t>&lt;/td&gt;</a:t>
            </a:r>
            <a:endParaRPr lang="en-US" b="1" dirty="0" smtClean="0">
              <a:solidFill>
                <a:srgbClr val="FF0000"/>
              </a:solidFill>
            </a:endParaRPr>
          </a:p>
          <a:p>
            <a:r>
              <a:rPr lang="hy-AM" b="1" dirty="0" smtClean="0">
                <a:solidFill>
                  <a:srgbClr val="FF0000"/>
                </a:solidFill>
              </a:rPr>
              <a:t>    </a:t>
            </a:r>
            <a:r>
              <a:rPr lang="en-US" b="1" dirty="0" smtClean="0">
                <a:solidFill>
                  <a:srgbClr val="FF0000"/>
                </a:solidFill>
              </a:rPr>
              <a:t>&lt;/</a:t>
            </a:r>
            <a:r>
              <a:rPr lang="en-US" b="1" dirty="0" err="1" smtClean="0">
                <a:solidFill>
                  <a:srgbClr val="FF0000"/>
                </a:solidFill>
              </a:rPr>
              <a:t>tr</a:t>
            </a:r>
            <a:r>
              <a:rPr lang="en-US" b="1" dirty="0" smtClean="0">
                <a:solidFill>
                  <a:srgbClr val="FF0000"/>
                </a:solidFill>
              </a:rPr>
              <a:t>&gt;</a:t>
            </a:r>
          </a:p>
          <a:p>
            <a:r>
              <a:rPr lang="en-US" b="1" dirty="0" smtClean="0">
                <a:solidFill>
                  <a:srgbClr val="FF0000"/>
                </a:solidFill>
              </a:rPr>
              <a:t>  </a:t>
            </a:r>
            <a:r>
              <a:rPr lang="en-US" b="1" dirty="0" smtClean="0">
                <a:solidFill>
                  <a:srgbClr val="00B050"/>
                </a:solidFill>
              </a:rPr>
              <a:t>&lt;/</a:t>
            </a:r>
            <a:r>
              <a:rPr lang="en-US" b="1" dirty="0" err="1" smtClean="0">
                <a:solidFill>
                  <a:srgbClr val="00B050"/>
                </a:solidFill>
              </a:rPr>
              <a:t>tfoot</a:t>
            </a:r>
            <a:r>
              <a:rPr lang="en-US" b="1" dirty="0" smtClean="0">
                <a:solidFill>
                  <a:srgbClr val="00B050"/>
                </a:solidFill>
              </a:rPr>
              <a:t>&gt;</a:t>
            </a:r>
          </a:p>
          <a:p>
            <a:r>
              <a:rPr lang="en-US" b="1" dirty="0" smtClean="0">
                <a:solidFill>
                  <a:srgbClr val="FF0000"/>
                </a:solidFill>
              </a:rPr>
              <a:t>  </a:t>
            </a:r>
            <a:r>
              <a:rPr lang="en-US" b="1" dirty="0" smtClean="0">
                <a:solidFill>
                  <a:srgbClr val="0070C0"/>
                </a:solidFill>
              </a:rPr>
              <a:t>&lt;</a:t>
            </a:r>
            <a:r>
              <a:rPr lang="en-US" b="1" dirty="0" err="1" smtClean="0">
                <a:solidFill>
                  <a:srgbClr val="0070C0"/>
                </a:solidFill>
              </a:rPr>
              <a:t>tbody</a:t>
            </a:r>
            <a:r>
              <a:rPr lang="en-US" b="1" dirty="0" smtClean="0">
                <a:solidFill>
                  <a:srgbClr val="0070C0"/>
                </a:solidFill>
              </a:rPr>
              <a:t>&gt;</a:t>
            </a:r>
          </a:p>
          <a:p>
            <a:r>
              <a:rPr lang="en-US" b="1" dirty="0" smtClean="0">
                <a:solidFill>
                  <a:srgbClr val="FF0000"/>
                </a:solidFill>
              </a:rPr>
              <a:t>    &lt;</a:t>
            </a:r>
            <a:r>
              <a:rPr lang="en-US" b="1" dirty="0" err="1" smtClean="0">
                <a:solidFill>
                  <a:srgbClr val="FF0000"/>
                </a:solidFill>
              </a:rPr>
              <a:t>tr</a:t>
            </a:r>
            <a:r>
              <a:rPr lang="en-US" b="1" dirty="0" smtClean="0">
                <a:solidFill>
                  <a:srgbClr val="FF0000"/>
                </a:solidFill>
              </a:rPr>
              <a:t>&gt;</a:t>
            </a:r>
          </a:p>
          <a:p>
            <a:r>
              <a:rPr lang="en-US" b="1" dirty="0" smtClean="0">
                <a:solidFill>
                  <a:srgbClr val="FF0000"/>
                </a:solidFill>
              </a:rPr>
              <a:t>      </a:t>
            </a:r>
            <a:r>
              <a:rPr lang="hy-AM" b="1" dirty="0" smtClean="0">
                <a:solidFill>
                  <a:srgbClr val="FF0000"/>
                </a:solidFill>
              </a:rPr>
              <a:t> </a:t>
            </a:r>
            <a:r>
              <a:rPr lang="en-US" b="1" dirty="0" smtClean="0">
                <a:solidFill>
                  <a:srgbClr val="FF0000"/>
                </a:solidFill>
              </a:rPr>
              <a:t>&lt;td&gt;</a:t>
            </a:r>
            <a:r>
              <a:rPr lang="en-US" b="1" dirty="0" smtClean="0"/>
              <a:t>January</a:t>
            </a:r>
            <a:r>
              <a:rPr lang="en-US" b="1" dirty="0" smtClean="0">
                <a:solidFill>
                  <a:srgbClr val="FF0000"/>
                </a:solidFill>
              </a:rPr>
              <a:t>&lt;/td&gt; &lt;td&gt;</a:t>
            </a:r>
            <a:r>
              <a:rPr lang="hy-AM" b="1" dirty="0" smtClean="0">
                <a:solidFill>
                  <a:srgbClr val="FF0000"/>
                </a:solidFill>
              </a:rPr>
              <a:t>$</a:t>
            </a:r>
            <a:r>
              <a:rPr lang="hy-AM" b="1" dirty="0" smtClean="0"/>
              <a:t>100</a:t>
            </a:r>
            <a:r>
              <a:rPr lang="en-US" b="1" dirty="0" smtClean="0">
                <a:solidFill>
                  <a:srgbClr val="FF0000"/>
                </a:solidFill>
              </a:rPr>
              <a:t>&lt;/td&gt;</a:t>
            </a:r>
          </a:p>
          <a:p>
            <a:r>
              <a:rPr lang="hy-AM" b="1" dirty="0" smtClean="0">
                <a:solidFill>
                  <a:srgbClr val="FF0000"/>
                </a:solidFill>
              </a:rPr>
              <a:t>  </a:t>
            </a:r>
            <a:r>
              <a:rPr lang="en-US" b="1" dirty="0" smtClean="0">
                <a:solidFill>
                  <a:srgbClr val="FF0000"/>
                </a:solidFill>
              </a:rPr>
              <a:t>&lt;/</a:t>
            </a:r>
            <a:r>
              <a:rPr lang="en-US" b="1" dirty="0" err="1" smtClean="0">
                <a:solidFill>
                  <a:srgbClr val="FF0000"/>
                </a:solidFill>
              </a:rPr>
              <a:t>tr</a:t>
            </a:r>
            <a:r>
              <a:rPr lang="en-US" b="1" dirty="0" smtClean="0">
                <a:solidFill>
                  <a:srgbClr val="FF0000"/>
                </a:solidFill>
              </a:rPr>
              <a:t>&gt;</a:t>
            </a:r>
          </a:p>
          <a:p>
            <a:r>
              <a:rPr lang="en-US" b="1" dirty="0" smtClean="0">
                <a:solidFill>
                  <a:srgbClr val="FF0000"/>
                </a:solidFill>
              </a:rPr>
              <a:t>    &lt;</a:t>
            </a:r>
            <a:r>
              <a:rPr lang="en-US" b="1" dirty="0" err="1" smtClean="0">
                <a:solidFill>
                  <a:srgbClr val="FF0000"/>
                </a:solidFill>
              </a:rPr>
              <a:t>tr</a:t>
            </a:r>
            <a:r>
              <a:rPr lang="en-US" b="1" dirty="0" smtClean="0">
                <a:solidFill>
                  <a:srgbClr val="FF0000"/>
                </a:solidFill>
              </a:rPr>
              <a:t>&gt;</a:t>
            </a:r>
          </a:p>
          <a:p>
            <a:r>
              <a:rPr lang="en-US" b="1" dirty="0" smtClean="0">
                <a:solidFill>
                  <a:srgbClr val="FF0000"/>
                </a:solidFill>
              </a:rPr>
              <a:t>      </a:t>
            </a:r>
            <a:r>
              <a:rPr lang="hy-AM" b="1" dirty="0" smtClean="0">
                <a:solidFill>
                  <a:srgbClr val="FF0000"/>
                </a:solidFill>
              </a:rPr>
              <a:t> </a:t>
            </a:r>
            <a:r>
              <a:rPr lang="en-US" b="1" dirty="0" smtClean="0">
                <a:solidFill>
                  <a:srgbClr val="FF0000"/>
                </a:solidFill>
              </a:rPr>
              <a:t>&lt;td&gt;</a:t>
            </a:r>
            <a:r>
              <a:rPr lang="en-US" b="1" dirty="0" smtClean="0"/>
              <a:t>February</a:t>
            </a:r>
            <a:r>
              <a:rPr lang="en-US" b="1" dirty="0" smtClean="0">
                <a:solidFill>
                  <a:srgbClr val="FF0000"/>
                </a:solidFill>
              </a:rPr>
              <a:t>&lt;/td&gt;&lt;td&gt;</a:t>
            </a:r>
            <a:r>
              <a:rPr lang="hy-AM" b="1" dirty="0" smtClean="0"/>
              <a:t>$80</a:t>
            </a:r>
            <a:r>
              <a:rPr lang="en-US" b="1" dirty="0" smtClean="0">
                <a:solidFill>
                  <a:srgbClr val="FF0000"/>
                </a:solidFill>
              </a:rPr>
              <a:t>&lt;/td&gt;</a:t>
            </a:r>
          </a:p>
          <a:p>
            <a:r>
              <a:rPr lang="hy-AM" b="1" dirty="0" smtClean="0">
                <a:solidFill>
                  <a:srgbClr val="FF0000"/>
                </a:solidFill>
              </a:rPr>
              <a:t>  </a:t>
            </a:r>
            <a:r>
              <a:rPr lang="en-US" b="1" dirty="0" smtClean="0">
                <a:solidFill>
                  <a:srgbClr val="FF0000"/>
                </a:solidFill>
              </a:rPr>
              <a:t>&lt;/</a:t>
            </a:r>
            <a:r>
              <a:rPr lang="en-US" b="1" dirty="0" err="1" smtClean="0">
                <a:solidFill>
                  <a:srgbClr val="FF0000"/>
                </a:solidFill>
              </a:rPr>
              <a:t>tr</a:t>
            </a:r>
            <a:r>
              <a:rPr lang="en-US" b="1" dirty="0" smtClean="0">
                <a:solidFill>
                  <a:srgbClr val="FF0000"/>
                </a:solidFill>
              </a:rPr>
              <a:t>&gt;</a:t>
            </a:r>
          </a:p>
          <a:p>
            <a:r>
              <a:rPr lang="en-US" b="1" dirty="0" smtClean="0">
                <a:solidFill>
                  <a:srgbClr val="FF0000"/>
                </a:solidFill>
              </a:rPr>
              <a:t>  </a:t>
            </a:r>
            <a:r>
              <a:rPr lang="en-US" b="1" dirty="0" smtClean="0">
                <a:solidFill>
                  <a:srgbClr val="0070C0"/>
                </a:solidFill>
              </a:rPr>
              <a:t>&lt;/</a:t>
            </a:r>
            <a:r>
              <a:rPr lang="en-US" b="1" dirty="0" err="1" smtClean="0">
                <a:solidFill>
                  <a:srgbClr val="0070C0"/>
                </a:solidFill>
              </a:rPr>
              <a:t>tbody</a:t>
            </a:r>
            <a:r>
              <a:rPr lang="en-US" b="1" dirty="0" smtClean="0">
                <a:solidFill>
                  <a:srgbClr val="0070C0"/>
                </a:solidFill>
              </a:rPr>
              <a:t>&gt;</a:t>
            </a:r>
          </a:p>
          <a:p>
            <a:r>
              <a:rPr lang="en-US" b="1" dirty="0" smtClean="0">
                <a:solidFill>
                  <a:srgbClr val="FF0000"/>
                </a:solidFill>
              </a:rPr>
              <a:t>&lt;/table&gt;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1520" y="1052736"/>
            <a:ext cx="45365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32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Thead  Tbody  Tfoot:</a:t>
            </a:r>
            <a:endParaRPr lang="en-US" sz="3200" dirty="0" smtClean="0"/>
          </a:p>
        </p:txBody>
      </p:sp>
      <p:sp>
        <p:nvSpPr>
          <p:cNvPr id="9" name="Rectangle 8"/>
          <p:cNvSpPr/>
          <p:nvPr/>
        </p:nvSpPr>
        <p:spPr>
          <a:xfrm>
            <a:off x="611560" y="2204864"/>
            <a:ext cx="2664296" cy="2308324"/>
          </a:xfrm>
          <a:prstGeom prst="rect">
            <a:avLst/>
          </a:prstGeom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&lt;head&gt;</a:t>
            </a:r>
          </a:p>
          <a:p>
            <a:r>
              <a:rPr lang="en-US" b="1" dirty="0" smtClean="0">
                <a:solidFill>
                  <a:srgbClr val="7030A0"/>
                </a:solidFill>
              </a:rPr>
              <a:t>&lt;style type="text/</a:t>
            </a:r>
            <a:r>
              <a:rPr lang="en-US" b="1" dirty="0" err="1" smtClean="0">
                <a:solidFill>
                  <a:srgbClr val="7030A0"/>
                </a:solidFill>
              </a:rPr>
              <a:t>css</a:t>
            </a:r>
            <a:r>
              <a:rPr lang="en-US" b="1" dirty="0" smtClean="0">
                <a:solidFill>
                  <a:srgbClr val="7030A0"/>
                </a:solidFill>
              </a:rPr>
              <a:t>"&gt;</a:t>
            </a:r>
          </a:p>
          <a:p>
            <a:r>
              <a:rPr lang="en-US" b="1" dirty="0" err="1" smtClean="0">
                <a:solidFill>
                  <a:srgbClr val="7030A0"/>
                </a:solidFill>
              </a:rPr>
              <a:t>thead</a:t>
            </a:r>
            <a:r>
              <a:rPr lang="en-US" b="1" dirty="0" smtClean="0"/>
              <a:t> {</a:t>
            </a:r>
            <a:r>
              <a:rPr lang="en-US" b="1" dirty="0" err="1" smtClean="0"/>
              <a:t>color:green</a:t>
            </a:r>
            <a:r>
              <a:rPr lang="en-US" b="1" dirty="0" smtClean="0"/>
              <a:t>;}</a:t>
            </a:r>
          </a:p>
          <a:p>
            <a:r>
              <a:rPr lang="en-US" b="1" dirty="0" err="1" smtClean="0">
                <a:solidFill>
                  <a:srgbClr val="0070C0"/>
                </a:solidFill>
              </a:rPr>
              <a:t>tbody</a:t>
            </a:r>
            <a:r>
              <a:rPr lang="en-US" b="1" dirty="0" smtClean="0"/>
              <a:t> {</a:t>
            </a:r>
            <a:r>
              <a:rPr lang="en-US" b="1" dirty="0" err="1" smtClean="0"/>
              <a:t>color:blue</a:t>
            </a:r>
            <a:r>
              <a:rPr lang="en-US" b="1" dirty="0" smtClean="0"/>
              <a:t>;}</a:t>
            </a:r>
          </a:p>
          <a:p>
            <a:r>
              <a:rPr lang="en-US" b="1" dirty="0" err="1" smtClean="0">
                <a:solidFill>
                  <a:srgbClr val="00B050"/>
                </a:solidFill>
              </a:rPr>
              <a:t>tfoot</a:t>
            </a:r>
            <a:r>
              <a:rPr lang="en-US" b="1" dirty="0" smtClean="0"/>
              <a:t> {</a:t>
            </a:r>
            <a:r>
              <a:rPr lang="en-US" b="1" dirty="0" err="1" smtClean="0"/>
              <a:t>color:red</a:t>
            </a:r>
            <a:r>
              <a:rPr lang="en-US" b="1" dirty="0" smtClean="0"/>
              <a:t>;}</a:t>
            </a:r>
          </a:p>
          <a:p>
            <a:r>
              <a:rPr lang="en-US" b="1" dirty="0" smtClean="0">
                <a:solidFill>
                  <a:srgbClr val="7030A0"/>
                </a:solidFill>
              </a:rPr>
              <a:t>&lt;/style&gt;</a:t>
            </a:r>
          </a:p>
          <a:p>
            <a:r>
              <a:rPr lang="en-US" b="1" dirty="0" smtClean="0">
                <a:solidFill>
                  <a:srgbClr val="FF0000"/>
                </a:solidFill>
              </a:rPr>
              <a:t>&lt;/head&gt;</a:t>
            </a:r>
            <a:endParaRPr 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539552" y="260648"/>
            <a:ext cx="79208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HTML</a:t>
            </a:r>
            <a:r>
              <a:rPr lang="en-US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– </a:t>
            </a:r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Tables</a:t>
            </a:r>
            <a:endParaRPr lang="en-US" sz="4800" dirty="0" smtClean="0"/>
          </a:p>
        </p:txBody>
      </p:sp>
      <p:sp>
        <p:nvSpPr>
          <p:cNvPr id="16" name="TextBox 15"/>
          <p:cNvSpPr txBox="1"/>
          <p:nvPr/>
        </p:nvSpPr>
        <p:spPr>
          <a:xfrm>
            <a:off x="251520" y="1052736"/>
            <a:ext cx="36061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32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Table Colspan :</a:t>
            </a:r>
            <a:endParaRPr lang="en-US" sz="3200" dirty="0" smtClean="0"/>
          </a:p>
        </p:txBody>
      </p:sp>
      <p:pic>
        <p:nvPicPr>
          <p:cNvPr id="7169" name="Picture 1" descr="C:\Users\Araik\Desktop\Untitled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1916832"/>
            <a:ext cx="4464758" cy="1220698"/>
          </a:xfrm>
          <a:prstGeom prst="rect">
            <a:avLst/>
          </a:prstGeom>
          <a:noFill/>
        </p:spPr>
      </p:pic>
      <p:sp>
        <p:nvSpPr>
          <p:cNvPr id="17" name="Rectangle 16"/>
          <p:cNvSpPr/>
          <p:nvPr/>
        </p:nvSpPr>
        <p:spPr>
          <a:xfrm>
            <a:off x="4644008" y="1484784"/>
            <a:ext cx="3888432" cy="3139321"/>
          </a:xfrm>
          <a:prstGeom prst="rect">
            <a:avLst/>
          </a:prstGeom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&lt;table border="1"&gt;</a:t>
            </a:r>
          </a:p>
          <a:p>
            <a:r>
              <a:rPr lang="en-US" b="1" dirty="0" smtClean="0">
                <a:solidFill>
                  <a:srgbClr val="7030A0"/>
                </a:solidFill>
              </a:rPr>
              <a:t>&lt;</a:t>
            </a:r>
            <a:r>
              <a:rPr lang="en-US" b="1" dirty="0" err="1" smtClean="0">
                <a:solidFill>
                  <a:srgbClr val="7030A0"/>
                </a:solidFill>
              </a:rPr>
              <a:t>tr</a:t>
            </a:r>
            <a:r>
              <a:rPr lang="en-US" b="1" dirty="0" smtClean="0">
                <a:solidFill>
                  <a:srgbClr val="7030A0"/>
                </a:solidFill>
              </a:rPr>
              <a:t>&gt;</a:t>
            </a:r>
          </a:p>
          <a:p>
            <a:r>
              <a:rPr lang="en-US" b="1" dirty="0" smtClean="0">
                <a:solidFill>
                  <a:srgbClr val="FF0000"/>
                </a:solidFill>
              </a:rPr>
              <a:t>  &lt;</a:t>
            </a:r>
            <a:r>
              <a:rPr lang="en-US" b="1" dirty="0" err="1" smtClean="0">
                <a:solidFill>
                  <a:srgbClr val="FF0000"/>
                </a:solidFill>
              </a:rPr>
              <a:t>th</a:t>
            </a:r>
            <a:r>
              <a:rPr lang="en-US" b="1" dirty="0" smtClean="0">
                <a:solidFill>
                  <a:srgbClr val="FF0000"/>
                </a:solidFill>
              </a:rPr>
              <a:t>&gt;</a:t>
            </a:r>
            <a:r>
              <a:rPr lang="en-US" b="1" dirty="0" smtClean="0"/>
              <a:t>Name</a:t>
            </a:r>
            <a:r>
              <a:rPr lang="en-US" b="1" dirty="0" smtClean="0">
                <a:solidFill>
                  <a:srgbClr val="FF0000"/>
                </a:solidFill>
              </a:rPr>
              <a:t>&lt;/</a:t>
            </a:r>
            <a:r>
              <a:rPr lang="en-US" b="1" dirty="0" err="1" smtClean="0">
                <a:solidFill>
                  <a:srgbClr val="FF0000"/>
                </a:solidFill>
              </a:rPr>
              <a:t>th</a:t>
            </a:r>
            <a:r>
              <a:rPr lang="en-US" b="1" dirty="0" smtClean="0">
                <a:solidFill>
                  <a:srgbClr val="FF0000"/>
                </a:solidFill>
              </a:rPr>
              <a:t>&gt;</a:t>
            </a:r>
          </a:p>
          <a:p>
            <a:r>
              <a:rPr lang="en-US" b="1" dirty="0" smtClean="0">
                <a:solidFill>
                  <a:srgbClr val="FF0000"/>
                </a:solidFill>
              </a:rPr>
              <a:t>  &lt;</a:t>
            </a:r>
            <a:r>
              <a:rPr lang="en-US" b="1" dirty="0" err="1" smtClean="0">
                <a:solidFill>
                  <a:srgbClr val="FF0000"/>
                </a:solidFill>
              </a:rPr>
              <a:t>th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00B050"/>
                </a:solidFill>
              </a:rPr>
              <a:t>colspan</a:t>
            </a:r>
            <a:r>
              <a:rPr lang="en-US" b="1" dirty="0" smtClean="0">
                <a:solidFill>
                  <a:srgbClr val="00B050"/>
                </a:solidFill>
              </a:rPr>
              <a:t>="2"</a:t>
            </a:r>
            <a:r>
              <a:rPr lang="en-US" b="1" dirty="0" smtClean="0">
                <a:solidFill>
                  <a:srgbClr val="FF0000"/>
                </a:solidFill>
              </a:rPr>
              <a:t>&gt;</a:t>
            </a:r>
            <a:r>
              <a:rPr lang="en-US" b="1" dirty="0" smtClean="0"/>
              <a:t>Telephone</a:t>
            </a:r>
            <a:r>
              <a:rPr lang="en-US" b="1" dirty="0" smtClean="0">
                <a:solidFill>
                  <a:srgbClr val="FF0000"/>
                </a:solidFill>
              </a:rPr>
              <a:t>&lt;/</a:t>
            </a:r>
            <a:r>
              <a:rPr lang="en-US" b="1" dirty="0" err="1" smtClean="0">
                <a:solidFill>
                  <a:srgbClr val="FF0000"/>
                </a:solidFill>
              </a:rPr>
              <a:t>th</a:t>
            </a:r>
            <a:r>
              <a:rPr lang="en-US" b="1" dirty="0" smtClean="0">
                <a:solidFill>
                  <a:srgbClr val="FF0000"/>
                </a:solidFill>
              </a:rPr>
              <a:t>&gt;</a:t>
            </a:r>
          </a:p>
          <a:p>
            <a:r>
              <a:rPr lang="en-US" b="1" dirty="0" smtClean="0">
                <a:solidFill>
                  <a:srgbClr val="7030A0"/>
                </a:solidFill>
              </a:rPr>
              <a:t>&lt;/</a:t>
            </a:r>
            <a:r>
              <a:rPr lang="en-US" b="1" dirty="0" err="1" smtClean="0">
                <a:solidFill>
                  <a:srgbClr val="7030A0"/>
                </a:solidFill>
              </a:rPr>
              <a:t>tr</a:t>
            </a:r>
            <a:r>
              <a:rPr lang="en-US" b="1" dirty="0" smtClean="0">
                <a:solidFill>
                  <a:srgbClr val="7030A0"/>
                </a:solidFill>
              </a:rPr>
              <a:t>&gt;</a:t>
            </a:r>
          </a:p>
          <a:p>
            <a:r>
              <a:rPr lang="en-US" b="1" dirty="0" smtClean="0">
                <a:solidFill>
                  <a:srgbClr val="7030A0"/>
                </a:solidFill>
              </a:rPr>
              <a:t>&lt;</a:t>
            </a:r>
            <a:r>
              <a:rPr lang="en-US" b="1" dirty="0" err="1" smtClean="0">
                <a:solidFill>
                  <a:srgbClr val="7030A0"/>
                </a:solidFill>
              </a:rPr>
              <a:t>tr</a:t>
            </a:r>
            <a:r>
              <a:rPr lang="en-US" b="1" dirty="0" smtClean="0">
                <a:solidFill>
                  <a:srgbClr val="7030A0"/>
                </a:solidFill>
              </a:rPr>
              <a:t>&gt;</a:t>
            </a:r>
          </a:p>
          <a:p>
            <a:r>
              <a:rPr lang="en-US" b="1" dirty="0" smtClean="0">
                <a:solidFill>
                  <a:srgbClr val="FF0000"/>
                </a:solidFill>
              </a:rPr>
              <a:t>  &lt;td&gt;</a:t>
            </a:r>
            <a:r>
              <a:rPr lang="en-US" b="1" dirty="0" smtClean="0"/>
              <a:t>Bill Gates</a:t>
            </a:r>
            <a:r>
              <a:rPr lang="en-US" b="1" dirty="0" smtClean="0">
                <a:solidFill>
                  <a:srgbClr val="FF0000"/>
                </a:solidFill>
              </a:rPr>
              <a:t>&lt;/td&gt;</a:t>
            </a:r>
          </a:p>
          <a:p>
            <a:r>
              <a:rPr lang="en-US" b="1" dirty="0" smtClean="0">
                <a:solidFill>
                  <a:srgbClr val="FF0000"/>
                </a:solidFill>
              </a:rPr>
              <a:t>  &lt;td&gt;</a:t>
            </a:r>
            <a:r>
              <a:rPr lang="en-US" b="1" dirty="0" smtClean="0"/>
              <a:t>555 77 854</a:t>
            </a:r>
            <a:r>
              <a:rPr lang="en-US" b="1" dirty="0" smtClean="0">
                <a:solidFill>
                  <a:srgbClr val="FF0000"/>
                </a:solidFill>
              </a:rPr>
              <a:t>&lt;/td&gt;</a:t>
            </a:r>
          </a:p>
          <a:p>
            <a:r>
              <a:rPr lang="en-US" b="1" dirty="0" smtClean="0">
                <a:solidFill>
                  <a:srgbClr val="FF0000"/>
                </a:solidFill>
              </a:rPr>
              <a:t>  &lt;td&gt;</a:t>
            </a:r>
            <a:r>
              <a:rPr lang="en-US" b="1" dirty="0" smtClean="0"/>
              <a:t>555 77 855</a:t>
            </a:r>
            <a:r>
              <a:rPr lang="en-US" b="1" dirty="0" smtClean="0">
                <a:solidFill>
                  <a:srgbClr val="FF0000"/>
                </a:solidFill>
              </a:rPr>
              <a:t>&lt;/td&gt;</a:t>
            </a:r>
          </a:p>
          <a:p>
            <a:r>
              <a:rPr lang="en-US" b="1" dirty="0" smtClean="0">
                <a:solidFill>
                  <a:srgbClr val="7030A0"/>
                </a:solidFill>
              </a:rPr>
              <a:t>&lt;/</a:t>
            </a:r>
            <a:r>
              <a:rPr lang="en-US" b="1" dirty="0" err="1" smtClean="0">
                <a:solidFill>
                  <a:srgbClr val="7030A0"/>
                </a:solidFill>
              </a:rPr>
              <a:t>tr</a:t>
            </a:r>
            <a:r>
              <a:rPr lang="en-US" b="1" dirty="0" smtClean="0">
                <a:solidFill>
                  <a:srgbClr val="7030A0"/>
                </a:solidFill>
              </a:rPr>
              <a:t>&gt;</a:t>
            </a:r>
          </a:p>
          <a:p>
            <a:r>
              <a:rPr lang="en-US" b="1" dirty="0" smtClean="0">
                <a:solidFill>
                  <a:srgbClr val="FF0000"/>
                </a:solidFill>
              </a:rPr>
              <a:t>&lt;/table&gt;</a:t>
            </a:r>
            <a:endParaRPr 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539552" y="260648"/>
            <a:ext cx="79208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HTML</a:t>
            </a:r>
            <a:r>
              <a:rPr lang="en-US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– </a:t>
            </a:r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Tables</a:t>
            </a:r>
            <a:endParaRPr lang="en-US" sz="4800" dirty="0" smtClean="0"/>
          </a:p>
        </p:txBody>
      </p:sp>
      <p:sp>
        <p:nvSpPr>
          <p:cNvPr id="11" name="TextBox 10"/>
          <p:cNvSpPr txBox="1"/>
          <p:nvPr/>
        </p:nvSpPr>
        <p:spPr>
          <a:xfrm>
            <a:off x="251520" y="1052736"/>
            <a:ext cx="37489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32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Table Rowspan :</a:t>
            </a:r>
            <a:endParaRPr lang="en-US" sz="3200" dirty="0" smtClean="0"/>
          </a:p>
        </p:txBody>
      </p:sp>
      <p:sp>
        <p:nvSpPr>
          <p:cNvPr id="14" name="Rectangle 13"/>
          <p:cNvSpPr/>
          <p:nvPr/>
        </p:nvSpPr>
        <p:spPr>
          <a:xfrm>
            <a:off x="4429124" y="1428736"/>
            <a:ext cx="4500594" cy="3693319"/>
          </a:xfrm>
          <a:prstGeom prst="rect">
            <a:avLst/>
          </a:prstGeom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&lt;table border="1"&gt;</a:t>
            </a:r>
          </a:p>
          <a:p>
            <a:r>
              <a:rPr lang="en-US" b="1" dirty="0" smtClean="0">
                <a:solidFill>
                  <a:srgbClr val="7030A0"/>
                </a:solidFill>
              </a:rPr>
              <a:t>&lt;</a:t>
            </a:r>
            <a:r>
              <a:rPr lang="en-US" b="1" dirty="0" err="1" smtClean="0">
                <a:solidFill>
                  <a:srgbClr val="7030A0"/>
                </a:solidFill>
              </a:rPr>
              <a:t>tr</a:t>
            </a:r>
            <a:r>
              <a:rPr lang="en-US" b="1" dirty="0" smtClean="0">
                <a:solidFill>
                  <a:srgbClr val="7030A0"/>
                </a:solidFill>
              </a:rPr>
              <a:t>&gt;</a:t>
            </a:r>
          </a:p>
          <a:p>
            <a:r>
              <a:rPr lang="en-US" b="1" dirty="0" smtClean="0">
                <a:solidFill>
                  <a:srgbClr val="FF0000"/>
                </a:solidFill>
              </a:rPr>
              <a:t>  &lt;td&gt; </a:t>
            </a:r>
            <a:r>
              <a:rPr lang="en-US" b="1" dirty="0" smtClean="0">
                <a:solidFill>
                  <a:schemeClr val="tx1"/>
                </a:solidFill>
              </a:rPr>
              <a:t>First </a:t>
            </a:r>
            <a:r>
              <a:rPr lang="en-US" b="1" dirty="0" smtClean="0"/>
              <a:t>Name</a:t>
            </a:r>
            <a:r>
              <a:rPr lang="en-US" b="1" dirty="0" smtClean="0">
                <a:solidFill>
                  <a:srgbClr val="FF0000"/>
                </a:solidFill>
              </a:rPr>
              <a:t>&lt;/td&gt;</a:t>
            </a:r>
          </a:p>
          <a:p>
            <a:r>
              <a:rPr lang="en-US" b="1" dirty="0" smtClean="0">
                <a:solidFill>
                  <a:srgbClr val="FF0000"/>
                </a:solidFill>
              </a:rPr>
              <a:t>  &lt;td&gt;</a:t>
            </a:r>
            <a:r>
              <a:rPr lang="en-US" b="1" dirty="0" smtClean="0"/>
              <a:t>Bill Gates</a:t>
            </a:r>
            <a:r>
              <a:rPr lang="en-US" b="1" dirty="0" smtClean="0">
                <a:solidFill>
                  <a:srgbClr val="FF0000"/>
                </a:solidFill>
              </a:rPr>
              <a:t>&lt;/td&gt;</a:t>
            </a:r>
          </a:p>
          <a:p>
            <a:r>
              <a:rPr lang="en-US" b="1" dirty="0" smtClean="0">
                <a:solidFill>
                  <a:srgbClr val="7030A0"/>
                </a:solidFill>
              </a:rPr>
              <a:t>&lt;/</a:t>
            </a:r>
            <a:r>
              <a:rPr lang="en-US" b="1" dirty="0" err="1" smtClean="0">
                <a:solidFill>
                  <a:srgbClr val="7030A0"/>
                </a:solidFill>
              </a:rPr>
              <a:t>tr</a:t>
            </a:r>
            <a:r>
              <a:rPr lang="en-US" b="1" dirty="0" smtClean="0">
                <a:solidFill>
                  <a:srgbClr val="7030A0"/>
                </a:solidFill>
              </a:rPr>
              <a:t>&gt;</a:t>
            </a:r>
          </a:p>
          <a:p>
            <a:r>
              <a:rPr lang="en-US" b="1" dirty="0" smtClean="0">
                <a:solidFill>
                  <a:srgbClr val="7030A0"/>
                </a:solidFill>
              </a:rPr>
              <a:t>&lt;</a:t>
            </a:r>
            <a:r>
              <a:rPr lang="en-US" b="1" dirty="0" err="1" smtClean="0">
                <a:solidFill>
                  <a:srgbClr val="7030A0"/>
                </a:solidFill>
              </a:rPr>
              <a:t>tr</a:t>
            </a:r>
            <a:r>
              <a:rPr lang="en-US" b="1" dirty="0" smtClean="0">
                <a:solidFill>
                  <a:srgbClr val="7030A0"/>
                </a:solidFill>
              </a:rPr>
              <a:t>&gt;</a:t>
            </a:r>
          </a:p>
          <a:p>
            <a:r>
              <a:rPr lang="en-US" b="1" dirty="0" smtClean="0">
                <a:solidFill>
                  <a:srgbClr val="FF0000"/>
                </a:solidFill>
              </a:rPr>
              <a:t>  &lt;td </a:t>
            </a:r>
            <a:r>
              <a:rPr lang="hy-AM" b="1" dirty="0" smtClean="0">
                <a:solidFill>
                  <a:srgbClr val="00B050"/>
                </a:solidFill>
              </a:rPr>
              <a:t>row</a:t>
            </a:r>
            <a:r>
              <a:rPr lang="en-US" b="1" dirty="0" smtClean="0">
                <a:solidFill>
                  <a:srgbClr val="00B050"/>
                </a:solidFill>
              </a:rPr>
              <a:t>span="2"</a:t>
            </a:r>
            <a:r>
              <a:rPr lang="en-US" b="1" dirty="0" smtClean="0">
                <a:solidFill>
                  <a:srgbClr val="FF0000"/>
                </a:solidFill>
              </a:rPr>
              <a:t>&gt;</a:t>
            </a:r>
            <a:r>
              <a:rPr lang="en-US" b="1" dirty="0" smtClean="0"/>
              <a:t>Telephone</a:t>
            </a:r>
            <a:r>
              <a:rPr lang="en-US" b="1" dirty="0" smtClean="0">
                <a:solidFill>
                  <a:srgbClr val="FF0000"/>
                </a:solidFill>
              </a:rPr>
              <a:t>&lt;/td&gt;</a:t>
            </a:r>
            <a:endParaRPr lang="en-US" b="1" dirty="0" smtClean="0">
              <a:solidFill>
                <a:srgbClr val="7030A0"/>
              </a:solidFill>
            </a:endParaRPr>
          </a:p>
          <a:p>
            <a:r>
              <a:rPr lang="en-US" b="1" dirty="0" smtClean="0">
                <a:solidFill>
                  <a:srgbClr val="FF0000"/>
                </a:solidFill>
              </a:rPr>
              <a:t>  &lt;td&gt;</a:t>
            </a:r>
            <a:r>
              <a:rPr lang="en-US" b="1" dirty="0" smtClean="0"/>
              <a:t>555 77 854</a:t>
            </a:r>
            <a:r>
              <a:rPr lang="en-US" b="1" dirty="0" smtClean="0">
                <a:solidFill>
                  <a:srgbClr val="FF0000"/>
                </a:solidFill>
              </a:rPr>
              <a:t>&lt;/td&gt;</a:t>
            </a:r>
          </a:p>
          <a:p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smtClean="0">
                <a:solidFill>
                  <a:srgbClr val="7030A0"/>
                </a:solidFill>
              </a:rPr>
              <a:t>&lt;/</a:t>
            </a:r>
            <a:r>
              <a:rPr lang="en-US" b="1" dirty="0" err="1" smtClean="0">
                <a:solidFill>
                  <a:srgbClr val="7030A0"/>
                </a:solidFill>
              </a:rPr>
              <a:t>tr</a:t>
            </a:r>
            <a:r>
              <a:rPr lang="en-US" b="1" dirty="0" smtClean="0">
                <a:solidFill>
                  <a:srgbClr val="7030A0"/>
                </a:solidFill>
              </a:rPr>
              <a:t>&gt;</a:t>
            </a:r>
          </a:p>
          <a:p>
            <a:r>
              <a:rPr lang="en-US" b="1" dirty="0" smtClean="0">
                <a:solidFill>
                  <a:srgbClr val="7030A0"/>
                </a:solidFill>
              </a:rPr>
              <a:t>&lt;</a:t>
            </a:r>
            <a:r>
              <a:rPr lang="en-US" b="1" dirty="0" err="1" smtClean="0">
                <a:solidFill>
                  <a:srgbClr val="7030A0"/>
                </a:solidFill>
              </a:rPr>
              <a:t>tr</a:t>
            </a:r>
            <a:r>
              <a:rPr lang="en-US" b="1" dirty="0" smtClean="0">
                <a:solidFill>
                  <a:srgbClr val="7030A0"/>
                </a:solidFill>
              </a:rPr>
              <a:t>&gt;</a:t>
            </a:r>
          </a:p>
          <a:p>
            <a:r>
              <a:rPr lang="en-US" b="1" dirty="0" smtClean="0">
                <a:solidFill>
                  <a:srgbClr val="FF0000"/>
                </a:solidFill>
              </a:rPr>
              <a:t>&lt;td&gt;</a:t>
            </a:r>
            <a:r>
              <a:rPr lang="en-US" b="1" dirty="0" smtClean="0"/>
              <a:t>555 77 855</a:t>
            </a:r>
            <a:r>
              <a:rPr lang="en-US" b="1" dirty="0" smtClean="0">
                <a:solidFill>
                  <a:srgbClr val="FF0000"/>
                </a:solidFill>
              </a:rPr>
              <a:t>&lt;/td&gt;</a:t>
            </a:r>
          </a:p>
          <a:p>
            <a:r>
              <a:rPr lang="en-US" b="1" dirty="0" smtClean="0">
                <a:solidFill>
                  <a:srgbClr val="7030A0"/>
                </a:solidFill>
              </a:rPr>
              <a:t>&lt;/</a:t>
            </a:r>
            <a:r>
              <a:rPr lang="en-US" b="1" dirty="0" err="1" smtClean="0">
                <a:solidFill>
                  <a:srgbClr val="7030A0"/>
                </a:solidFill>
              </a:rPr>
              <a:t>tr</a:t>
            </a:r>
            <a:r>
              <a:rPr lang="en-US" b="1" dirty="0" smtClean="0">
                <a:solidFill>
                  <a:srgbClr val="7030A0"/>
                </a:solidFill>
              </a:rPr>
              <a:t>&gt;</a:t>
            </a:r>
          </a:p>
          <a:p>
            <a:r>
              <a:rPr lang="en-US" b="1" dirty="0" smtClean="0">
                <a:solidFill>
                  <a:srgbClr val="FF0000"/>
                </a:solidFill>
              </a:rPr>
              <a:t>&lt;/table&gt;</a:t>
            </a:r>
            <a:endParaRPr lang="en-US" b="1" dirty="0">
              <a:solidFill>
                <a:srgbClr val="FF0000"/>
              </a:solidFill>
            </a:endParaRPr>
          </a:p>
        </p:txBody>
      </p:sp>
      <p:pic>
        <p:nvPicPr>
          <p:cNvPr id="6145" name="Picture 1" descr="C:\Users\Araik\Desktop\Untitled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2204864"/>
            <a:ext cx="4110889" cy="2077467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539552" y="260648"/>
            <a:ext cx="79208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HTML</a:t>
            </a:r>
            <a:r>
              <a:rPr lang="en-US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– </a:t>
            </a:r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Tables</a:t>
            </a:r>
            <a:endParaRPr lang="en-US" sz="4800" dirty="0" smtClean="0"/>
          </a:p>
        </p:txBody>
      </p:sp>
      <p:sp>
        <p:nvSpPr>
          <p:cNvPr id="8" name="TextBox 7"/>
          <p:cNvSpPr txBox="1"/>
          <p:nvPr/>
        </p:nvSpPr>
        <p:spPr>
          <a:xfrm>
            <a:off x="251520" y="1052736"/>
            <a:ext cx="52491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32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Table Cellpadding:</a:t>
            </a:r>
            <a:endParaRPr lang="en-US" sz="3200" dirty="0" smtClean="0"/>
          </a:p>
        </p:txBody>
      </p:sp>
      <p:pic>
        <p:nvPicPr>
          <p:cNvPr id="5121" name="Picture 1" descr="C:\Users\Araik\Desktop\Untitled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536" y="2285992"/>
            <a:ext cx="3644346" cy="1261976"/>
          </a:xfrm>
          <a:prstGeom prst="rect">
            <a:avLst/>
          </a:prstGeom>
          <a:noFill/>
        </p:spPr>
      </p:pic>
      <p:sp>
        <p:nvSpPr>
          <p:cNvPr id="12" name="Rectangle 11"/>
          <p:cNvSpPr/>
          <p:nvPr/>
        </p:nvSpPr>
        <p:spPr>
          <a:xfrm>
            <a:off x="4355976" y="2236011"/>
            <a:ext cx="3888432" cy="3693319"/>
          </a:xfrm>
          <a:prstGeom prst="rect">
            <a:avLst/>
          </a:prstGeom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&lt;table</a:t>
            </a:r>
            <a:r>
              <a:rPr lang="hy-AM" b="1" dirty="0" smtClean="0">
                <a:solidFill>
                  <a:srgbClr val="FF0000"/>
                </a:solidFill>
              </a:rPr>
              <a:t> </a:t>
            </a:r>
            <a:r>
              <a:rPr lang="en-US" b="1" dirty="0" smtClean="0">
                <a:solidFill>
                  <a:srgbClr val="FF0000"/>
                </a:solidFill>
              </a:rPr>
              <a:t> border="1"</a:t>
            </a:r>
            <a:r>
              <a:rPr lang="hy-AM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00B050"/>
                </a:solidFill>
              </a:rPr>
              <a:t>cellpadding</a:t>
            </a:r>
            <a:r>
              <a:rPr lang="en-US" b="1" dirty="0" smtClean="0">
                <a:solidFill>
                  <a:srgbClr val="00B050"/>
                </a:solidFill>
              </a:rPr>
              <a:t>="10"</a:t>
            </a:r>
            <a:r>
              <a:rPr lang="en-US" b="1" dirty="0" smtClean="0">
                <a:solidFill>
                  <a:srgbClr val="FF0000"/>
                </a:solidFill>
              </a:rPr>
              <a:t>&gt;</a:t>
            </a:r>
          </a:p>
          <a:p>
            <a:r>
              <a:rPr lang="en-US" b="1" dirty="0" smtClean="0">
                <a:solidFill>
                  <a:srgbClr val="7030A0"/>
                </a:solidFill>
              </a:rPr>
              <a:t>&lt;</a:t>
            </a:r>
            <a:r>
              <a:rPr lang="en-US" b="1" dirty="0" err="1" smtClean="0">
                <a:solidFill>
                  <a:srgbClr val="7030A0"/>
                </a:solidFill>
              </a:rPr>
              <a:t>tr</a:t>
            </a:r>
            <a:r>
              <a:rPr lang="en-US" b="1" dirty="0" smtClean="0">
                <a:solidFill>
                  <a:srgbClr val="7030A0"/>
                </a:solidFill>
              </a:rPr>
              <a:t>&gt;</a:t>
            </a:r>
          </a:p>
          <a:p>
            <a:r>
              <a:rPr lang="en-US" b="1" dirty="0" smtClean="0">
                <a:solidFill>
                  <a:srgbClr val="FF0000"/>
                </a:solidFill>
              </a:rPr>
              <a:t>  &lt;</a:t>
            </a:r>
            <a:r>
              <a:rPr lang="en-US" b="1" dirty="0" err="1" smtClean="0">
                <a:solidFill>
                  <a:srgbClr val="FF0000"/>
                </a:solidFill>
              </a:rPr>
              <a:t>th</a:t>
            </a:r>
            <a:r>
              <a:rPr lang="en-US" b="1" dirty="0" smtClean="0">
                <a:solidFill>
                  <a:srgbClr val="FF0000"/>
                </a:solidFill>
              </a:rPr>
              <a:t>&gt; </a:t>
            </a:r>
            <a:r>
              <a:rPr lang="en-US" b="1" dirty="0" smtClean="0"/>
              <a:t>Name</a:t>
            </a:r>
            <a:r>
              <a:rPr lang="en-US" b="1" dirty="0" smtClean="0">
                <a:solidFill>
                  <a:srgbClr val="FF0000"/>
                </a:solidFill>
              </a:rPr>
              <a:t>&lt;/</a:t>
            </a:r>
            <a:r>
              <a:rPr lang="en-US" b="1" dirty="0" err="1" smtClean="0">
                <a:solidFill>
                  <a:srgbClr val="FF0000"/>
                </a:solidFill>
              </a:rPr>
              <a:t>th</a:t>
            </a:r>
            <a:r>
              <a:rPr lang="en-US" b="1" dirty="0" smtClean="0">
                <a:solidFill>
                  <a:srgbClr val="FF0000"/>
                </a:solidFill>
              </a:rPr>
              <a:t>&gt;</a:t>
            </a:r>
          </a:p>
          <a:p>
            <a:r>
              <a:rPr lang="en-US" b="1" dirty="0" smtClean="0">
                <a:solidFill>
                  <a:srgbClr val="FF0000"/>
                </a:solidFill>
              </a:rPr>
              <a:t>  &lt;</a:t>
            </a:r>
            <a:r>
              <a:rPr lang="en-US" b="1" dirty="0" err="1" smtClean="0">
                <a:solidFill>
                  <a:srgbClr val="FF0000"/>
                </a:solidFill>
              </a:rPr>
              <a:t>th</a:t>
            </a:r>
            <a:r>
              <a:rPr lang="en-US" b="1" dirty="0" smtClean="0">
                <a:solidFill>
                  <a:srgbClr val="FF0000"/>
                </a:solidFill>
              </a:rPr>
              <a:t>&gt; </a:t>
            </a:r>
            <a:r>
              <a:rPr lang="en-US" b="1" dirty="0" smtClean="0"/>
              <a:t>Telephone</a:t>
            </a:r>
            <a:r>
              <a:rPr lang="hy-AM" b="1" dirty="0" smtClean="0"/>
              <a:t>1</a:t>
            </a:r>
            <a:r>
              <a:rPr lang="en-US" b="1" dirty="0" smtClean="0">
                <a:solidFill>
                  <a:srgbClr val="FF0000"/>
                </a:solidFill>
              </a:rPr>
              <a:t>&lt;/</a:t>
            </a:r>
            <a:r>
              <a:rPr lang="en-US" b="1" dirty="0" err="1" smtClean="0">
                <a:solidFill>
                  <a:srgbClr val="FF0000"/>
                </a:solidFill>
              </a:rPr>
              <a:t>th</a:t>
            </a:r>
            <a:r>
              <a:rPr lang="en-US" b="1" dirty="0" smtClean="0">
                <a:solidFill>
                  <a:srgbClr val="FF0000"/>
                </a:solidFill>
              </a:rPr>
              <a:t>&gt;</a:t>
            </a:r>
            <a:endParaRPr lang="hy-AM" b="1" dirty="0" smtClean="0">
              <a:solidFill>
                <a:srgbClr val="FF0000"/>
              </a:solidFill>
            </a:endParaRPr>
          </a:p>
          <a:p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hy-AM" b="1" dirty="0" smtClean="0">
                <a:solidFill>
                  <a:srgbClr val="FF0000"/>
                </a:solidFill>
              </a:rPr>
              <a:t> </a:t>
            </a:r>
            <a:r>
              <a:rPr lang="en-US" b="1" dirty="0" smtClean="0">
                <a:solidFill>
                  <a:srgbClr val="FF0000"/>
                </a:solidFill>
              </a:rPr>
              <a:t>&lt;</a:t>
            </a:r>
            <a:r>
              <a:rPr lang="en-US" b="1" dirty="0" err="1" smtClean="0">
                <a:solidFill>
                  <a:srgbClr val="FF0000"/>
                </a:solidFill>
              </a:rPr>
              <a:t>th</a:t>
            </a:r>
            <a:r>
              <a:rPr lang="en-US" b="1" dirty="0" smtClean="0">
                <a:solidFill>
                  <a:srgbClr val="FF0000"/>
                </a:solidFill>
              </a:rPr>
              <a:t>&gt; </a:t>
            </a:r>
            <a:r>
              <a:rPr lang="en-US" b="1" dirty="0" smtClean="0"/>
              <a:t>Telephone</a:t>
            </a:r>
            <a:r>
              <a:rPr lang="hy-AM" b="1" dirty="0" smtClean="0"/>
              <a:t>2</a:t>
            </a:r>
            <a:r>
              <a:rPr lang="en-US" b="1" dirty="0" smtClean="0">
                <a:solidFill>
                  <a:srgbClr val="FF0000"/>
                </a:solidFill>
              </a:rPr>
              <a:t>&lt;/</a:t>
            </a:r>
            <a:r>
              <a:rPr lang="en-US" b="1" dirty="0" err="1" smtClean="0">
                <a:solidFill>
                  <a:srgbClr val="FF0000"/>
                </a:solidFill>
              </a:rPr>
              <a:t>th</a:t>
            </a:r>
            <a:r>
              <a:rPr lang="en-US" b="1" dirty="0" smtClean="0">
                <a:solidFill>
                  <a:srgbClr val="FF0000"/>
                </a:solidFill>
              </a:rPr>
              <a:t>&gt;</a:t>
            </a:r>
          </a:p>
          <a:p>
            <a:r>
              <a:rPr lang="en-US" b="1" dirty="0" smtClean="0">
                <a:solidFill>
                  <a:srgbClr val="7030A0"/>
                </a:solidFill>
              </a:rPr>
              <a:t>&lt;/</a:t>
            </a:r>
            <a:r>
              <a:rPr lang="en-US" b="1" dirty="0" err="1" smtClean="0">
                <a:solidFill>
                  <a:srgbClr val="7030A0"/>
                </a:solidFill>
              </a:rPr>
              <a:t>tr</a:t>
            </a:r>
            <a:r>
              <a:rPr lang="en-US" b="1" dirty="0" smtClean="0">
                <a:solidFill>
                  <a:srgbClr val="7030A0"/>
                </a:solidFill>
              </a:rPr>
              <a:t>&gt;</a:t>
            </a:r>
          </a:p>
          <a:p>
            <a:r>
              <a:rPr lang="en-US" b="1" dirty="0" smtClean="0">
                <a:solidFill>
                  <a:srgbClr val="7030A0"/>
                </a:solidFill>
              </a:rPr>
              <a:t>&lt;</a:t>
            </a:r>
            <a:r>
              <a:rPr lang="en-US" b="1" dirty="0" err="1" smtClean="0">
                <a:solidFill>
                  <a:srgbClr val="7030A0"/>
                </a:solidFill>
              </a:rPr>
              <a:t>tr</a:t>
            </a:r>
            <a:r>
              <a:rPr lang="en-US" b="1" dirty="0" smtClean="0">
                <a:solidFill>
                  <a:srgbClr val="7030A0"/>
                </a:solidFill>
              </a:rPr>
              <a:t>&gt;</a:t>
            </a:r>
          </a:p>
          <a:p>
            <a:r>
              <a:rPr lang="en-US" b="1" dirty="0" smtClean="0">
                <a:solidFill>
                  <a:srgbClr val="FF0000"/>
                </a:solidFill>
              </a:rPr>
              <a:t>  &lt;td&gt;</a:t>
            </a:r>
            <a:r>
              <a:rPr lang="en-US" b="1" dirty="0" smtClean="0"/>
              <a:t>Bill Gates</a:t>
            </a:r>
            <a:r>
              <a:rPr lang="en-US" b="1" dirty="0" smtClean="0">
                <a:solidFill>
                  <a:srgbClr val="FF0000"/>
                </a:solidFill>
              </a:rPr>
              <a:t>&lt;/td&gt;</a:t>
            </a:r>
          </a:p>
          <a:p>
            <a:r>
              <a:rPr lang="en-US" b="1" dirty="0" smtClean="0">
                <a:solidFill>
                  <a:srgbClr val="FF0000"/>
                </a:solidFill>
              </a:rPr>
              <a:t>  &lt;td&gt;</a:t>
            </a:r>
            <a:r>
              <a:rPr lang="en-US" b="1" dirty="0" smtClean="0"/>
              <a:t>555 77 854</a:t>
            </a:r>
            <a:r>
              <a:rPr lang="en-US" b="1" dirty="0" smtClean="0">
                <a:solidFill>
                  <a:srgbClr val="FF0000"/>
                </a:solidFill>
              </a:rPr>
              <a:t>&lt;/td&gt;</a:t>
            </a:r>
          </a:p>
          <a:p>
            <a:r>
              <a:rPr lang="en-US" b="1" dirty="0" smtClean="0">
                <a:solidFill>
                  <a:srgbClr val="FF0000"/>
                </a:solidFill>
              </a:rPr>
              <a:t>  &lt;td&gt;</a:t>
            </a:r>
            <a:r>
              <a:rPr lang="en-US" b="1" dirty="0" smtClean="0"/>
              <a:t>555 77 855</a:t>
            </a:r>
            <a:r>
              <a:rPr lang="en-US" b="1" dirty="0" smtClean="0">
                <a:solidFill>
                  <a:srgbClr val="FF0000"/>
                </a:solidFill>
              </a:rPr>
              <a:t>&lt;/td&gt;</a:t>
            </a:r>
          </a:p>
          <a:p>
            <a:r>
              <a:rPr lang="en-US" b="1" dirty="0" smtClean="0">
                <a:solidFill>
                  <a:srgbClr val="7030A0"/>
                </a:solidFill>
              </a:rPr>
              <a:t>&lt;/</a:t>
            </a:r>
            <a:r>
              <a:rPr lang="en-US" b="1" dirty="0" err="1" smtClean="0">
                <a:solidFill>
                  <a:srgbClr val="7030A0"/>
                </a:solidFill>
              </a:rPr>
              <a:t>tr</a:t>
            </a:r>
            <a:r>
              <a:rPr lang="en-US" b="1" dirty="0" smtClean="0">
                <a:solidFill>
                  <a:srgbClr val="7030A0"/>
                </a:solidFill>
              </a:rPr>
              <a:t>&gt;</a:t>
            </a:r>
          </a:p>
          <a:p>
            <a:r>
              <a:rPr lang="en-US" b="1" dirty="0" smtClean="0">
                <a:solidFill>
                  <a:srgbClr val="FF0000"/>
                </a:solidFill>
              </a:rPr>
              <a:t>&lt;/table&gt;</a:t>
            </a:r>
            <a:endParaRPr 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539552" y="260648"/>
            <a:ext cx="79208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HTML</a:t>
            </a:r>
            <a:r>
              <a:rPr lang="en-US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– </a:t>
            </a:r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Tables</a:t>
            </a:r>
            <a:endParaRPr lang="en-US" sz="4800" dirty="0" smtClean="0"/>
          </a:p>
        </p:txBody>
      </p:sp>
      <p:sp>
        <p:nvSpPr>
          <p:cNvPr id="13" name="TextBox 12"/>
          <p:cNvSpPr txBox="1"/>
          <p:nvPr/>
        </p:nvSpPr>
        <p:spPr>
          <a:xfrm>
            <a:off x="251520" y="1052736"/>
            <a:ext cx="48919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32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Table Cellspacing:</a:t>
            </a:r>
            <a:endParaRPr lang="en-US" sz="3200" dirty="0" smtClean="0"/>
          </a:p>
        </p:txBody>
      </p:sp>
      <p:sp>
        <p:nvSpPr>
          <p:cNvPr id="15" name="Rectangle 14"/>
          <p:cNvSpPr/>
          <p:nvPr/>
        </p:nvSpPr>
        <p:spPr>
          <a:xfrm>
            <a:off x="4355976" y="2021697"/>
            <a:ext cx="3888432" cy="3693319"/>
          </a:xfrm>
          <a:prstGeom prst="rect">
            <a:avLst/>
          </a:prstGeom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&lt;table</a:t>
            </a:r>
            <a:r>
              <a:rPr lang="hy-AM" b="1" dirty="0" smtClean="0">
                <a:solidFill>
                  <a:srgbClr val="FF0000"/>
                </a:solidFill>
              </a:rPr>
              <a:t> </a:t>
            </a:r>
            <a:r>
              <a:rPr lang="en-US" b="1" dirty="0" smtClean="0">
                <a:solidFill>
                  <a:srgbClr val="FF0000"/>
                </a:solidFill>
              </a:rPr>
              <a:t> border="1"</a:t>
            </a:r>
            <a:r>
              <a:rPr lang="hy-AM" b="1" dirty="0" smtClean="0">
                <a:solidFill>
                  <a:srgbClr val="FF0000"/>
                </a:solidFill>
              </a:rPr>
              <a:t> </a:t>
            </a:r>
            <a:r>
              <a:rPr lang="en-US" b="1" dirty="0" smtClean="0">
                <a:solidFill>
                  <a:srgbClr val="00B050"/>
                </a:solidFill>
              </a:rPr>
              <a:t>cell</a:t>
            </a:r>
            <a:r>
              <a:rPr lang="hy-AM" b="1" dirty="0" smtClean="0">
                <a:solidFill>
                  <a:srgbClr val="00B050"/>
                </a:solidFill>
              </a:rPr>
              <a:t>spacing</a:t>
            </a:r>
            <a:r>
              <a:rPr lang="en-US" b="1" dirty="0" smtClean="0">
                <a:solidFill>
                  <a:srgbClr val="00B050"/>
                </a:solidFill>
              </a:rPr>
              <a:t>="10"</a:t>
            </a:r>
            <a:r>
              <a:rPr lang="en-US" b="1" dirty="0" smtClean="0">
                <a:solidFill>
                  <a:srgbClr val="FF0000"/>
                </a:solidFill>
              </a:rPr>
              <a:t>&gt;</a:t>
            </a:r>
          </a:p>
          <a:p>
            <a:r>
              <a:rPr lang="en-US" b="1" dirty="0" smtClean="0">
                <a:solidFill>
                  <a:srgbClr val="7030A0"/>
                </a:solidFill>
              </a:rPr>
              <a:t>&lt;</a:t>
            </a:r>
            <a:r>
              <a:rPr lang="en-US" b="1" dirty="0" err="1" smtClean="0">
                <a:solidFill>
                  <a:srgbClr val="7030A0"/>
                </a:solidFill>
              </a:rPr>
              <a:t>tr</a:t>
            </a:r>
            <a:r>
              <a:rPr lang="en-US" b="1" dirty="0" smtClean="0">
                <a:solidFill>
                  <a:srgbClr val="7030A0"/>
                </a:solidFill>
              </a:rPr>
              <a:t>&gt;</a:t>
            </a:r>
          </a:p>
          <a:p>
            <a:r>
              <a:rPr lang="en-US" b="1" dirty="0" smtClean="0">
                <a:solidFill>
                  <a:srgbClr val="FF0000"/>
                </a:solidFill>
              </a:rPr>
              <a:t>  &lt;</a:t>
            </a:r>
            <a:r>
              <a:rPr lang="en-US" b="1" dirty="0" err="1" smtClean="0">
                <a:solidFill>
                  <a:srgbClr val="FF0000"/>
                </a:solidFill>
              </a:rPr>
              <a:t>th</a:t>
            </a:r>
            <a:r>
              <a:rPr lang="en-US" b="1" dirty="0" smtClean="0">
                <a:solidFill>
                  <a:srgbClr val="FF0000"/>
                </a:solidFill>
              </a:rPr>
              <a:t>&gt;</a:t>
            </a:r>
            <a:r>
              <a:rPr lang="en-US" b="1" dirty="0" smtClean="0"/>
              <a:t>Name</a:t>
            </a:r>
            <a:r>
              <a:rPr lang="en-US" b="1" dirty="0" smtClean="0">
                <a:solidFill>
                  <a:srgbClr val="FF0000"/>
                </a:solidFill>
              </a:rPr>
              <a:t>&lt;/</a:t>
            </a:r>
            <a:r>
              <a:rPr lang="en-US" b="1" dirty="0" err="1" smtClean="0">
                <a:solidFill>
                  <a:srgbClr val="FF0000"/>
                </a:solidFill>
              </a:rPr>
              <a:t>th</a:t>
            </a:r>
            <a:r>
              <a:rPr lang="en-US" b="1" dirty="0" smtClean="0">
                <a:solidFill>
                  <a:srgbClr val="FF0000"/>
                </a:solidFill>
              </a:rPr>
              <a:t>&gt;</a:t>
            </a:r>
          </a:p>
          <a:p>
            <a:r>
              <a:rPr lang="en-US" b="1" dirty="0" smtClean="0">
                <a:solidFill>
                  <a:srgbClr val="FF0000"/>
                </a:solidFill>
              </a:rPr>
              <a:t>  &lt;</a:t>
            </a:r>
            <a:r>
              <a:rPr lang="en-US" b="1" dirty="0" err="1" smtClean="0">
                <a:solidFill>
                  <a:srgbClr val="FF0000"/>
                </a:solidFill>
              </a:rPr>
              <a:t>th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smtClean="0"/>
              <a:t>Telephone</a:t>
            </a:r>
            <a:r>
              <a:rPr lang="hy-AM" b="1" dirty="0" smtClean="0"/>
              <a:t>1</a:t>
            </a:r>
            <a:r>
              <a:rPr lang="en-US" b="1" dirty="0" smtClean="0">
                <a:solidFill>
                  <a:srgbClr val="FF0000"/>
                </a:solidFill>
              </a:rPr>
              <a:t>&lt;/</a:t>
            </a:r>
            <a:r>
              <a:rPr lang="en-US" b="1" dirty="0" err="1" smtClean="0">
                <a:solidFill>
                  <a:srgbClr val="FF0000"/>
                </a:solidFill>
              </a:rPr>
              <a:t>th</a:t>
            </a:r>
            <a:r>
              <a:rPr lang="en-US" b="1" dirty="0" smtClean="0">
                <a:solidFill>
                  <a:srgbClr val="FF0000"/>
                </a:solidFill>
              </a:rPr>
              <a:t>&gt;</a:t>
            </a:r>
            <a:endParaRPr lang="hy-AM" b="1" dirty="0" smtClean="0">
              <a:solidFill>
                <a:srgbClr val="FF0000"/>
              </a:solidFill>
            </a:endParaRPr>
          </a:p>
          <a:p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hy-AM" b="1" dirty="0" smtClean="0">
                <a:solidFill>
                  <a:srgbClr val="FF0000"/>
                </a:solidFill>
              </a:rPr>
              <a:t> </a:t>
            </a:r>
            <a:r>
              <a:rPr lang="en-US" b="1" dirty="0" smtClean="0">
                <a:solidFill>
                  <a:srgbClr val="FF0000"/>
                </a:solidFill>
              </a:rPr>
              <a:t>&lt;</a:t>
            </a:r>
            <a:r>
              <a:rPr lang="en-US" b="1" dirty="0" err="1" smtClean="0">
                <a:solidFill>
                  <a:srgbClr val="FF0000"/>
                </a:solidFill>
              </a:rPr>
              <a:t>th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smtClean="0"/>
              <a:t>Telephone</a:t>
            </a:r>
            <a:r>
              <a:rPr lang="hy-AM" b="1" dirty="0" smtClean="0"/>
              <a:t>2</a:t>
            </a:r>
            <a:r>
              <a:rPr lang="en-US" b="1" dirty="0" smtClean="0">
                <a:solidFill>
                  <a:srgbClr val="FF0000"/>
                </a:solidFill>
              </a:rPr>
              <a:t>&lt;/</a:t>
            </a:r>
            <a:r>
              <a:rPr lang="en-US" b="1" dirty="0" err="1" smtClean="0">
                <a:solidFill>
                  <a:srgbClr val="FF0000"/>
                </a:solidFill>
              </a:rPr>
              <a:t>th</a:t>
            </a:r>
            <a:r>
              <a:rPr lang="en-US" b="1" dirty="0" smtClean="0">
                <a:solidFill>
                  <a:srgbClr val="FF0000"/>
                </a:solidFill>
              </a:rPr>
              <a:t>&gt;</a:t>
            </a:r>
          </a:p>
          <a:p>
            <a:r>
              <a:rPr lang="en-US" b="1" dirty="0" smtClean="0">
                <a:solidFill>
                  <a:srgbClr val="7030A0"/>
                </a:solidFill>
              </a:rPr>
              <a:t>&lt;/</a:t>
            </a:r>
            <a:r>
              <a:rPr lang="en-US" b="1" dirty="0" err="1" smtClean="0">
                <a:solidFill>
                  <a:srgbClr val="7030A0"/>
                </a:solidFill>
              </a:rPr>
              <a:t>tr</a:t>
            </a:r>
            <a:r>
              <a:rPr lang="en-US" b="1" dirty="0" smtClean="0">
                <a:solidFill>
                  <a:srgbClr val="7030A0"/>
                </a:solidFill>
              </a:rPr>
              <a:t>&gt;</a:t>
            </a:r>
          </a:p>
          <a:p>
            <a:r>
              <a:rPr lang="en-US" b="1" dirty="0" smtClean="0">
                <a:solidFill>
                  <a:srgbClr val="7030A0"/>
                </a:solidFill>
              </a:rPr>
              <a:t>&lt;</a:t>
            </a:r>
            <a:r>
              <a:rPr lang="en-US" b="1" dirty="0" err="1" smtClean="0">
                <a:solidFill>
                  <a:srgbClr val="7030A0"/>
                </a:solidFill>
              </a:rPr>
              <a:t>tr</a:t>
            </a:r>
            <a:r>
              <a:rPr lang="en-US" b="1" dirty="0" smtClean="0">
                <a:solidFill>
                  <a:srgbClr val="7030A0"/>
                </a:solidFill>
              </a:rPr>
              <a:t>&gt;</a:t>
            </a:r>
          </a:p>
          <a:p>
            <a:r>
              <a:rPr lang="en-US" b="1" dirty="0" smtClean="0">
                <a:solidFill>
                  <a:srgbClr val="FF0000"/>
                </a:solidFill>
              </a:rPr>
              <a:t>  &lt;td&gt;</a:t>
            </a:r>
            <a:r>
              <a:rPr lang="en-US" b="1" dirty="0" smtClean="0"/>
              <a:t>Bill Gates</a:t>
            </a:r>
            <a:r>
              <a:rPr lang="en-US" b="1" dirty="0" smtClean="0">
                <a:solidFill>
                  <a:srgbClr val="FF0000"/>
                </a:solidFill>
              </a:rPr>
              <a:t>&lt;/td&gt;</a:t>
            </a:r>
          </a:p>
          <a:p>
            <a:r>
              <a:rPr lang="en-US" b="1" dirty="0" smtClean="0">
                <a:solidFill>
                  <a:srgbClr val="FF0000"/>
                </a:solidFill>
              </a:rPr>
              <a:t>  &lt;td&gt;</a:t>
            </a:r>
            <a:r>
              <a:rPr lang="en-US" b="1" dirty="0" smtClean="0"/>
              <a:t>555 77 854</a:t>
            </a:r>
            <a:r>
              <a:rPr lang="en-US" b="1" dirty="0" smtClean="0">
                <a:solidFill>
                  <a:srgbClr val="FF0000"/>
                </a:solidFill>
              </a:rPr>
              <a:t>&lt;/td&gt;</a:t>
            </a:r>
          </a:p>
          <a:p>
            <a:r>
              <a:rPr lang="en-US" b="1" dirty="0" smtClean="0">
                <a:solidFill>
                  <a:srgbClr val="FF0000"/>
                </a:solidFill>
              </a:rPr>
              <a:t>  &lt;td&gt;</a:t>
            </a:r>
            <a:r>
              <a:rPr lang="en-US" b="1" dirty="0" smtClean="0"/>
              <a:t>555 77 855</a:t>
            </a:r>
            <a:r>
              <a:rPr lang="en-US" b="1" dirty="0" smtClean="0">
                <a:solidFill>
                  <a:srgbClr val="FF0000"/>
                </a:solidFill>
              </a:rPr>
              <a:t>&lt;/td&gt;</a:t>
            </a:r>
          </a:p>
          <a:p>
            <a:r>
              <a:rPr lang="en-US" b="1" dirty="0" smtClean="0">
                <a:solidFill>
                  <a:srgbClr val="7030A0"/>
                </a:solidFill>
              </a:rPr>
              <a:t>&lt;/</a:t>
            </a:r>
            <a:r>
              <a:rPr lang="en-US" b="1" dirty="0" err="1" smtClean="0">
                <a:solidFill>
                  <a:srgbClr val="7030A0"/>
                </a:solidFill>
              </a:rPr>
              <a:t>tr</a:t>
            </a:r>
            <a:r>
              <a:rPr lang="en-US" b="1" dirty="0" smtClean="0">
                <a:solidFill>
                  <a:srgbClr val="7030A0"/>
                </a:solidFill>
              </a:rPr>
              <a:t>&gt;</a:t>
            </a:r>
          </a:p>
          <a:p>
            <a:r>
              <a:rPr lang="en-US" b="1" dirty="0" smtClean="0">
                <a:solidFill>
                  <a:srgbClr val="FF0000"/>
                </a:solidFill>
              </a:rPr>
              <a:t>&lt;/table&gt;</a:t>
            </a:r>
            <a:endParaRPr lang="en-US" b="1" dirty="0">
              <a:solidFill>
                <a:srgbClr val="FF0000"/>
              </a:solidFill>
            </a:endParaRPr>
          </a:p>
        </p:txBody>
      </p:sp>
      <p:pic>
        <p:nvPicPr>
          <p:cNvPr id="4097" name="Picture 1" descr="C:\Users\Araik\Desktop\Untitled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2204864"/>
            <a:ext cx="3930476" cy="132804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4286280" y="1363990"/>
            <a:ext cx="4572000" cy="4801314"/>
          </a:xfrm>
          <a:prstGeom prst="rect">
            <a:avLst/>
          </a:prstGeom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&lt;table border="1" </a:t>
            </a:r>
            <a:r>
              <a:rPr lang="en-US" b="1" dirty="0" err="1" smtClean="0">
                <a:solidFill>
                  <a:srgbClr val="FF0000"/>
                </a:solidFill>
              </a:rPr>
              <a:t>cellpadding</a:t>
            </a:r>
            <a:r>
              <a:rPr lang="en-US" b="1" dirty="0" smtClean="0">
                <a:solidFill>
                  <a:srgbClr val="FF0000"/>
                </a:solidFill>
              </a:rPr>
              <a:t>="10"&gt;</a:t>
            </a:r>
          </a:p>
          <a:p>
            <a:r>
              <a:rPr lang="en-US" b="1" dirty="0" smtClean="0">
                <a:solidFill>
                  <a:srgbClr val="7030A0"/>
                </a:solidFill>
              </a:rPr>
              <a:t>&lt;</a:t>
            </a:r>
            <a:r>
              <a:rPr lang="en-US" b="1" dirty="0" err="1" smtClean="0">
                <a:solidFill>
                  <a:srgbClr val="7030A0"/>
                </a:solidFill>
              </a:rPr>
              <a:t>tr</a:t>
            </a:r>
            <a:r>
              <a:rPr lang="en-US" b="1" dirty="0" smtClean="0">
                <a:solidFill>
                  <a:srgbClr val="7030A0"/>
                </a:solidFill>
              </a:rPr>
              <a:t>&gt;</a:t>
            </a:r>
          </a:p>
          <a:p>
            <a:r>
              <a:rPr lang="en-US" b="1" dirty="0" smtClean="0">
                <a:solidFill>
                  <a:srgbClr val="FF0000"/>
                </a:solidFill>
              </a:rPr>
              <a:t>  &lt;</a:t>
            </a:r>
            <a:r>
              <a:rPr lang="en-US" b="1" dirty="0" err="1" smtClean="0">
                <a:solidFill>
                  <a:srgbClr val="FF0000"/>
                </a:solidFill>
              </a:rPr>
              <a:t>th</a:t>
            </a:r>
            <a:r>
              <a:rPr lang="en-US" b="1" dirty="0" smtClean="0">
                <a:solidFill>
                  <a:srgbClr val="FF0000"/>
                </a:solidFill>
              </a:rPr>
              <a:t>&gt;</a:t>
            </a:r>
            <a:r>
              <a:rPr lang="en-US" b="1" dirty="0" smtClean="0"/>
              <a:t>Name</a:t>
            </a:r>
            <a:r>
              <a:rPr lang="en-US" b="1" dirty="0" smtClean="0">
                <a:solidFill>
                  <a:srgbClr val="FF0000"/>
                </a:solidFill>
              </a:rPr>
              <a:t>&lt;/</a:t>
            </a:r>
            <a:r>
              <a:rPr lang="en-US" b="1" dirty="0" err="1" smtClean="0">
                <a:solidFill>
                  <a:srgbClr val="FF0000"/>
                </a:solidFill>
              </a:rPr>
              <a:t>th</a:t>
            </a:r>
            <a:r>
              <a:rPr lang="en-US" b="1" dirty="0" smtClean="0">
                <a:solidFill>
                  <a:srgbClr val="FF0000"/>
                </a:solidFill>
              </a:rPr>
              <a:t>&gt;</a:t>
            </a:r>
          </a:p>
          <a:p>
            <a:r>
              <a:rPr lang="en-US" b="1" dirty="0" smtClean="0">
                <a:solidFill>
                  <a:srgbClr val="FF0000"/>
                </a:solidFill>
              </a:rPr>
              <a:t>  &lt;</a:t>
            </a:r>
            <a:r>
              <a:rPr lang="en-US" b="1" dirty="0" err="1" smtClean="0">
                <a:solidFill>
                  <a:srgbClr val="FF0000"/>
                </a:solidFill>
              </a:rPr>
              <a:t>th</a:t>
            </a:r>
            <a:r>
              <a:rPr lang="en-US" b="1" dirty="0" smtClean="0">
                <a:solidFill>
                  <a:srgbClr val="FF0000"/>
                </a:solidFill>
              </a:rPr>
              <a:t> &gt;</a:t>
            </a:r>
            <a:r>
              <a:rPr lang="en-US" b="1" dirty="0" smtClean="0"/>
              <a:t>Telephone1</a:t>
            </a:r>
            <a:r>
              <a:rPr lang="en-US" b="1" dirty="0" smtClean="0">
                <a:solidFill>
                  <a:srgbClr val="FF0000"/>
                </a:solidFill>
              </a:rPr>
              <a:t>&lt;/</a:t>
            </a:r>
            <a:r>
              <a:rPr lang="en-US" b="1" dirty="0" err="1" smtClean="0">
                <a:solidFill>
                  <a:srgbClr val="FF0000"/>
                </a:solidFill>
              </a:rPr>
              <a:t>th</a:t>
            </a:r>
            <a:r>
              <a:rPr lang="en-US" b="1" dirty="0" smtClean="0">
                <a:solidFill>
                  <a:srgbClr val="FF0000"/>
                </a:solidFill>
              </a:rPr>
              <a:t>&gt;</a:t>
            </a:r>
          </a:p>
          <a:p>
            <a:r>
              <a:rPr lang="en-US" b="1" dirty="0" smtClean="0">
                <a:solidFill>
                  <a:srgbClr val="FF0000"/>
                </a:solidFill>
              </a:rPr>
              <a:t>  &lt;</a:t>
            </a:r>
            <a:r>
              <a:rPr lang="en-US" b="1" dirty="0" err="1" smtClean="0">
                <a:solidFill>
                  <a:srgbClr val="FF0000"/>
                </a:solidFill>
              </a:rPr>
              <a:t>th</a:t>
            </a:r>
            <a:r>
              <a:rPr lang="en-US" b="1" dirty="0" smtClean="0">
                <a:solidFill>
                  <a:srgbClr val="FF0000"/>
                </a:solidFill>
              </a:rPr>
              <a:t> &gt;</a:t>
            </a:r>
            <a:r>
              <a:rPr lang="en-US" b="1" dirty="0" smtClean="0"/>
              <a:t>Telephone2</a:t>
            </a:r>
            <a:r>
              <a:rPr lang="en-US" b="1" dirty="0" smtClean="0">
                <a:solidFill>
                  <a:srgbClr val="FF0000"/>
                </a:solidFill>
              </a:rPr>
              <a:t>&lt;/</a:t>
            </a:r>
            <a:r>
              <a:rPr lang="en-US" b="1" dirty="0" err="1" smtClean="0">
                <a:solidFill>
                  <a:srgbClr val="FF0000"/>
                </a:solidFill>
              </a:rPr>
              <a:t>th</a:t>
            </a:r>
            <a:r>
              <a:rPr lang="en-US" b="1" dirty="0" smtClean="0">
                <a:solidFill>
                  <a:srgbClr val="FF0000"/>
                </a:solidFill>
              </a:rPr>
              <a:t>&gt;</a:t>
            </a:r>
          </a:p>
          <a:p>
            <a:r>
              <a:rPr lang="hy-AM" b="1" dirty="0" smtClean="0">
                <a:solidFill>
                  <a:srgbClr val="7030A0"/>
                </a:solidFill>
              </a:rPr>
              <a:t>  </a:t>
            </a:r>
            <a:r>
              <a:rPr lang="en-US" b="1" dirty="0" smtClean="0">
                <a:solidFill>
                  <a:srgbClr val="7030A0"/>
                </a:solidFill>
              </a:rPr>
              <a:t>&lt;/</a:t>
            </a:r>
            <a:r>
              <a:rPr lang="en-US" b="1" dirty="0" err="1" smtClean="0">
                <a:solidFill>
                  <a:srgbClr val="7030A0"/>
                </a:solidFill>
              </a:rPr>
              <a:t>tr</a:t>
            </a:r>
            <a:r>
              <a:rPr lang="en-US" b="1" dirty="0" smtClean="0">
                <a:solidFill>
                  <a:srgbClr val="7030A0"/>
                </a:solidFill>
              </a:rPr>
              <a:t>&gt;</a:t>
            </a:r>
          </a:p>
          <a:p>
            <a:r>
              <a:rPr lang="hy-AM" b="1" dirty="0" smtClean="0">
                <a:solidFill>
                  <a:srgbClr val="FF0000"/>
                </a:solidFill>
              </a:rPr>
              <a:t>  </a:t>
            </a:r>
            <a:r>
              <a:rPr lang="en-US" b="1" dirty="0" smtClean="0">
                <a:solidFill>
                  <a:srgbClr val="7030A0"/>
                </a:solidFill>
              </a:rPr>
              <a:t>&lt;</a:t>
            </a:r>
            <a:r>
              <a:rPr lang="en-US" b="1" dirty="0" err="1" smtClean="0">
                <a:solidFill>
                  <a:srgbClr val="7030A0"/>
                </a:solidFill>
              </a:rPr>
              <a:t>tr</a:t>
            </a:r>
            <a:r>
              <a:rPr lang="en-US" b="1" dirty="0" smtClean="0">
                <a:solidFill>
                  <a:srgbClr val="7030A0"/>
                </a:solidFill>
              </a:rPr>
              <a:t>&gt;</a:t>
            </a:r>
          </a:p>
          <a:p>
            <a:r>
              <a:rPr lang="en-US" b="1" dirty="0" smtClean="0">
                <a:solidFill>
                  <a:srgbClr val="FF0000"/>
                </a:solidFill>
              </a:rPr>
              <a:t>  &lt;td&gt;</a:t>
            </a:r>
          </a:p>
          <a:p>
            <a:r>
              <a:rPr lang="en-US" b="1" dirty="0" smtClean="0">
                <a:solidFill>
                  <a:srgbClr val="FF0000"/>
                </a:solidFill>
              </a:rPr>
              <a:t>	  </a:t>
            </a:r>
            <a:r>
              <a:rPr lang="en-US" b="1" dirty="0" smtClean="0">
                <a:solidFill>
                  <a:srgbClr val="0070C0"/>
                </a:solidFill>
              </a:rPr>
              <a:t>&lt;table border="1"&gt;</a:t>
            </a:r>
          </a:p>
          <a:p>
            <a:r>
              <a:rPr lang="en-US" b="1" dirty="0" smtClean="0">
                <a:solidFill>
                  <a:srgbClr val="0070C0"/>
                </a:solidFill>
              </a:rPr>
              <a:t>		  &lt;</a:t>
            </a:r>
            <a:r>
              <a:rPr lang="en-US" b="1" dirty="0" err="1" smtClean="0">
                <a:solidFill>
                  <a:srgbClr val="0070C0"/>
                </a:solidFill>
              </a:rPr>
              <a:t>tr</a:t>
            </a:r>
            <a:r>
              <a:rPr lang="en-US" b="1" dirty="0" smtClean="0">
                <a:solidFill>
                  <a:srgbClr val="0070C0"/>
                </a:solidFill>
              </a:rPr>
              <a:t>&gt;&lt;td&gt;</a:t>
            </a:r>
            <a:r>
              <a:rPr lang="en-US" b="1" dirty="0" smtClean="0"/>
              <a:t>a</a:t>
            </a:r>
            <a:r>
              <a:rPr lang="en-US" b="1" dirty="0" smtClean="0">
                <a:solidFill>
                  <a:srgbClr val="0070C0"/>
                </a:solidFill>
              </a:rPr>
              <a:t>&lt;/td&gt;&lt;/</a:t>
            </a:r>
            <a:r>
              <a:rPr lang="en-US" b="1" dirty="0" err="1" smtClean="0">
                <a:solidFill>
                  <a:srgbClr val="0070C0"/>
                </a:solidFill>
              </a:rPr>
              <a:t>tr</a:t>
            </a:r>
            <a:r>
              <a:rPr lang="en-US" b="1" dirty="0" smtClean="0">
                <a:solidFill>
                  <a:srgbClr val="0070C0"/>
                </a:solidFill>
              </a:rPr>
              <a:t>&gt;</a:t>
            </a:r>
          </a:p>
          <a:p>
            <a:r>
              <a:rPr lang="en-US" b="1" dirty="0" smtClean="0">
                <a:solidFill>
                  <a:srgbClr val="0070C0"/>
                </a:solidFill>
              </a:rPr>
              <a:t>		  &lt;</a:t>
            </a:r>
            <a:r>
              <a:rPr lang="en-US" b="1" dirty="0" err="1" smtClean="0">
                <a:solidFill>
                  <a:srgbClr val="0070C0"/>
                </a:solidFill>
              </a:rPr>
              <a:t>tr</a:t>
            </a:r>
            <a:r>
              <a:rPr lang="en-US" b="1" dirty="0" smtClean="0">
                <a:solidFill>
                  <a:srgbClr val="0070C0"/>
                </a:solidFill>
              </a:rPr>
              <a:t>&gt;&lt;td&gt;</a:t>
            </a:r>
            <a:r>
              <a:rPr lang="en-US" b="1" dirty="0" smtClean="0"/>
              <a:t>b</a:t>
            </a:r>
            <a:r>
              <a:rPr lang="en-US" b="1" dirty="0" smtClean="0">
                <a:solidFill>
                  <a:srgbClr val="0070C0"/>
                </a:solidFill>
              </a:rPr>
              <a:t>&lt;/td&gt;&lt;/</a:t>
            </a:r>
            <a:r>
              <a:rPr lang="en-US" b="1" dirty="0" err="1" smtClean="0">
                <a:solidFill>
                  <a:srgbClr val="0070C0"/>
                </a:solidFill>
              </a:rPr>
              <a:t>tr</a:t>
            </a:r>
            <a:r>
              <a:rPr lang="en-US" b="1" dirty="0" smtClean="0">
                <a:solidFill>
                  <a:srgbClr val="0070C0"/>
                </a:solidFill>
              </a:rPr>
              <a:t>&gt;</a:t>
            </a:r>
          </a:p>
          <a:p>
            <a:r>
              <a:rPr lang="en-US" b="1" dirty="0" smtClean="0">
                <a:solidFill>
                  <a:srgbClr val="0070C0"/>
                </a:solidFill>
              </a:rPr>
              <a:t>	  &lt;/table&gt;	</a:t>
            </a:r>
            <a:r>
              <a:rPr lang="en-US" b="1" dirty="0" smtClean="0">
                <a:solidFill>
                  <a:srgbClr val="FF0000"/>
                </a:solidFill>
              </a:rPr>
              <a:t>  </a:t>
            </a:r>
          </a:p>
          <a:p>
            <a:r>
              <a:rPr lang="en-US" b="1" dirty="0" smtClean="0">
                <a:solidFill>
                  <a:srgbClr val="FF0000"/>
                </a:solidFill>
              </a:rPr>
              <a:t>  &lt;/td&gt;</a:t>
            </a:r>
          </a:p>
          <a:p>
            <a:r>
              <a:rPr lang="en-US" b="1" dirty="0" smtClean="0">
                <a:solidFill>
                  <a:srgbClr val="FF0000"/>
                </a:solidFill>
              </a:rPr>
              <a:t>  &lt;td&gt;</a:t>
            </a:r>
            <a:r>
              <a:rPr lang="en-US" b="1" dirty="0" smtClean="0"/>
              <a:t>555 77 854</a:t>
            </a:r>
            <a:r>
              <a:rPr lang="en-US" b="1" dirty="0" smtClean="0">
                <a:solidFill>
                  <a:srgbClr val="FF0000"/>
                </a:solidFill>
              </a:rPr>
              <a:t>&lt;/td&gt;</a:t>
            </a:r>
          </a:p>
          <a:p>
            <a:r>
              <a:rPr lang="en-US" b="1" dirty="0" smtClean="0">
                <a:solidFill>
                  <a:srgbClr val="FF0000"/>
                </a:solidFill>
              </a:rPr>
              <a:t>  &lt;td&gt;</a:t>
            </a:r>
            <a:r>
              <a:rPr lang="en-US" b="1" dirty="0" smtClean="0"/>
              <a:t>555 77 855</a:t>
            </a:r>
            <a:r>
              <a:rPr lang="en-US" b="1" dirty="0" smtClean="0">
                <a:solidFill>
                  <a:srgbClr val="FF0000"/>
                </a:solidFill>
              </a:rPr>
              <a:t>&lt;/td&gt;</a:t>
            </a:r>
          </a:p>
          <a:p>
            <a:r>
              <a:rPr lang="en-US" b="1" dirty="0" smtClean="0">
                <a:solidFill>
                  <a:srgbClr val="7030A0"/>
                </a:solidFill>
              </a:rPr>
              <a:t>&lt;/</a:t>
            </a:r>
            <a:r>
              <a:rPr lang="en-US" b="1" dirty="0" err="1" smtClean="0">
                <a:solidFill>
                  <a:srgbClr val="7030A0"/>
                </a:solidFill>
              </a:rPr>
              <a:t>tr</a:t>
            </a:r>
            <a:r>
              <a:rPr lang="en-US" b="1" dirty="0" smtClean="0">
                <a:solidFill>
                  <a:srgbClr val="7030A0"/>
                </a:solidFill>
              </a:rPr>
              <a:t>&gt;</a:t>
            </a:r>
          </a:p>
          <a:p>
            <a:r>
              <a:rPr lang="en-US" b="1" dirty="0" smtClean="0">
                <a:solidFill>
                  <a:srgbClr val="FF0000"/>
                </a:solidFill>
              </a:rPr>
              <a:t>&lt;/table&gt;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39552" y="260648"/>
            <a:ext cx="79208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HTML</a:t>
            </a:r>
            <a:r>
              <a:rPr lang="en-US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– </a:t>
            </a:r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Tables</a:t>
            </a:r>
            <a:endParaRPr lang="en-US" sz="4800" dirty="0" smtClean="0"/>
          </a:p>
        </p:txBody>
      </p:sp>
      <p:sp>
        <p:nvSpPr>
          <p:cNvPr id="8" name="TextBox 7"/>
          <p:cNvSpPr txBox="1"/>
          <p:nvPr/>
        </p:nvSpPr>
        <p:spPr>
          <a:xfrm>
            <a:off x="251520" y="1052736"/>
            <a:ext cx="46062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32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Table Inside Table:</a:t>
            </a:r>
            <a:endParaRPr lang="en-US" sz="3200" dirty="0" smtClean="0"/>
          </a:p>
        </p:txBody>
      </p:sp>
      <p:pic>
        <p:nvPicPr>
          <p:cNvPr id="3075" name="Picture 3" descr="C:\Users\Araik\Desktop\Untitled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2564904"/>
            <a:ext cx="3729724" cy="1748929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539552" y="260648"/>
            <a:ext cx="23042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Task1:</a:t>
            </a:r>
            <a:endParaRPr lang="en-US" sz="4800" dirty="0" smtClean="0"/>
          </a:p>
        </p:txBody>
      </p:sp>
      <p:pic>
        <p:nvPicPr>
          <p:cNvPr id="2050" name="Picture 2" descr="C:\Users\Araik\Desktop\Untitled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987824" y="260647"/>
            <a:ext cx="4824536" cy="6373427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39552" y="260648"/>
            <a:ext cx="21602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Task2:</a:t>
            </a:r>
            <a:endParaRPr lang="en-US" sz="4800" dirty="0" smtClean="0"/>
          </a:p>
        </p:txBody>
      </p:sp>
      <p:pic>
        <p:nvPicPr>
          <p:cNvPr id="28674" name="Picture 2" descr="C:\Users\Araik\Desktop\Untitled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85786" y="1000108"/>
            <a:ext cx="7530630" cy="5230258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2986</TotalTime>
  <Words>774</Words>
  <Application>Microsoft Office PowerPoint</Application>
  <PresentationFormat>Экран (4:3)</PresentationFormat>
  <Paragraphs>156</Paragraphs>
  <Slides>15</Slides>
  <Notes>1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16" baseType="lpstr">
      <vt:lpstr>Equity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Araik</dc:creator>
  <cp:lastModifiedBy>home</cp:lastModifiedBy>
  <cp:revision>152</cp:revision>
  <dcterms:created xsi:type="dcterms:W3CDTF">2013-08-16T08:22:25Z</dcterms:created>
  <dcterms:modified xsi:type="dcterms:W3CDTF">2016-07-21T06:35:21Z</dcterms:modified>
</cp:coreProperties>
</file>