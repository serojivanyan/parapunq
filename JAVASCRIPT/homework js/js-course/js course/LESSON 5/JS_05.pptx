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7" r:id="rId8"/>
    <p:sldId id="271" r:id="rId9"/>
    <p:sldId id="270" r:id="rId10"/>
    <p:sldId id="272" r:id="rId11"/>
    <p:sldId id="273" r:id="rId12"/>
    <p:sldId id="274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>
        <p:scale>
          <a:sx n="70" d="100"/>
          <a:sy n="70" d="100"/>
        </p:scale>
        <p:origin x="-13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9D068-B525-4CAC-8186-CDB407C1BD77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A0895-8F15-4486-A1A9-47776EBBA2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8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DA0895-8F15-4486-A1A9-47776EBBA27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9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BCB7-3EBB-4567-84DF-F14E0EA17694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BCD2-D2C4-43C3-AF04-952BCE295136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0A9C-A938-48B9-99FF-784D2C142E09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412C-B91E-49D1-B80B-E41D09A3AEB7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A638-819C-46E6-8EF1-24E3CE9A4AD1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37E0-F595-4781-B2FF-9706D5AF69B4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1D4-220E-4E01-A264-CBD45BB1D1F2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584A-06BD-4400-9D4B-FC611A6A15B0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48DF-5963-4AEC-906A-AD3F848A733A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4732-3364-452E-9031-DCA7F1BB99E5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2B1-E678-452A-A809-58A55B2525C8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2D634-C2FB-4C55-AA0E-3890484A9E7F}" type="datetime1">
              <a:rPr lang="ru-RU" smtClean="0"/>
              <a:pPr/>
              <a:t>07.12.2016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5" y="0"/>
            <a:ext cx="83578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3143272" cy="147002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</a:t>
            </a: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</a:t>
            </a:r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5</a:t>
            </a:r>
            <a:endParaRPr lang="en-US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6239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 HTML DOM Elements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ru-RU" i="1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04800" y="1600200"/>
            <a:ext cx="8429684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Finding HTML Elements by Id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2133600"/>
            <a:ext cx="8458200" cy="8382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 smtClean="0"/>
              <a:t>x=</a:t>
            </a:r>
            <a:r>
              <a:rPr lang="en-US" sz="20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document</a:t>
            </a:r>
            <a:r>
              <a:rPr lang="en-US" sz="2000" dirty="0" err="1" smtClean="0"/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getElementById</a:t>
            </a:r>
            <a:r>
              <a:rPr lang="en-US" sz="2000" dirty="0" smtClean="0"/>
              <a:t>("</a:t>
            </a:r>
            <a:r>
              <a:rPr lang="en-US" sz="2000" dirty="0" err="1" smtClean="0"/>
              <a:t>your_id</a:t>
            </a:r>
            <a:r>
              <a:rPr lang="en-US" sz="2000" dirty="0" smtClean="0"/>
              <a:t>");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document</a:t>
            </a:r>
            <a:r>
              <a:rPr lang="en-US" sz="2000" dirty="0" err="1" smtClean="0"/>
              <a:t>.write</a:t>
            </a:r>
            <a:r>
              <a:rPr lang="en-US" sz="2000" dirty="0" smtClean="0"/>
              <a:t>(</a:t>
            </a:r>
            <a:r>
              <a:rPr lang="en-US" sz="2000" dirty="0" err="1" smtClean="0"/>
              <a:t>x.</a:t>
            </a:r>
            <a:r>
              <a:rPr lang="en-US" sz="2000" dirty="0" err="1" smtClean="0">
                <a:solidFill>
                  <a:srgbClr val="7030A0"/>
                </a:solidFill>
              </a:rPr>
              <a:t>innerHTML</a:t>
            </a:r>
            <a:r>
              <a:rPr lang="en-US" sz="2000" dirty="0" smtClean="0"/>
              <a:t>);</a:t>
            </a:r>
            <a:endParaRPr lang="ru-RU" sz="20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04800" y="3124200"/>
            <a:ext cx="8429684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Finding HTML Elements by Tag Name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04800" y="3733800"/>
            <a:ext cx="8458200" cy="1066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y=</a:t>
            </a:r>
            <a:r>
              <a:rPr lang="en-US" sz="2000" dirty="0" smtClean="0"/>
              <a:t>x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getElementsByTagName</a:t>
            </a:r>
            <a:r>
              <a:rPr lang="en-US" sz="2000" dirty="0"/>
              <a:t>("div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sz="2000" dirty="0" smtClean="0"/>
              <a:t>z=</a:t>
            </a:r>
            <a:r>
              <a:rPr 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document</a:t>
            </a:r>
            <a:r>
              <a:rPr lang="en-US" sz="2000" dirty="0" smtClean="0"/>
              <a:t>.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getElementsByTagName</a:t>
            </a:r>
            <a:r>
              <a:rPr lang="en-US" sz="2000" dirty="0" smtClean="0"/>
              <a:t>("p");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 smtClean="0">
                <a:solidFill>
                  <a:srgbClr val="00B0F0"/>
                </a:solidFill>
              </a:rPr>
              <a:t>alert</a:t>
            </a:r>
            <a:r>
              <a:rPr lang="en-US" sz="2000" dirty="0" smtClean="0"/>
              <a:t>(z[0].</a:t>
            </a:r>
            <a:r>
              <a:rPr lang="en-US" sz="2000" dirty="0" err="1" smtClean="0">
                <a:solidFill>
                  <a:srgbClr val="7030A0"/>
                </a:solidFill>
              </a:rPr>
              <a:t>innerHTML</a:t>
            </a:r>
            <a:r>
              <a:rPr lang="en-US" sz="2000" dirty="0" smtClean="0"/>
              <a:t>)</a:t>
            </a:r>
          </a:p>
          <a:p>
            <a:pPr marL="342900" lvl="0" indent="-342900">
              <a:spcBef>
                <a:spcPct val="20000"/>
              </a:spcBef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04800" y="4953000"/>
            <a:ext cx="8429684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 Finding HTML Elements by Class Name</a:t>
            </a:r>
            <a:endParaRPr lang="en-US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04800" y="5562600"/>
            <a:ext cx="8458200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sz="2000" dirty="0" smtClean="0"/>
              <a:t>z=</a:t>
            </a:r>
            <a:r>
              <a:rPr 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document</a:t>
            </a:r>
            <a:r>
              <a:rPr lang="en-US" sz="2000" dirty="0" smtClean="0"/>
              <a:t>.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getElementsByClassName</a:t>
            </a:r>
            <a:r>
              <a:rPr lang="en-US" sz="2000" smtClean="0"/>
              <a:t>("p1");</a:t>
            </a:r>
            <a:endParaRPr lang="en-US" sz="2000" dirty="0" smtClean="0"/>
          </a:p>
          <a:p>
            <a:pPr marL="342900" lvl="0" indent="-342900">
              <a:spcBef>
                <a:spcPct val="20000"/>
              </a:spcBef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Changing the Value of an Attribute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524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04800" y="1524000"/>
            <a:ext cx="84582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To change the value of an HTML attribute, use this syntax: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04800" y="2743200"/>
            <a:ext cx="8458200" cy="3124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img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lang="en-US" sz="2000" dirty="0" smtClean="0"/>
              <a:t>"</a:t>
            </a:r>
            <a:r>
              <a:rPr lang="en-US" sz="2000" dirty="0" err="1" smtClean="0"/>
              <a:t>image_id</a:t>
            </a:r>
            <a:r>
              <a:rPr lang="en-US" sz="2000" dirty="0" smtClean="0"/>
              <a:t>"  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src</a:t>
            </a:r>
            <a:r>
              <a:rPr lang="en-US" sz="2000" dirty="0" smtClean="0"/>
              <a:t>="pic.jpg" &gt;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lang="en-US" sz="2000" dirty="0" smtClean="0"/>
              <a:t>"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input_id</a:t>
            </a:r>
            <a:r>
              <a:rPr lang="en-US" sz="2000" dirty="0" smtClean="0"/>
              <a:t>"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lang="en-US" sz="2000" dirty="0" smtClean="0"/>
              <a:t>"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</a:t>
            </a:r>
            <a:r>
              <a:rPr lang="en-US" sz="2000" dirty="0" smtClean="0"/>
              <a:t>"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</a:rPr>
              <a:t>document</a:t>
            </a:r>
            <a:r>
              <a:rPr lang="en-US" sz="2000" dirty="0" err="1" smtClean="0"/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getElementById</a:t>
            </a:r>
            <a:r>
              <a:rPr lang="en-US" sz="2000" dirty="0" smtClean="0"/>
              <a:t>("</a:t>
            </a:r>
            <a:r>
              <a:rPr lang="en-US" sz="2000" dirty="0" err="1" smtClean="0"/>
              <a:t>image_id</a:t>
            </a:r>
            <a:r>
              <a:rPr lang="en-US" sz="2000" dirty="0" smtClean="0"/>
              <a:t>").</a:t>
            </a:r>
            <a:r>
              <a:rPr lang="en-US" sz="2000" dirty="0" err="1" smtClean="0">
                <a:solidFill>
                  <a:srgbClr val="FF0000"/>
                </a:solidFill>
              </a:rPr>
              <a:t>src</a:t>
            </a:r>
            <a:r>
              <a:rPr lang="en-US" sz="2000" dirty="0" smtClean="0"/>
              <a:t>="new_pic.jpg";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</a:rPr>
              <a:t>document</a:t>
            </a:r>
            <a:r>
              <a:rPr lang="en-US" sz="2000" dirty="0" err="1" smtClean="0"/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getElementById</a:t>
            </a:r>
            <a:r>
              <a:rPr lang="en-US" sz="2000" dirty="0" smtClean="0"/>
              <a:t>(" </a:t>
            </a:r>
            <a:r>
              <a:rPr lang="en-US" sz="2000" dirty="0" err="1" smtClean="0"/>
              <a:t>input_id</a:t>
            </a:r>
            <a:r>
              <a:rPr lang="en-US" sz="2000" dirty="0" smtClean="0"/>
              <a:t> ").</a:t>
            </a:r>
            <a:r>
              <a:rPr lang="en-US" sz="2000" dirty="0" smtClean="0">
                <a:solidFill>
                  <a:srgbClr val="FF0000"/>
                </a:solidFill>
              </a:rPr>
              <a:t>value</a:t>
            </a:r>
            <a:r>
              <a:rPr lang="en-US" sz="2000" dirty="0" smtClean="0"/>
              <a:t>="Hello!";</a:t>
            </a:r>
          </a:p>
          <a:p>
            <a:pPr marL="342900" lvl="0" indent="-342900">
              <a:spcBef>
                <a:spcPct val="20000"/>
              </a:spcBef>
            </a:pPr>
            <a:endParaRPr lang="en-US" sz="20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sz="2000" baseline="0" dirty="0" smtClean="0">
                <a:solidFill>
                  <a:schemeClr val="accent4">
                    <a:lumMod val="50000"/>
                  </a:schemeClr>
                </a:solidFill>
              </a:rPr>
              <a:t>&lt;/script&gt;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04800" y="2057400"/>
            <a:ext cx="8458200" cy="457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).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attribute=new value;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8458200" cy="4572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(id).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style.property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=new style</a:t>
            </a:r>
            <a:endParaRPr lang="ru-RU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28600" y="2743200"/>
            <a:ext cx="8382000" cy="3276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p </a:t>
            </a:r>
            <a:r>
              <a:rPr lang="en-US" sz="2000" dirty="0" smtClean="0">
                <a:solidFill>
                  <a:srgbClr val="FF0000"/>
                </a:solidFill>
              </a:rPr>
              <a:t>id</a:t>
            </a:r>
            <a:r>
              <a:rPr lang="en-US" sz="2000" dirty="0" smtClean="0"/>
              <a:t>="</a:t>
            </a:r>
            <a:r>
              <a:rPr lang="en-US" sz="2000" dirty="0" err="1" smtClean="0"/>
              <a:t>p_text</a:t>
            </a:r>
            <a:r>
              <a:rPr lang="en-US" sz="2000" dirty="0" smtClean="0"/>
              <a:t>"&gt;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Hello World!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 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endParaRPr lang="en-US" sz="20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</a:rPr>
              <a:t>document.</a:t>
            </a:r>
            <a:r>
              <a:rPr lang="en-US" sz="2000" dirty="0" err="1" smtClean="0">
                <a:solidFill>
                  <a:srgbClr val="FF0000"/>
                </a:solidFill>
              </a:rPr>
              <a:t>getElementById</a:t>
            </a:r>
            <a:r>
              <a:rPr lang="en-US" sz="2000" dirty="0" smtClean="0"/>
              <a:t>("</a:t>
            </a:r>
            <a:r>
              <a:rPr lang="en-US" sz="2000" dirty="0" err="1" smtClean="0"/>
              <a:t>p_text</a:t>
            </a:r>
            <a:r>
              <a:rPr lang="en-US" sz="2000" dirty="0" smtClean="0"/>
              <a:t>").</a:t>
            </a:r>
            <a:r>
              <a:rPr lang="en-US" sz="2000" dirty="0" err="1" smtClean="0">
                <a:solidFill>
                  <a:srgbClr val="FF0000"/>
                </a:solidFill>
              </a:rPr>
              <a:t>style</a:t>
            </a:r>
            <a:r>
              <a:rPr lang="en-US" sz="2000" dirty="0" err="1" smtClean="0"/>
              <a:t>.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color</a:t>
            </a:r>
            <a:r>
              <a:rPr lang="en-US" sz="2000" dirty="0" smtClean="0"/>
              <a:t>="blue";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</a:rPr>
              <a:t>document.</a:t>
            </a:r>
            <a:r>
              <a:rPr lang="en-US" sz="2000" dirty="0" err="1" smtClean="0">
                <a:solidFill>
                  <a:srgbClr val="FF0000"/>
                </a:solidFill>
              </a:rPr>
              <a:t>getElementById</a:t>
            </a:r>
            <a:r>
              <a:rPr lang="en-US" sz="2000" dirty="0" smtClean="0"/>
              <a:t>("</a:t>
            </a:r>
            <a:r>
              <a:rPr lang="en-US" sz="2000" dirty="0" err="1" smtClean="0"/>
              <a:t>p_text</a:t>
            </a:r>
            <a:r>
              <a:rPr lang="en-US" sz="2000" dirty="0" smtClean="0"/>
              <a:t>").</a:t>
            </a:r>
            <a:r>
              <a:rPr lang="en-US" sz="2000" dirty="0" err="1" smtClean="0">
                <a:solidFill>
                  <a:srgbClr val="FF0000"/>
                </a:solidFill>
              </a:rPr>
              <a:t>style</a:t>
            </a:r>
            <a:r>
              <a:rPr lang="en-US" sz="2000" dirty="0" err="1" smtClean="0"/>
              <a:t>.</a:t>
            </a:r>
            <a:r>
              <a:rPr lang="en-US" sz="2000" dirty="0" err="1" smtClean="0">
                <a:solidFill>
                  <a:schemeClr val="accent4">
                    <a:lumMod val="50000"/>
                  </a:schemeClr>
                </a:solidFill>
              </a:rPr>
              <a:t>fontSize</a:t>
            </a:r>
            <a:r>
              <a:rPr lang="en-US" sz="2000" dirty="0" smtClean="0"/>
              <a:t>="22px";</a:t>
            </a:r>
          </a:p>
          <a:p>
            <a:pPr marL="342900" indent="-342900">
              <a:spcBef>
                <a:spcPct val="20000"/>
              </a:spcBef>
            </a:pPr>
            <a:endParaRPr lang="en-US" sz="20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&lt;/script&gt;</a:t>
            </a:r>
          </a:p>
          <a:p>
            <a:pPr marL="342900" lvl="0" indent="-342900">
              <a:spcBef>
                <a:spcPct val="20000"/>
              </a:spcBef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1295400"/>
            <a:ext cx="8429684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To change the style of an HTML element, use this syntax: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Changing HTML Style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428596" y="142852"/>
            <a:ext cx="8229600" cy="78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40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Onclick</a:t>
            </a:r>
            <a:endParaRPr lang="ru-RU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572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</a:t>
            </a: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JavaScript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ru-RU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295400"/>
            <a:ext cx="82296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To execute code when a user clicks on an element, add JavaScript code to an HTML event attribute: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2971800"/>
            <a:ext cx="8229600" cy="2209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&lt;h1</a:t>
            </a:r>
            <a:r>
              <a:rPr lang="en-US" sz="2000" dirty="0" smtClean="0"/>
              <a:t> 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changetext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rgbClr val="00B0F0"/>
                </a:solidFill>
              </a:rPr>
              <a:t>this</a:t>
            </a:r>
            <a:r>
              <a:rPr lang="en-US" sz="2000" dirty="0" smtClean="0"/>
              <a:t>)"&gt;    Click on this text!    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&lt;/h1&gt;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i="1" dirty="0" smtClean="0">
                <a:solidFill>
                  <a:schemeClr val="accent1">
                    <a:lumMod val="50000"/>
                  </a:schemeClr>
                </a:solidFill>
              </a:rPr>
              <a:t>function  </a:t>
            </a:r>
            <a:r>
              <a:rPr lang="en-US" sz="2000" dirty="0" err="1" smtClean="0"/>
              <a:t>changetext</a:t>
            </a:r>
            <a:r>
              <a:rPr lang="en-US" sz="2000" dirty="0" smtClean="0"/>
              <a:t>(x){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/>
              <a:t>x.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innerHTML</a:t>
            </a:r>
            <a:r>
              <a:rPr lang="en-US" sz="2000" dirty="0" smtClean="0"/>
              <a:t>= "Hello World!";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&lt;/script&gt;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7200" y="5334000"/>
            <a:ext cx="8229600" cy="533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&lt;h1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>
                <a:solidFill>
                  <a:srgbClr val="00B0F0"/>
                </a:solidFill>
              </a:rPr>
              <a:t>this</a:t>
            </a:r>
            <a:r>
              <a:rPr lang="en-US" sz="2000" dirty="0" err="1" smtClean="0"/>
              <a:t>.</a:t>
            </a:r>
            <a:r>
              <a:rPr 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innerHTML</a:t>
            </a:r>
            <a:r>
              <a:rPr lang="en-US" sz="2000" dirty="0" smtClean="0"/>
              <a:t>='</a:t>
            </a:r>
            <a:r>
              <a:rPr lang="en-US" sz="2000" dirty="0" err="1" smtClean="0"/>
              <a:t>Ooops</a:t>
            </a:r>
            <a:r>
              <a:rPr lang="en-US" sz="2000" dirty="0" smtClean="0"/>
              <a:t>!' "&gt;Click on this text!&lt;/h1&gt;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Onchange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1447800"/>
            <a:ext cx="821537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The </a:t>
            </a:r>
            <a:r>
              <a:rPr lang="en-US" dirty="0" err="1" smtClean="0"/>
              <a:t>onchange</a:t>
            </a:r>
            <a:r>
              <a:rPr lang="en-US" dirty="0" smtClean="0"/>
              <a:t> event are often used in combination with validation of input fields.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81000" y="1981200"/>
            <a:ext cx="8177242" cy="213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&lt;input type</a:t>
            </a:r>
            <a:r>
              <a:rPr lang="en-US" dirty="0" smtClean="0"/>
              <a:t>="text"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id</a:t>
            </a:r>
            <a:r>
              <a:rPr lang="en-US" dirty="0" smtClean="0"/>
              <a:t>="</a:t>
            </a:r>
            <a:r>
              <a:rPr lang="en-US" dirty="0" err="1" smtClean="0"/>
              <a:t>fname</a:t>
            </a:r>
            <a:r>
              <a:rPr lang="en-US" dirty="0" smtClean="0"/>
              <a:t>" </a:t>
            </a:r>
            <a:r>
              <a:rPr lang="en-US" dirty="0" err="1" smtClean="0">
                <a:solidFill>
                  <a:srgbClr val="FF0000"/>
                </a:solidFill>
              </a:rPr>
              <a:t>onchange</a:t>
            </a:r>
            <a:r>
              <a:rPr lang="en-US" dirty="0" smtClean="0"/>
              <a:t>="</a:t>
            </a:r>
            <a:r>
              <a:rPr lang="en-US" dirty="0" err="1" smtClean="0"/>
              <a:t>myFunction</a:t>
            </a:r>
            <a:r>
              <a:rPr lang="en-US" dirty="0" smtClean="0"/>
              <a:t>()"&gt;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function </a:t>
            </a:r>
            <a:r>
              <a:rPr lang="en-US" dirty="0" err="1" smtClean="0"/>
              <a:t>myFunction</a:t>
            </a:r>
            <a:r>
              <a:rPr lang="en-US" dirty="0" smtClean="0"/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x=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document.getElementById</a:t>
            </a:r>
            <a:r>
              <a:rPr lang="en-US" dirty="0" smtClean="0"/>
              <a:t>("</a:t>
            </a:r>
            <a:r>
              <a:rPr lang="en-US" dirty="0" err="1" smtClean="0"/>
              <a:t>fname</a:t>
            </a:r>
            <a:r>
              <a:rPr lang="en-US" dirty="0" smtClean="0"/>
              <a:t>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x.</a:t>
            </a:r>
            <a:r>
              <a:rPr lang="en-US" dirty="0" err="1" smtClean="0">
                <a:solidFill>
                  <a:srgbClr val="FF0000"/>
                </a:solidFill>
              </a:rPr>
              <a:t>value</a:t>
            </a:r>
            <a:r>
              <a:rPr lang="en-US" dirty="0" smtClean="0"/>
              <a:t>=</a:t>
            </a:r>
            <a:r>
              <a:rPr lang="en-US" dirty="0" err="1" smtClean="0"/>
              <a:t>x.</a:t>
            </a:r>
            <a:r>
              <a:rPr lang="en-US" dirty="0" err="1" smtClean="0">
                <a:solidFill>
                  <a:srgbClr val="FF0000"/>
                </a:solidFill>
              </a:rPr>
              <a:t>value</a:t>
            </a:r>
            <a:r>
              <a:rPr lang="en-US" dirty="0" err="1" smtClean="0"/>
              <a:t>.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toUpperCase</a:t>
            </a:r>
            <a:r>
              <a:rPr lang="en-US" dirty="0" smtClean="0"/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}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81000" y="4191000"/>
            <a:ext cx="8177242" cy="190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&lt;select</a:t>
            </a:r>
            <a:r>
              <a:rPr lang="en-US" dirty="0" smtClean="0"/>
              <a:t> 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id</a:t>
            </a:r>
            <a:r>
              <a:rPr lang="en-US" dirty="0" smtClean="0"/>
              <a:t>= "country" </a:t>
            </a:r>
            <a:r>
              <a:rPr lang="en-US" dirty="0" err="1" smtClean="0">
                <a:solidFill>
                  <a:srgbClr val="FF0000"/>
                </a:solidFill>
              </a:rPr>
              <a:t>onchange</a:t>
            </a:r>
            <a:r>
              <a:rPr lang="en-US" dirty="0" smtClean="0"/>
              <a:t>="</a:t>
            </a:r>
            <a:r>
              <a:rPr lang="en-US" dirty="0" smtClean="0">
                <a:solidFill>
                  <a:srgbClr val="00B0F0"/>
                </a:solidFill>
              </a:rPr>
              <a:t>alert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(111) </a:t>
            </a:r>
            <a:r>
              <a:rPr lang="en-US" dirty="0" smtClean="0"/>
              <a:t>"&gt;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&lt;option  value= "arm" &gt; Armenia &lt;/option&gt;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&lt;option  value= "en" &gt; England&lt;/option&gt;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&lt;option  value= "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ru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" &gt; Russia&lt;/option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&lt;/select&gt;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Onmouseover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and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Onmouseout</a:t>
            </a: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81000" y="1143000"/>
            <a:ext cx="8215370" cy="76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The </a:t>
            </a:r>
            <a:r>
              <a:rPr lang="en-US" dirty="0" err="1" smtClean="0"/>
              <a:t>onmouseover</a:t>
            </a:r>
            <a:r>
              <a:rPr lang="en-US" dirty="0" smtClean="0"/>
              <a:t> and </a:t>
            </a:r>
            <a:r>
              <a:rPr lang="en-US" dirty="0" err="1" smtClean="0"/>
              <a:t>onmouseout</a:t>
            </a:r>
            <a:r>
              <a:rPr lang="en-US" dirty="0" smtClean="0"/>
              <a:t> events can be used to trigger a function when the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user </a:t>
            </a:r>
            <a:r>
              <a:rPr lang="en-US" dirty="0" err="1" smtClean="0"/>
              <a:t>mouses</a:t>
            </a:r>
            <a:r>
              <a:rPr lang="en-US" dirty="0" smtClean="0"/>
              <a:t> over, or out of, an HTML element.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81000" y="2362200"/>
            <a:ext cx="8177242" cy="3733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&lt;div </a:t>
            </a:r>
            <a:r>
              <a:rPr lang="en-US" dirty="0" err="1" smtClean="0">
                <a:solidFill>
                  <a:srgbClr val="FF0000"/>
                </a:solidFill>
              </a:rPr>
              <a:t>onmouseover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="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mOver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(this)" </a:t>
            </a:r>
            <a:r>
              <a:rPr lang="en-US" dirty="0" err="1" smtClean="0">
                <a:solidFill>
                  <a:srgbClr val="FF0000"/>
                </a:solidFill>
              </a:rPr>
              <a:t>onmouseout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="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mOut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(this)"&gt;Mouse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&lt;/div&gt;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</a:rPr>
              <a:t>function</a:t>
            </a:r>
            <a:r>
              <a:rPr lang="en-US" dirty="0" smtClean="0"/>
              <a:t> </a:t>
            </a:r>
            <a:r>
              <a:rPr lang="en-US" dirty="0" err="1" smtClean="0"/>
              <a:t>mOver</a:t>
            </a:r>
            <a:r>
              <a:rPr lang="en-US" dirty="0" smtClean="0"/>
              <a:t>(x)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x.</a:t>
            </a:r>
            <a:r>
              <a:rPr lang="en-US" dirty="0" err="1" smtClean="0">
                <a:solidFill>
                  <a:srgbClr val="FF0000"/>
                </a:solidFill>
              </a:rPr>
              <a:t>innerHTML</a:t>
            </a:r>
            <a:r>
              <a:rPr lang="en-US" dirty="0"/>
              <a:t>=" Mouse Over Me ";</a:t>
            </a:r>
            <a:endParaRPr lang="en-US" dirty="0" smtClean="0"/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</a:rPr>
              <a:t>function</a:t>
            </a:r>
            <a:r>
              <a:rPr lang="en-US" dirty="0" smtClean="0"/>
              <a:t> </a:t>
            </a:r>
            <a:r>
              <a:rPr lang="en-US" dirty="0" err="1" smtClean="0"/>
              <a:t>mOut</a:t>
            </a:r>
            <a:r>
              <a:rPr lang="en-US" dirty="0" smtClean="0"/>
              <a:t>(y)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y.</a:t>
            </a:r>
            <a:r>
              <a:rPr lang="en-US" dirty="0" err="1" smtClean="0">
                <a:solidFill>
                  <a:srgbClr val="FF0000"/>
                </a:solidFill>
              </a:rPr>
              <a:t>innerHTML</a:t>
            </a:r>
            <a:r>
              <a:rPr lang="en-US" dirty="0" smtClean="0"/>
              <a:t>="Mouse  </a:t>
            </a:r>
            <a:r>
              <a:rPr lang="en-US" dirty="0"/>
              <a:t>Out ";</a:t>
            </a:r>
            <a:endParaRPr lang="en-US" dirty="0" smtClean="0"/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&lt;/script&gt;</a:t>
            </a:r>
          </a:p>
          <a:p>
            <a:pPr marL="342900" lvl="0" indent="-342900">
              <a:spcBef>
                <a:spcPct val="20000"/>
              </a:spcBef>
            </a:pP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Onmousedown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and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Onmouseup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81000" y="1143000"/>
            <a:ext cx="8215370" cy="1066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First when a mouse-button is clicked, the </a:t>
            </a:r>
            <a:r>
              <a:rPr lang="en-US" dirty="0" err="1" smtClean="0"/>
              <a:t>onmousedown</a:t>
            </a:r>
            <a:r>
              <a:rPr lang="en-US" dirty="0" smtClean="0"/>
              <a:t> event is triggered, then,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when the mouse-button is released, the </a:t>
            </a:r>
            <a:r>
              <a:rPr lang="en-US" dirty="0" err="1" smtClean="0"/>
              <a:t>onmouseup</a:t>
            </a:r>
            <a:r>
              <a:rPr lang="en-US" dirty="0" smtClean="0"/>
              <a:t> event is triggered, finally, when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the mouse-click is completed, the </a:t>
            </a:r>
            <a:r>
              <a:rPr lang="en-US" dirty="0" err="1" smtClean="0"/>
              <a:t>onclick</a:t>
            </a:r>
            <a:r>
              <a:rPr lang="en-US" dirty="0" smtClean="0"/>
              <a:t> event is triggered.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2362200"/>
            <a:ext cx="8177242" cy="3886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&lt;div </a:t>
            </a:r>
            <a:r>
              <a:rPr lang="en-US" dirty="0" err="1" smtClean="0">
                <a:solidFill>
                  <a:srgbClr val="FF0000"/>
                </a:solidFill>
              </a:rPr>
              <a:t>onmousedown</a:t>
            </a:r>
            <a:r>
              <a:rPr lang="en-US" dirty="0" smtClean="0"/>
              <a:t>="</a:t>
            </a:r>
            <a:r>
              <a:rPr lang="en-US" dirty="0" err="1" smtClean="0"/>
              <a:t>mDown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B0F0"/>
                </a:solidFill>
              </a:rPr>
              <a:t>this</a:t>
            </a:r>
            <a:r>
              <a:rPr lang="en-US" dirty="0" smtClean="0"/>
              <a:t>)" </a:t>
            </a:r>
            <a:r>
              <a:rPr lang="en-US" dirty="0" err="1" smtClean="0">
                <a:solidFill>
                  <a:srgbClr val="FF0000"/>
                </a:solidFill>
              </a:rPr>
              <a:t>onmouseup</a:t>
            </a:r>
            <a:r>
              <a:rPr lang="en-US" dirty="0" smtClean="0"/>
              <a:t>="</a:t>
            </a:r>
            <a:r>
              <a:rPr lang="en-US" dirty="0" err="1" smtClean="0"/>
              <a:t>mUp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B0F0"/>
                </a:solidFill>
              </a:rPr>
              <a:t>this</a:t>
            </a:r>
            <a:r>
              <a:rPr lang="en-US" dirty="0" smtClean="0"/>
              <a:t>)" &gt;Click Me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&lt;/div&gt;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</a:rPr>
              <a:t>function</a:t>
            </a:r>
            <a:r>
              <a:rPr lang="en-US" dirty="0" smtClean="0"/>
              <a:t> </a:t>
            </a:r>
            <a:r>
              <a:rPr lang="en-US" dirty="0" err="1" smtClean="0"/>
              <a:t>mDown</a:t>
            </a:r>
            <a:r>
              <a:rPr lang="en-US" dirty="0" smtClean="0"/>
              <a:t>(x)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{</a:t>
            </a:r>
            <a:r>
              <a:rPr lang="en-US" dirty="0" err="1" smtClean="0"/>
              <a:t>x.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style</a:t>
            </a:r>
            <a:r>
              <a:rPr lang="en-US" dirty="0" err="1" smtClean="0"/>
              <a:t>.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backgroundColor</a:t>
            </a:r>
            <a:r>
              <a:rPr lang="en-US" dirty="0" smtClean="0"/>
              <a:t>="#1ec5e5";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x.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innerHTML</a:t>
            </a:r>
            <a:r>
              <a:rPr lang="en-US" dirty="0" smtClean="0"/>
              <a:t>="Release Me"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i="1" dirty="0" smtClean="0">
                <a:solidFill>
                  <a:schemeClr val="accent1">
                    <a:lumMod val="50000"/>
                  </a:schemeClr>
                </a:solidFill>
              </a:rPr>
              <a:t>function</a:t>
            </a:r>
            <a:r>
              <a:rPr lang="en-US" dirty="0" smtClean="0"/>
              <a:t> </a:t>
            </a:r>
            <a:r>
              <a:rPr lang="en-US" dirty="0" err="1" smtClean="0"/>
              <a:t>mUp</a:t>
            </a:r>
            <a:r>
              <a:rPr lang="en-US" dirty="0" smtClean="0"/>
              <a:t>(y)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{   </a:t>
            </a:r>
            <a:r>
              <a:rPr lang="en-US" dirty="0" err="1" smtClean="0"/>
              <a:t>y.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style</a:t>
            </a:r>
            <a:r>
              <a:rPr lang="en-US" dirty="0" err="1" smtClean="0"/>
              <a:t>.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backgroundColor</a:t>
            </a:r>
            <a:r>
              <a:rPr lang="en-US" dirty="0" smtClean="0"/>
              <a:t>="#D94A38";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    </a:t>
            </a:r>
            <a:r>
              <a:rPr lang="en-US" dirty="0" err="1" smtClean="0"/>
              <a:t>y.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innerHTML</a:t>
            </a:r>
            <a:r>
              <a:rPr lang="en-US" dirty="0" smtClean="0"/>
              <a:t>="Thank You";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2133600"/>
            <a:ext cx="8715436" cy="2438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just">
              <a:spcBef>
                <a:spcPct val="20000"/>
              </a:spcBef>
              <a:defRPr/>
            </a:pPr>
            <a:r>
              <a:rPr lang="en-US" sz="3200" dirty="0" smtClean="0"/>
              <a:t>   </a:t>
            </a:r>
            <a:r>
              <a:rPr lang="hy-AM" sz="3200" dirty="0" smtClean="0"/>
              <a:t>Ունենք </a:t>
            </a:r>
            <a:r>
              <a:rPr lang="en-US" sz="3200" dirty="0" smtClean="0"/>
              <a:t>div,</a:t>
            </a:r>
            <a:r>
              <a:rPr lang="hy-AM" sz="3200" dirty="0" smtClean="0"/>
              <a:t>որի մեջ կա ինչ-որ տեքստ: </a:t>
            </a:r>
            <a:endParaRPr lang="en-US" sz="3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   </a:t>
            </a:r>
            <a:r>
              <a:rPr lang="hy-AM" sz="3200" dirty="0" smtClean="0"/>
              <a:t>Գրել կոդ, որ վրան պահելիս,վրայից </a:t>
            </a:r>
            <a:endParaRPr lang="en-US" sz="3200" dirty="0" smtClean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3200" dirty="0" smtClean="0"/>
              <a:t>    </a:t>
            </a:r>
            <a:r>
              <a:rPr lang="hy-AM" sz="3200" dirty="0" smtClean="0"/>
              <a:t>հանելիս, սեղմած ժամանակ և </a:t>
            </a:r>
            <a:r>
              <a:rPr lang="ru-RU" sz="3200" dirty="0" err="1" smtClean="0"/>
              <a:t>թողն</a:t>
            </a:r>
            <a:r>
              <a:rPr lang="hy-AM" sz="3200" dirty="0" smtClean="0"/>
              <a:t>ելիս փոխվեն և տեքստը և գույնը: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ru-RU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2133600"/>
            <a:ext cx="8715436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just">
              <a:spcBef>
                <a:spcPct val="20000"/>
              </a:spcBef>
              <a:defRPr/>
            </a:pPr>
            <a:r>
              <a:rPr lang="en-US" sz="3200" dirty="0" smtClean="0"/>
              <a:t>   </a:t>
            </a:r>
            <a:r>
              <a:rPr lang="ru-RU" sz="3200" dirty="0" err="1" smtClean="0"/>
              <a:t>Պատրաստել</a:t>
            </a:r>
            <a:r>
              <a:rPr lang="ru-RU" sz="3200" dirty="0" smtClean="0"/>
              <a:t> </a:t>
            </a:r>
            <a:r>
              <a:rPr lang="ru-RU" sz="3200" dirty="0" err="1" smtClean="0"/>
              <a:t>հաշվիչ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2: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57323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2133600"/>
            <a:ext cx="8715436" cy="137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spcBef>
                <a:spcPct val="20000"/>
              </a:spcBef>
              <a:defRPr/>
            </a:pPr>
            <a:r>
              <a:rPr lang="en-US" sz="2400" dirty="0" smtClean="0"/>
              <a:t>   </a:t>
            </a:r>
            <a:r>
              <a:rPr lang="ru-RU" sz="2400" dirty="0" err="1" smtClean="0"/>
              <a:t>Ունենք</a:t>
            </a:r>
            <a:r>
              <a:rPr lang="ru-RU" sz="2400" dirty="0" smtClean="0"/>
              <a:t> </a:t>
            </a:r>
            <a:r>
              <a:rPr lang="ru-RU" sz="2400" dirty="0" err="1" smtClean="0"/>
              <a:t>երկու</a:t>
            </a:r>
            <a:r>
              <a:rPr lang="ru-RU" sz="2400" dirty="0" smtClean="0"/>
              <a:t> </a:t>
            </a:r>
            <a:r>
              <a:rPr lang="ru-RU" sz="2400" dirty="0" err="1" smtClean="0"/>
              <a:t>նկար</a:t>
            </a:r>
            <a:r>
              <a:rPr lang="ru-RU" sz="2400" dirty="0" smtClean="0"/>
              <a:t> և </a:t>
            </a:r>
            <a:r>
              <a:rPr lang="ru-RU" sz="2400" dirty="0" err="1" smtClean="0"/>
              <a:t>մեկ</a:t>
            </a:r>
            <a:r>
              <a:rPr lang="ru-RU" sz="2400" dirty="0" smtClean="0"/>
              <a:t> </a:t>
            </a:r>
            <a:r>
              <a:rPr lang="ru-RU" sz="2400" dirty="0" err="1" smtClean="0"/>
              <a:t>կոճակ</a:t>
            </a:r>
            <a:r>
              <a:rPr lang="ru-RU" sz="2400" dirty="0" smtClean="0"/>
              <a:t>: </a:t>
            </a:r>
            <a:r>
              <a:rPr lang="ru-RU" sz="2400" dirty="0" err="1" smtClean="0"/>
              <a:t>Կոճակի</a:t>
            </a:r>
            <a:r>
              <a:rPr lang="ru-RU" sz="2400" dirty="0" smtClean="0"/>
              <a:t> </a:t>
            </a:r>
            <a:r>
              <a:rPr lang="ru-RU" sz="2400" dirty="0" err="1" smtClean="0"/>
              <a:t>վրա</a:t>
            </a:r>
            <a:r>
              <a:rPr lang="ru-RU" sz="2400" dirty="0" smtClean="0"/>
              <a:t> </a:t>
            </a:r>
            <a:r>
              <a:rPr lang="ru-RU" sz="2400" dirty="0" err="1" smtClean="0"/>
              <a:t>սեղմելիս</a:t>
            </a:r>
            <a:r>
              <a:rPr lang="ru-RU" sz="2400" dirty="0" smtClean="0"/>
              <a:t> </a:t>
            </a:r>
            <a:r>
              <a:rPr lang="ru-RU" sz="2400" dirty="0" err="1" smtClean="0"/>
              <a:t>նկարները</a:t>
            </a:r>
            <a:r>
              <a:rPr lang="ru-RU" sz="2400" dirty="0" smtClean="0"/>
              <a:t> </a:t>
            </a:r>
            <a:r>
              <a:rPr lang="ru-RU" sz="2400" dirty="0" err="1" smtClean="0"/>
              <a:t>փոխվեն</a:t>
            </a:r>
            <a:r>
              <a:rPr lang="ru-RU" sz="2400" dirty="0" smtClean="0"/>
              <a:t> </a:t>
            </a:r>
            <a:r>
              <a:rPr lang="ru-RU" sz="2400" dirty="0" err="1" smtClean="0"/>
              <a:t>տեղերով</a:t>
            </a:r>
            <a:r>
              <a:rPr lang="ru-RU" sz="2400" dirty="0" smtClean="0"/>
              <a:t> </a:t>
            </a:r>
            <a:r>
              <a:rPr lang="en-US" sz="2400" dirty="0" smtClean="0"/>
              <a:t>(</a:t>
            </a:r>
            <a:r>
              <a:rPr lang="ru-RU" sz="2400" dirty="0" err="1" smtClean="0"/>
              <a:t>ամեն</a:t>
            </a:r>
            <a:r>
              <a:rPr lang="ru-RU" sz="2400" dirty="0" smtClean="0"/>
              <a:t> </a:t>
            </a:r>
            <a:r>
              <a:rPr lang="ru-RU" sz="2400" dirty="0" err="1" smtClean="0"/>
              <a:t>անգամ</a:t>
            </a:r>
            <a:r>
              <a:rPr lang="en-US" sz="2400" dirty="0" smtClean="0"/>
              <a:t>)</a:t>
            </a:r>
            <a:r>
              <a:rPr lang="ru-RU" sz="2400" dirty="0" smtClean="0"/>
              <a:t>:</a:t>
            </a: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3: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401698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2133600"/>
            <a:ext cx="8715436" cy="137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spcBef>
                <a:spcPct val="20000"/>
              </a:spcBef>
              <a:defRPr/>
            </a:pPr>
            <a:r>
              <a:rPr lang="ru-RU" sz="2400" dirty="0" err="1" smtClean="0"/>
              <a:t>Հաշվել</a:t>
            </a:r>
            <a:r>
              <a:rPr lang="ru-RU" sz="2400" dirty="0" smtClean="0"/>
              <a:t> </a:t>
            </a:r>
            <a:r>
              <a:rPr lang="ru-RU" sz="2400" dirty="0" err="1" smtClean="0"/>
              <a:t>այս</a:t>
            </a:r>
            <a:r>
              <a:rPr lang="ru-RU" sz="2400" dirty="0" smtClean="0"/>
              <a:t> </a:t>
            </a:r>
            <a:r>
              <a:rPr lang="ru-RU" sz="2400" dirty="0" err="1" smtClean="0"/>
              <a:t>շարքի</a:t>
            </a:r>
            <a:r>
              <a:rPr lang="ru-RU" sz="2400" dirty="0" smtClean="0"/>
              <a:t> </a:t>
            </a:r>
            <a:r>
              <a:rPr lang="ru-RU" sz="2400" dirty="0" err="1" smtClean="0"/>
              <a:t>առաջին</a:t>
            </a:r>
            <a:r>
              <a:rPr lang="ru-RU" sz="2400" dirty="0" smtClean="0"/>
              <a:t> 11 </a:t>
            </a:r>
            <a:r>
              <a:rPr lang="ru-RU" sz="2400" dirty="0" err="1" smtClean="0"/>
              <a:t>անդամների</a:t>
            </a:r>
            <a:r>
              <a:rPr lang="ru-RU" sz="2400" dirty="0" smtClean="0"/>
              <a:t> </a:t>
            </a:r>
            <a:r>
              <a:rPr lang="ru-RU" sz="2400" dirty="0" err="1" smtClean="0"/>
              <a:t>գումարը</a:t>
            </a:r>
            <a:r>
              <a:rPr lang="ru-RU" sz="2400" dirty="0" smtClean="0"/>
              <a:t>՝</a:t>
            </a:r>
            <a:br>
              <a:rPr lang="ru-RU" sz="2400" dirty="0" smtClean="0"/>
            </a:br>
            <a:r>
              <a:rPr lang="ru-RU" sz="2400" dirty="0" smtClean="0"/>
              <a:t>1511,41022,72033,104044,138055,…</a:t>
            </a: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4: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72767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2504</TotalTime>
  <Words>552</Words>
  <Application>Microsoft Office PowerPoint</Application>
  <PresentationFormat>Экран (4:3)</PresentationFormat>
  <Paragraphs>97</Paragraphs>
  <Slides>12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Office Theme</vt:lpstr>
      <vt:lpstr>JavaScript Lesson 5</vt:lpstr>
      <vt:lpstr>  JavaScript HTML DOM Elements  </vt:lpstr>
      <vt:lpstr>    Changing the Value of an Attribute     </vt:lpstr>
      <vt:lpstr>      Changing HTML Style      </vt:lpstr>
      <vt:lpstr>Презентация PowerPoint</vt:lpstr>
      <vt:lpstr>      Onchange       </vt:lpstr>
      <vt:lpstr>    Onmouseover and Onmouseout   </vt:lpstr>
      <vt:lpstr>    Onmousedown and Onmouseup    </vt:lpstr>
      <vt:lpstr> Task 1: </vt:lpstr>
      <vt:lpstr> Task 2: </vt:lpstr>
      <vt:lpstr> Task 3: </vt:lpstr>
      <vt:lpstr> Task 4: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Lesson 1</dc:title>
  <dc:creator>Comp</dc:creator>
  <cp:lastModifiedBy>home</cp:lastModifiedBy>
  <cp:revision>140</cp:revision>
  <dcterms:created xsi:type="dcterms:W3CDTF">2014-01-30T13:16:31Z</dcterms:created>
  <dcterms:modified xsi:type="dcterms:W3CDTF">2016-12-07T13:29:39Z</dcterms:modified>
</cp:coreProperties>
</file>