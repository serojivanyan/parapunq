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>
        <p:scale>
          <a:sx n="70" d="100"/>
          <a:sy n="70" d="100"/>
        </p:scale>
        <p:origin x="-13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9D068-B525-4CAC-8186-CDB407C1BD77}" type="datetimeFigureOut">
              <a:rPr lang="en-US" smtClean="0"/>
              <a:pPr/>
              <a:t>12/2/2016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A0895-8F15-4486-A1A9-47776EBBA2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0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DA0895-8F15-4486-A1A9-47776EBBA27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BCB7-3EBB-4567-84DF-F14E0EA17694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EBCD2-D2C4-43C3-AF04-952BCE295136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0A9C-A938-48B9-99FF-784D2C142E09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412C-B91E-49D1-B80B-E41D09A3AEB7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A638-819C-46E6-8EF1-24E3CE9A4AD1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37E0-F595-4781-B2FF-9706D5AF69B4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F1D4-220E-4E01-A264-CBD45BB1D1F2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584A-06BD-4400-9D4B-FC611A6A15B0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48DF-5963-4AEC-906A-AD3F848A733A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4732-3364-452E-9031-DCA7F1BB99E5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2B1-E678-452A-A809-58A55B2525C8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2D634-C2FB-4C55-AA0E-3890484A9E7F}" type="datetime1">
              <a:rPr lang="ru-RU" smtClean="0"/>
              <a:pPr/>
              <a:t>02.12.2016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9D08-B3F5-468D-A764-5312BCE8B05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javascr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5" y="0"/>
            <a:ext cx="83578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500042"/>
            <a:ext cx="3143272" cy="147002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</a:t>
            </a: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hy-AM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</a:t>
            </a:r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1</a:t>
            </a:r>
            <a:endParaRPr lang="en-US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What Is JavaScript?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452596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endParaRPr lang="ru-RU" dirty="0"/>
          </a:p>
          <a:p>
            <a:r>
              <a:rPr lang="en-US" dirty="0"/>
              <a:t>JavaScript is a Scripting Language</a:t>
            </a:r>
          </a:p>
          <a:p>
            <a:r>
              <a:rPr lang="en-US" dirty="0" smtClean="0"/>
              <a:t>JavaScript </a:t>
            </a:r>
            <a:r>
              <a:rPr lang="en-US" dirty="0"/>
              <a:t>is programming code that can be inserted into HTML pages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All modern HTML pages are using JavaScript.</a:t>
            </a:r>
          </a:p>
          <a:p>
            <a:r>
              <a:rPr lang="en-US" dirty="0" smtClean="0"/>
              <a:t>JavaScript code can be executed by all modern web browsers.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 in &lt;head&gt; or &lt;body&gt;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57158" y="1142984"/>
            <a:ext cx="8215370" cy="7143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lang="en-US" sz="2400" dirty="0" err="1" smtClean="0"/>
              <a:t>JavaScripts</a:t>
            </a:r>
            <a:r>
              <a:rPr lang="en-US" sz="2400" dirty="0" smtClean="0"/>
              <a:t> can be put in the </a:t>
            </a:r>
            <a:r>
              <a:rPr lang="en-US" sz="2400" dirty="0" smtClean="0">
                <a:solidFill>
                  <a:srgbClr val="FF0000"/>
                </a:solidFill>
              </a:rPr>
              <a:t>&lt;body&gt; </a:t>
            </a:r>
            <a:r>
              <a:rPr lang="en-US" sz="2400" dirty="0" smtClean="0"/>
              <a:t>and in the </a:t>
            </a:r>
            <a:r>
              <a:rPr lang="en-US" sz="2400" dirty="0" smtClean="0">
                <a:solidFill>
                  <a:srgbClr val="FF0000"/>
                </a:solidFill>
              </a:rPr>
              <a:t>&lt;head&gt;</a:t>
            </a:r>
            <a:r>
              <a:rPr lang="en-US" sz="2400" dirty="0" smtClean="0"/>
              <a:t> section of an HTML page.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57158" y="1928802"/>
            <a:ext cx="4071966" cy="10715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&lt;script&gt;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alert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("My First JavaScript");</a:t>
            </a:r>
            <a:b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&lt;/script&gt;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57158" y="3071810"/>
            <a:ext cx="8215370" cy="7143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lang="en-US" sz="2200" dirty="0" smtClean="0"/>
              <a:t>Scripts can also be placed in external files</a:t>
            </a:r>
            <a:r>
              <a:rPr lang="en-US" sz="2800" dirty="0" smtClean="0"/>
              <a:t>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57158" y="3857628"/>
            <a:ext cx="8215370" cy="21431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000" dirty="0" smtClean="0"/>
              <a:t>&lt;!DOCTYPE html&gt;</a:t>
            </a:r>
            <a:br>
              <a:rPr lang="en-US" sz="2000" dirty="0" smtClean="0"/>
            </a:br>
            <a:r>
              <a:rPr lang="en-US" sz="2000" dirty="0" smtClean="0"/>
              <a:t>&lt;html&gt;</a:t>
            </a:r>
            <a:br>
              <a:rPr lang="en-US" sz="2000" dirty="0" smtClean="0"/>
            </a:br>
            <a:r>
              <a:rPr lang="en-US" sz="2000" dirty="0" smtClean="0"/>
              <a:t>&lt;body&gt;</a:t>
            </a:r>
            <a:br>
              <a:rPr lang="en-US" sz="2000" dirty="0" smtClean="0"/>
            </a:br>
            <a:r>
              <a:rPr lang="en-US" sz="2000" dirty="0" smtClean="0"/>
              <a:t>	</a:t>
            </a:r>
            <a:r>
              <a:rPr lang="en-US" sz="2000" dirty="0" smtClean="0">
                <a:solidFill>
                  <a:srgbClr val="FF0000"/>
                </a:solidFill>
              </a:rPr>
              <a:t>&lt;script  </a:t>
            </a:r>
            <a:r>
              <a:rPr lang="en-US" sz="2000" dirty="0" err="1" smtClean="0">
                <a:solidFill>
                  <a:srgbClr val="FF0000"/>
                </a:solidFill>
              </a:rPr>
              <a:t>src</a:t>
            </a:r>
            <a:r>
              <a:rPr lang="en-US" sz="2000" dirty="0" smtClean="0">
                <a:solidFill>
                  <a:srgbClr val="FF0000"/>
                </a:solidFill>
              </a:rPr>
              <a:t>="myScript.js"&gt;&lt;/script&gt;</a:t>
            </a:r>
            <a:br>
              <a:rPr lang="en-US" sz="2000" dirty="0" smtClean="0">
                <a:solidFill>
                  <a:srgbClr val="FF0000"/>
                </a:solidFill>
              </a:rPr>
            </a:br>
            <a:r>
              <a:rPr lang="en-US" sz="2000" dirty="0" smtClean="0"/>
              <a:t>&lt;/body&gt;</a:t>
            </a:r>
            <a:br>
              <a:rPr lang="en-US" sz="2000" dirty="0" smtClean="0"/>
            </a:br>
            <a:r>
              <a:rPr lang="en-US" sz="2000" dirty="0" smtClean="0"/>
              <a:t>&lt;/html&gt;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Manage Html with JavaScript</a:t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/>
              <a:t> </a:t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357430"/>
            <a:ext cx="8215370" cy="3643338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/>
              <a:t>&lt;!DOCTYPE html&gt;</a:t>
            </a:r>
            <a:br>
              <a:rPr lang="en-US" sz="2000" dirty="0" smtClean="0"/>
            </a:br>
            <a:r>
              <a:rPr lang="en-US" sz="2000" dirty="0" smtClean="0"/>
              <a:t>&lt;html&gt;</a:t>
            </a:r>
            <a:br>
              <a:rPr lang="en-US" sz="2000" dirty="0" smtClean="0"/>
            </a:br>
            <a:r>
              <a:rPr lang="en-US" sz="2000" dirty="0" smtClean="0"/>
              <a:t>&lt;body&gt;</a:t>
            </a:r>
            <a:br>
              <a:rPr lang="en-US" sz="2000" dirty="0" smtClean="0"/>
            </a:br>
            <a:r>
              <a:rPr lang="en-US" sz="2000" dirty="0" smtClean="0"/>
              <a:t>     &lt;h1&gt;My First Web Page&lt;/h1&gt;</a:t>
            </a:r>
            <a:br>
              <a:rPr lang="en-US" sz="2000" dirty="0" smtClean="0"/>
            </a:br>
            <a:r>
              <a:rPr lang="en-US" sz="2000" dirty="0" smtClean="0"/>
              <a:t>     &lt;p id="demo"&gt;My First Paragraph&lt;/p&gt;</a:t>
            </a:r>
          </a:p>
          <a:p>
            <a:pPr>
              <a:buNone/>
            </a:pPr>
            <a:r>
              <a:rPr lang="en-US" sz="2000" dirty="0" smtClean="0"/>
              <a:t>      </a:t>
            </a:r>
            <a:r>
              <a:rPr lang="en-US" sz="2000" dirty="0" smtClean="0">
                <a:solidFill>
                  <a:srgbClr val="FF0000"/>
                </a:solidFill>
              </a:rPr>
              <a:t>&lt;script&gt;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err="1" smtClean="0"/>
              <a:t>document.getElementById</a:t>
            </a:r>
            <a:r>
              <a:rPr lang="en-US" sz="2000" dirty="0" smtClean="0"/>
              <a:t>("demo").</a:t>
            </a:r>
            <a:r>
              <a:rPr lang="en-US" sz="2000" dirty="0" err="1" smtClean="0"/>
              <a:t>innerHTML</a:t>
            </a:r>
            <a:r>
              <a:rPr lang="en-US" sz="2000" dirty="0" smtClean="0"/>
              <a:t>="My First JavaScript";</a:t>
            </a:r>
          </a:p>
          <a:p>
            <a:pPr>
              <a:buNone/>
            </a:pPr>
            <a:r>
              <a:rPr lang="en-US" sz="2000" dirty="0" smtClean="0"/>
              <a:t>      </a:t>
            </a:r>
            <a:r>
              <a:rPr lang="en-US" sz="2000" dirty="0" err="1" smtClean="0"/>
              <a:t>document.write</a:t>
            </a:r>
            <a:r>
              <a:rPr lang="en-US" sz="2000" dirty="0" smtClean="0"/>
              <a:t>("&lt;p&gt;THIS IS NEW PARAGRAPH&lt;/p&gt;"); </a:t>
            </a:r>
            <a:br>
              <a:rPr lang="en-US" sz="2000" dirty="0" smtClean="0"/>
            </a:br>
            <a:r>
              <a:rPr lang="en-US" sz="2000" dirty="0" smtClean="0">
                <a:solidFill>
                  <a:srgbClr val="FF0000"/>
                </a:solidFill>
              </a:rPr>
              <a:t>&lt;/script&gt;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&lt;/body&gt;</a:t>
            </a:r>
            <a:br>
              <a:rPr lang="en-US" sz="2000" dirty="0" smtClean="0"/>
            </a:br>
            <a:r>
              <a:rPr lang="en-US" sz="2000" dirty="0" smtClean="0"/>
              <a:t>&lt;/html&gt;</a:t>
            </a:r>
            <a:endParaRPr lang="ru-RU" sz="2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28596" y="1428736"/>
            <a:ext cx="8215370" cy="5715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lang="en-US" sz="2400" dirty="0" smtClean="0"/>
              <a:t>JavaScript is typically used to manipulate HTML elements.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 Comments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00034" y="3857628"/>
            <a:ext cx="8229600" cy="2206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28596" y="1142984"/>
            <a:ext cx="8215370" cy="7858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400" dirty="0" smtClean="0"/>
              <a:t>JavaScript comments can be used to make the code more readable.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28596" y="2071678"/>
            <a:ext cx="8215370" cy="4000528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/>
              <a:t>&lt;!DOCTYPE html&gt;</a:t>
            </a:r>
          </a:p>
          <a:p>
            <a:pPr>
              <a:buNone/>
            </a:pPr>
            <a:r>
              <a:rPr lang="en-US" sz="2000" dirty="0" smtClean="0"/>
              <a:t>&lt;html&gt;</a:t>
            </a:r>
          </a:p>
          <a:p>
            <a:pPr>
              <a:buNone/>
            </a:pPr>
            <a:r>
              <a:rPr lang="en-US" sz="2000" dirty="0" smtClean="0"/>
              <a:t>&lt;body&gt;</a:t>
            </a:r>
          </a:p>
          <a:p>
            <a:pPr>
              <a:buNone/>
            </a:pPr>
            <a:r>
              <a:rPr lang="en-US" sz="2000" dirty="0" smtClean="0"/>
              <a:t>&lt;h1 id="</a:t>
            </a:r>
            <a:r>
              <a:rPr lang="en-US" sz="2000" dirty="0" err="1" smtClean="0"/>
              <a:t>page_title</a:t>
            </a:r>
            <a:r>
              <a:rPr lang="en-US" sz="2000" dirty="0" smtClean="0"/>
              <a:t>"&gt;&lt;/h1&gt;</a:t>
            </a:r>
          </a:p>
          <a:p>
            <a:pPr>
              <a:buNone/>
            </a:pPr>
            <a:r>
              <a:rPr lang="en-US" sz="2000" dirty="0" smtClean="0"/>
              <a:t>&lt;p&gt;Single line comments start with //.&lt;/p&gt;</a:t>
            </a:r>
          </a:p>
          <a:p>
            <a:pPr>
              <a:buNone/>
            </a:pPr>
            <a:r>
              <a:rPr lang="en-US" sz="2000" dirty="0" smtClean="0"/>
              <a:t>   	          &lt;script&gt;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>
                <a:solidFill>
                  <a:schemeClr val="accent3">
                    <a:lumMod val="75000"/>
                  </a:schemeClr>
                </a:solidFill>
              </a:rPr>
              <a:t>                  // Write to a heading:</a:t>
            </a:r>
          </a:p>
          <a:p>
            <a:pPr>
              <a:buNone/>
            </a:pPr>
            <a:r>
              <a:rPr lang="en-US" sz="2000" dirty="0" smtClean="0"/>
              <a:t>		      </a:t>
            </a:r>
            <a:r>
              <a:rPr lang="en-US" sz="2000" dirty="0" err="1" smtClean="0"/>
              <a:t>document.getElementById</a:t>
            </a:r>
            <a:r>
              <a:rPr lang="en-US" sz="2000" dirty="0" smtClean="0"/>
              <a:t>("</a:t>
            </a:r>
            <a:r>
              <a:rPr lang="en-US" sz="2000" dirty="0" err="1" smtClean="0"/>
              <a:t>page_title</a:t>
            </a:r>
            <a:r>
              <a:rPr lang="en-US" sz="2000" dirty="0" smtClean="0"/>
              <a:t>").</a:t>
            </a:r>
            <a:r>
              <a:rPr lang="en-US" sz="2000" dirty="0" err="1" smtClean="0"/>
              <a:t>innerHTML</a:t>
            </a:r>
            <a:r>
              <a:rPr lang="en-US" sz="2000" dirty="0" smtClean="0"/>
              <a:t>="Welcome";</a:t>
            </a:r>
          </a:p>
          <a:p>
            <a:pPr>
              <a:buNone/>
            </a:pPr>
            <a:r>
              <a:rPr lang="en-US" sz="2000" dirty="0" smtClean="0"/>
              <a:t>		&lt;/script&gt;</a:t>
            </a:r>
          </a:p>
          <a:p>
            <a:pPr>
              <a:buNone/>
            </a:pPr>
            <a:r>
              <a:rPr lang="en-US" sz="2000" dirty="0" smtClean="0"/>
              <a:t>&lt;/body&gt;</a:t>
            </a:r>
          </a:p>
          <a:p>
            <a:pPr>
              <a:buNone/>
            </a:pPr>
            <a:r>
              <a:rPr lang="en-US" sz="2000" dirty="0" smtClean="0"/>
              <a:t>&lt;/html&gt;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 Variables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8596" y="1142984"/>
            <a:ext cx="8215370" cy="12858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 smtClean="0"/>
              <a:t>JavaScript variables are "containers" for storing information: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500" dirty="0" smtClean="0"/>
              <a:t>Variable names must begin with a letter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 smtClean="0"/>
              <a:t>Variable names are case sensitive (x and X are different variables)</a:t>
            </a:r>
          </a:p>
          <a:p>
            <a:pPr marL="342900" lvl="0" indent="-342900">
              <a:spcBef>
                <a:spcPct val="20000"/>
              </a:spcBef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28596" y="2571744"/>
            <a:ext cx="1500198" cy="20002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&lt;script&gt;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x=5;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y=6;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z=</a:t>
            </a:r>
            <a:r>
              <a:rPr lang="en-US" dirty="0" err="1" smtClean="0"/>
              <a:t>x+y</a:t>
            </a:r>
            <a:r>
              <a:rPr lang="en-US" dirty="0" smtClean="0"/>
              <a:t>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/>
              <a:t>alert(z);</a:t>
            </a:r>
          </a:p>
          <a:p>
            <a:pPr marL="27432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&lt;/script&gt;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071670" y="2571744"/>
            <a:ext cx="6572296" cy="20002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dirty="0"/>
              <a:t>&lt;p id= "demo" &gt; It will be changed&lt;/p&gt;</a:t>
            </a:r>
            <a:endParaRPr lang="ru-RU" dirty="0"/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 subject= "</a:t>
            </a:r>
            <a:r>
              <a:rPr lang="en-US" dirty="0" err="1" smtClean="0"/>
              <a:t>Javascript</a:t>
            </a:r>
            <a:r>
              <a:rPr lang="en-US" dirty="0" smtClean="0"/>
              <a:t>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document.getElementById</a:t>
            </a:r>
            <a:r>
              <a:rPr lang="en-US" dirty="0" smtClean="0"/>
              <a:t>("demo").</a:t>
            </a:r>
            <a:r>
              <a:rPr lang="en-US" dirty="0" err="1" smtClean="0"/>
              <a:t>innerHTML</a:t>
            </a:r>
            <a:r>
              <a:rPr lang="en-US" dirty="0" smtClean="0"/>
              <a:t>= subject;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&lt;/script&gt;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071802" y="4786322"/>
            <a:ext cx="1857388" cy="164307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z= "CSS";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z= "</a:t>
            </a:r>
            <a:r>
              <a:rPr lang="en-US" dirty="0" err="1" smtClean="0"/>
              <a:t>Javascript</a:t>
            </a:r>
            <a:r>
              <a:rPr lang="en-US" dirty="0" smtClean="0"/>
              <a:t> 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alert(z);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rgbClr val="FF0000"/>
                </a:solidFill>
              </a:rPr>
              <a:t>&lt;/script&gt;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 Data Types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7158" y="1000108"/>
            <a:ext cx="8215370" cy="5715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400" dirty="0" smtClean="0"/>
              <a:t> String, Number, Boolean, Array, Object, Null, Undefined.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28596" y="1714488"/>
            <a:ext cx="3357586" cy="1357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//String example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 x= "hello" ;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&lt;/script&gt;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214810" y="1714488"/>
            <a:ext cx="4357718" cy="1357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//Number example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 x=75;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&lt;/script&gt;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28596" y="3214686"/>
            <a:ext cx="3357586" cy="1785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//Boolean example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 x= true;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 y= false ; 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&lt;/script&gt;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214810" y="3214686"/>
            <a:ext cx="4357718" cy="30003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//Array example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 x=new  Array("Html", "</a:t>
            </a:r>
            <a:r>
              <a:rPr lang="en-US" dirty="0" err="1" smtClean="0"/>
              <a:t>Css</a:t>
            </a:r>
            <a:r>
              <a:rPr lang="en-US" dirty="0" smtClean="0"/>
              <a:t>", "Script");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y=["Html", "</a:t>
            </a:r>
            <a:r>
              <a:rPr lang="en-US" dirty="0" err="1" smtClean="0"/>
              <a:t>Css</a:t>
            </a:r>
            <a:r>
              <a:rPr lang="en-US" dirty="0" smtClean="0"/>
              <a:t>", "Script"];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z=new Array();</a:t>
            </a:r>
            <a:br>
              <a:rPr lang="en-US" dirty="0" smtClean="0"/>
            </a:br>
            <a:r>
              <a:rPr lang="en-US" dirty="0" smtClean="0"/>
              <a:t>z[0]="Html";</a:t>
            </a:r>
            <a:br>
              <a:rPr lang="en-US" dirty="0" smtClean="0"/>
            </a:br>
            <a:r>
              <a:rPr lang="en-US" dirty="0" smtClean="0"/>
              <a:t>z[1]="</a:t>
            </a:r>
            <a:r>
              <a:rPr lang="en-US" dirty="0" err="1" smtClean="0"/>
              <a:t>Css</a:t>
            </a:r>
            <a:r>
              <a:rPr lang="en-US" dirty="0" smtClean="0"/>
              <a:t>";</a:t>
            </a:r>
            <a:br>
              <a:rPr lang="en-US" dirty="0" smtClean="0"/>
            </a:br>
            <a:r>
              <a:rPr lang="en-US" dirty="0" smtClean="0"/>
              <a:t>z[2]="Script";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ru-RU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 Data Types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57158" y="1000108"/>
            <a:ext cx="8215370" cy="5715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400" dirty="0" smtClean="0"/>
              <a:t> String, Number, Boolean, Array, Object, Null, Undefined.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214942" y="2071678"/>
            <a:ext cx="3357586" cy="1357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//Null example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x=null;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&lt;/script&gt;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28596" y="2071678"/>
            <a:ext cx="4714908" cy="37147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endParaRPr lang="en-US" dirty="0" smtClean="0"/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//Object example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person={name:"John", </a:t>
            </a:r>
            <a:r>
              <a:rPr lang="en-US" dirty="0" err="1" smtClean="0"/>
              <a:t>lastname</a:t>
            </a:r>
            <a:r>
              <a:rPr lang="en-US" dirty="0" smtClean="0"/>
              <a:t>:"Lennon", id:5566}; 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//Get object properties 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name=person.name;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name=person["name"];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&lt;/script&gt;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214942" y="3571876"/>
            <a:ext cx="3357586" cy="221457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&lt;script&gt;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//Undefined example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err="1" smtClean="0"/>
              <a:t>var</a:t>
            </a:r>
            <a:r>
              <a:rPr lang="en-US" dirty="0" smtClean="0"/>
              <a:t> x;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&lt;/script&gt;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64294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 Function Syntax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28596" y="1000108"/>
            <a:ext cx="8358246" cy="6429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2400" dirty="0" smtClean="0"/>
              <a:t> </a:t>
            </a:r>
            <a:r>
              <a:rPr lang="en-US" sz="2800" dirty="0" smtClean="0"/>
              <a:t>A function is a block of code that will be executed when "someone" calls it.</a:t>
            </a:r>
            <a:endParaRPr lang="ru-RU" sz="2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28596" y="1857364"/>
            <a:ext cx="8358246" cy="40005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&lt;!DOCTYPE html&gt;</a:t>
            </a:r>
            <a:br>
              <a:rPr lang="en-US" dirty="0" smtClean="0"/>
            </a:br>
            <a:r>
              <a:rPr lang="en-US" dirty="0" smtClean="0"/>
              <a:t>&lt;html&gt;</a:t>
            </a:r>
            <a:br>
              <a:rPr lang="en-US" dirty="0" smtClean="0"/>
            </a:br>
            <a:r>
              <a:rPr lang="en-US" dirty="0" smtClean="0"/>
              <a:t>&lt;head&gt;</a:t>
            </a:r>
            <a:br>
              <a:rPr lang="en-US" dirty="0" smtClean="0"/>
            </a:br>
            <a:r>
              <a:rPr lang="en-US" dirty="0" smtClean="0"/>
              <a:t>&lt;script&gt;</a:t>
            </a:r>
            <a:br>
              <a:rPr lang="en-US" dirty="0" smtClean="0"/>
            </a:br>
            <a:r>
              <a:rPr lang="en-US" b="1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dirty="0" smtClean="0"/>
              <a:t> </a:t>
            </a:r>
            <a:r>
              <a:rPr lang="en-US" dirty="0" err="1" smtClean="0"/>
              <a:t>myFunction</a:t>
            </a:r>
            <a:r>
              <a:rPr lang="en-US" dirty="0" smtClean="0"/>
              <a:t>()</a:t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/>
              <a:t>("Hello World!");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&lt;/script&gt;</a:t>
            </a:r>
            <a:br>
              <a:rPr lang="en-US" dirty="0" smtClean="0"/>
            </a:br>
            <a:r>
              <a:rPr lang="en-US" dirty="0" smtClean="0"/>
              <a:t>&lt;/head&gt;</a:t>
            </a:r>
            <a:br>
              <a:rPr lang="en-US" dirty="0" smtClean="0"/>
            </a:br>
            <a:r>
              <a:rPr lang="en-US" dirty="0" smtClean="0"/>
              <a:t>&lt;body&gt;</a:t>
            </a:r>
            <a:br>
              <a:rPr lang="en-US" dirty="0" smtClean="0"/>
            </a:br>
            <a:r>
              <a:rPr lang="en-US" dirty="0" smtClean="0"/>
              <a:t>&lt;button </a:t>
            </a:r>
            <a:r>
              <a:rPr lang="en-US" dirty="0" err="1" smtClean="0">
                <a:solidFill>
                  <a:srgbClr val="FF0000"/>
                </a:solidFill>
              </a:rPr>
              <a:t>onclick</a:t>
            </a:r>
            <a:r>
              <a:rPr lang="en-US" dirty="0" smtClean="0"/>
              <a:t>="</a:t>
            </a:r>
            <a:r>
              <a:rPr lang="en-US" dirty="0" err="1" smtClean="0"/>
              <a:t>myFunction</a:t>
            </a:r>
            <a:r>
              <a:rPr lang="en-US" dirty="0" smtClean="0"/>
              <a:t>()"&gt;Try it&lt;/button&gt;</a:t>
            </a:r>
            <a:br>
              <a:rPr lang="en-US" dirty="0" smtClean="0"/>
            </a:br>
            <a:r>
              <a:rPr lang="en-US" dirty="0" smtClean="0"/>
              <a:t>&lt;/body&gt;</a:t>
            </a:r>
            <a:br>
              <a:rPr lang="en-US" dirty="0" smtClean="0"/>
            </a:br>
            <a:r>
              <a:rPr lang="en-US" dirty="0" smtClean="0"/>
              <a:t>&lt;/html&gt;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64294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JavaScript Functions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28596" y="1071546"/>
            <a:ext cx="3786214" cy="24288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&lt;script&gt;</a:t>
            </a:r>
            <a:br>
              <a:rPr lang="en-US" dirty="0" smtClean="0"/>
            </a:br>
            <a:r>
              <a:rPr lang="en-US" b="1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dirty="0" smtClean="0"/>
              <a:t> simple(x)</a:t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/>
              <a:t>(x);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simple("welcome");</a:t>
            </a:r>
          </a:p>
          <a:p>
            <a:pPr marL="342900" lvl="0" indent="-342900">
              <a:spcBef>
                <a:spcPct val="20000"/>
              </a:spcBef>
            </a:pPr>
            <a:endParaRPr lang="en-US" dirty="0" smtClean="0"/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&lt;/script&gt;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357686" y="1071546"/>
            <a:ext cx="4429156" cy="24288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&lt;script&gt;</a:t>
            </a:r>
            <a:br>
              <a:rPr lang="en-US" dirty="0" smtClean="0"/>
            </a:br>
            <a:r>
              <a:rPr lang="en-US" b="1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dirty="0" smtClean="0"/>
              <a:t> sum(</a:t>
            </a:r>
            <a:r>
              <a:rPr lang="en-US" dirty="0" err="1" smtClean="0"/>
              <a:t>x,y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      </a:t>
            </a:r>
            <a:r>
              <a:rPr lang="en-US" dirty="0" err="1" smtClean="0"/>
              <a:t>var</a:t>
            </a:r>
            <a:r>
              <a:rPr lang="en-US" dirty="0" smtClean="0"/>
              <a:t>  z=</a:t>
            </a:r>
            <a:r>
              <a:rPr lang="en-US" dirty="0" err="1" smtClean="0"/>
              <a:t>x+y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>
                <a:solidFill>
                  <a:srgbClr val="00B0F0"/>
                </a:solidFill>
              </a:rPr>
              <a:t>alert</a:t>
            </a:r>
            <a:r>
              <a:rPr lang="en-US" dirty="0" smtClean="0"/>
              <a:t>(z);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       sum (5,6);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&lt;/script&gt;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214546" y="3643314"/>
            <a:ext cx="4429156" cy="27860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&lt;script&gt;</a:t>
            </a:r>
            <a:br>
              <a:rPr lang="en-US" dirty="0" smtClean="0"/>
            </a:br>
            <a:r>
              <a:rPr lang="en-US" b="1" i="1" dirty="0" smtClean="0">
                <a:solidFill>
                  <a:schemeClr val="tx2">
                    <a:lumMod val="50000"/>
                  </a:schemeClr>
                </a:solidFill>
              </a:rPr>
              <a:t>function</a:t>
            </a:r>
            <a:r>
              <a:rPr lang="en-US" dirty="0" smtClean="0"/>
              <a:t> sum(</a:t>
            </a:r>
            <a:r>
              <a:rPr lang="en-US" dirty="0" err="1" smtClean="0"/>
              <a:t>x,y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       </a:t>
            </a:r>
            <a:r>
              <a:rPr lang="en-US" dirty="0" err="1" smtClean="0"/>
              <a:t>var</a:t>
            </a:r>
            <a:r>
              <a:rPr lang="en-US" dirty="0" smtClean="0"/>
              <a:t> z=</a:t>
            </a:r>
            <a:r>
              <a:rPr lang="en-US" dirty="0" err="1" smtClean="0"/>
              <a:t>x+y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>
                <a:solidFill>
                  <a:srgbClr val="00B0F0"/>
                </a:solidFill>
              </a:rPr>
              <a:t>return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z;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      </a:t>
            </a:r>
            <a:r>
              <a:rPr lang="en-US" dirty="0" err="1" smtClean="0"/>
              <a:t>var</a:t>
            </a:r>
            <a:r>
              <a:rPr lang="en-US" dirty="0" smtClean="0"/>
              <a:t>  result= sum(5,6);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alert(result);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dirty="0" smtClean="0"/>
              <a:t>&lt;/script&gt;</a:t>
            </a:r>
            <a:br>
              <a:rPr lang="en-US" dirty="0" smtClean="0"/>
            </a:b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000240"/>
            <a:ext cx="8715436" cy="2643206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buNone/>
            </a:pPr>
            <a:r>
              <a:rPr lang="ru-RU" dirty="0" smtClean="0"/>
              <a:t>   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en-US" dirty="0" err="1" smtClean="0"/>
              <a:t>Ստեղծել</a:t>
            </a:r>
            <a:r>
              <a:rPr lang="en-US" dirty="0" smtClean="0"/>
              <a:t> </a:t>
            </a:r>
            <a:r>
              <a:rPr lang="en-US" dirty="0" err="1" smtClean="0"/>
              <a:t>կոճակ</a:t>
            </a:r>
            <a:r>
              <a:rPr lang="en-US" dirty="0" smtClean="0"/>
              <a:t> </a:t>
            </a:r>
            <a:r>
              <a:rPr lang="ru-RU" dirty="0" smtClean="0"/>
              <a:t>creator անունով</a:t>
            </a:r>
            <a:r>
              <a:rPr lang="en-US" dirty="0" smtClean="0"/>
              <a:t>, </a:t>
            </a:r>
            <a:r>
              <a:rPr lang="en-US" dirty="0" err="1" smtClean="0"/>
              <a:t>որի</a:t>
            </a:r>
            <a:r>
              <a:rPr lang="en-US" dirty="0" smtClean="0"/>
              <a:t> </a:t>
            </a:r>
            <a:r>
              <a:rPr lang="ru-RU" dirty="0" smtClean="0"/>
              <a:t>վրա սեղմելիս էջում ստեղծվի </a:t>
            </a:r>
            <a:r>
              <a:rPr lang="en-US" dirty="0" smtClean="0"/>
              <a:t>div </a:t>
            </a:r>
            <a:r>
              <a:rPr lang="ru-RU" dirty="0" smtClean="0"/>
              <a:t>էլեմենտ և իր մեջ պարունակի նկար: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1: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000240"/>
            <a:ext cx="8715436" cy="2643206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buNone/>
            </a:pPr>
            <a:r>
              <a:rPr lang="ru-RU" dirty="0" smtClean="0"/>
              <a:t>   </a:t>
            </a:r>
          </a:p>
          <a:p>
            <a:pPr>
              <a:buNone/>
            </a:pPr>
            <a:r>
              <a:rPr lang="ru-RU" dirty="0" smtClean="0"/>
              <a:t>    </a:t>
            </a:r>
            <a:r>
              <a:rPr lang="ru-RU" dirty="0" err="1" smtClean="0"/>
              <a:t>Գրել</a:t>
            </a:r>
            <a:r>
              <a:rPr lang="ru-RU" dirty="0" smtClean="0"/>
              <a:t> </a:t>
            </a:r>
            <a:r>
              <a:rPr lang="ru-RU" dirty="0" err="1" smtClean="0"/>
              <a:t>ֆունկցիա,որը</a:t>
            </a:r>
            <a:r>
              <a:rPr lang="ru-RU" dirty="0" smtClean="0"/>
              <a:t> </a:t>
            </a:r>
            <a:r>
              <a:rPr lang="ru-RU" dirty="0" err="1" smtClean="0"/>
              <a:t>կհաշվի</a:t>
            </a:r>
            <a:r>
              <a:rPr lang="ru-RU" dirty="0" smtClean="0"/>
              <a:t> և </a:t>
            </a:r>
            <a:r>
              <a:rPr lang="ru-RU" dirty="0" err="1" smtClean="0"/>
              <a:t>կվերադարձնի</a:t>
            </a:r>
            <a:r>
              <a:rPr lang="ru-RU" dirty="0" smtClean="0"/>
              <a:t> </a:t>
            </a:r>
            <a:r>
              <a:rPr lang="ru-RU" dirty="0" err="1" smtClean="0"/>
              <a:t>որպես</a:t>
            </a:r>
            <a:r>
              <a:rPr lang="ru-RU" dirty="0" smtClean="0"/>
              <a:t> </a:t>
            </a:r>
            <a:r>
              <a:rPr lang="ru-RU" dirty="0" err="1" smtClean="0"/>
              <a:t>պարամետր</a:t>
            </a:r>
            <a:r>
              <a:rPr lang="ru-RU" dirty="0" smtClean="0"/>
              <a:t> </a:t>
            </a:r>
            <a:r>
              <a:rPr lang="ru-RU" dirty="0" err="1" smtClean="0"/>
              <a:t>ստացած</a:t>
            </a:r>
            <a:r>
              <a:rPr lang="ru-RU" dirty="0" smtClean="0"/>
              <a:t> 3 </a:t>
            </a:r>
            <a:r>
              <a:rPr lang="ru-RU" dirty="0" err="1" smtClean="0"/>
              <a:t>թվերի</a:t>
            </a:r>
            <a:r>
              <a:rPr lang="ru-RU" dirty="0" smtClean="0"/>
              <a:t> </a:t>
            </a:r>
            <a:r>
              <a:rPr lang="ru-RU" dirty="0" err="1" smtClean="0"/>
              <a:t>միջին</a:t>
            </a:r>
            <a:r>
              <a:rPr lang="ru-RU" dirty="0" smtClean="0"/>
              <a:t> </a:t>
            </a:r>
            <a:r>
              <a:rPr lang="ru-RU" dirty="0" err="1" smtClean="0"/>
              <a:t>թվաբանականը</a:t>
            </a:r>
            <a:r>
              <a:rPr lang="ru-RU" dirty="0" smtClean="0"/>
              <a:t>: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07157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/>
            </a:r>
            <a:b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 2: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30010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461</Words>
  <Application>Microsoft Office PowerPoint</Application>
  <PresentationFormat>Экран (4:3)</PresentationFormat>
  <Paragraphs>113</Paragraphs>
  <Slides>12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Office Theme</vt:lpstr>
      <vt:lpstr>JavaScript Lesson 1</vt:lpstr>
      <vt:lpstr>What Is JavaScript? </vt:lpstr>
      <vt:lpstr>  JavaScript in &lt;head&gt; or &lt;body&gt;   </vt:lpstr>
      <vt:lpstr>  Manage Html with JavaScript   </vt:lpstr>
      <vt:lpstr>  JavaScript Comments  </vt:lpstr>
      <vt:lpstr>  JavaScript Variables  </vt:lpstr>
      <vt:lpstr>  JavaScript Data Types   </vt:lpstr>
      <vt:lpstr>  JavaScript Data Types   </vt:lpstr>
      <vt:lpstr>  JavaScript Function Syntax  </vt:lpstr>
      <vt:lpstr> JavaScript Functions </vt:lpstr>
      <vt:lpstr> Task 1: </vt:lpstr>
      <vt:lpstr> Task 2: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Lesson 1</dc:title>
  <dc:creator>Comp</dc:creator>
  <cp:lastModifiedBy>home</cp:lastModifiedBy>
  <cp:revision>61</cp:revision>
  <dcterms:created xsi:type="dcterms:W3CDTF">2014-01-30T13:16:31Z</dcterms:created>
  <dcterms:modified xsi:type="dcterms:W3CDTF">2016-12-02T12:59:49Z</dcterms:modified>
</cp:coreProperties>
</file>