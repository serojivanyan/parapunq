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2" r:id="rId6"/>
    <p:sldId id="261" r:id="rId7"/>
    <p:sldId id="267" r:id="rId8"/>
    <p:sldId id="271" r:id="rId9"/>
    <p:sldId id="272" r:id="rId10"/>
    <p:sldId id="278" r:id="rId11"/>
    <p:sldId id="273" r:id="rId12"/>
    <p:sldId id="277" r:id="rId13"/>
    <p:sldId id="270" r:id="rId14"/>
    <p:sldId id="276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6" autoAdjust="0"/>
    <p:restoredTop sz="94624" autoAdjust="0"/>
  </p:normalViewPr>
  <p:slideViewPr>
    <p:cSldViewPr>
      <p:cViewPr>
        <p:scale>
          <a:sx n="70" d="100"/>
          <a:sy n="70" d="100"/>
        </p:scale>
        <p:origin x="-141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9D068-B525-4CAC-8186-CDB407C1BD77}" type="datetimeFigureOut">
              <a:rPr lang="en-US" smtClean="0"/>
              <a:pPr/>
              <a:t>9/14/2016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A0895-8F15-4486-A1A9-47776EBBA2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8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DA0895-8F15-4486-A1A9-47776EBBA27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05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BCB7-3EBB-4567-84DF-F14E0EA17694}" type="datetime1">
              <a:rPr lang="ru-RU" smtClean="0"/>
              <a:pPr/>
              <a:t>14.09.2016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BCD2-D2C4-43C3-AF04-952BCE295136}" type="datetime1">
              <a:rPr lang="ru-RU" smtClean="0"/>
              <a:pPr/>
              <a:t>14.09.2016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0A9C-A938-48B9-99FF-784D2C142E09}" type="datetime1">
              <a:rPr lang="ru-RU" smtClean="0"/>
              <a:pPr/>
              <a:t>14.09.2016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412C-B91E-49D1-B80B-E41D09A3AEB7}" type="datetime1">
              <a:rPr lang="ru-RU" smtClean="0"/>
              <a:pPr/>
              <a:t>14.09.2016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A638-819C-46E6-8EF1-24E3CE9A4AD1}" type="datetime1">
              <a:rPr lang="ru-RU" smtClean="0"/>
              <a:pPr/>
              <a:t>14.09.2016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37E0-F595-4781-B2FF-9706D5AF69B4}" type="datetime1">
              <a:rPr lang="ru-RU" smtClean="0"/>
              <a:pPr/>
              <a:t>14.09.2016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F1D4-220E-4E01-A264-CBD45BB1D1F2}" type="datetime1">
              <a:rPr lang="ru-RU" smtClean="0"/>
              <a:pPr/>
              <a:t>14.09.2016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584A-06BD-4400-9D4B-FC611A6A15B0}" type="datetime1">
              <a:rPr lang="ru-RU" smtClean="0"/>
              <a:pPr/>
              <a:t>14.09.2016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48DF-5963-4AEC-906A-AD3F848A733A}" type="datetime1">
              <a:rPr lang="ru-RU" smtClean="0"/>
              <a:pPr/>
              <a:t>14.09.2016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4732-3364-452E-9031-DCA7F1BB99E5}" type="datetime1">
              <a:rPr lang="ru-RU" smtClean="0"/>
              <a:pPr/>
              <a:t>14.09.2016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2B1-E678-452A-A809-58A55B2525C8}" type="datetime1">
              <a:rPr lang="ru-RU" smtClean="0"/>
              <a:pPr/>
              <a:t>14.09.2016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2D634-C2FB-4C55-AA0E-3890484A9E7F}" type="datetime1">
              <a:rPr lang="ru-RU" smtClean="0"/>
              <a:pPr/>
              <a:t>14.09.2016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javasc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85" y="0"/>
            <a:ext cx="835783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3143272" cy="147002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</a:t>
            </a: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</a:t>
            </a:r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10</a:t>
            </a:r>
            <a:endParaRPr lang="en-US" sz="40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14290"/>
            <a:ext cx="8424834" cy="77631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typeof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operator </a:t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ru-RU" i="1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04800" y="1905000"/>
            <a:ext cx="8353484" cy="76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000" dirty="0" smtClean="0"/>
              <a:t>The </a:t>
            </a:r>
            <a:r>
              <a:rPr lang="en-US" sz="2000" b="1" dirty="0" err="1" smtClean="0"/>
              <a:t>typeof</a:t>
            </a:r>
            <a:r>
              <a:rPr lang="en-US" sz="2000" b="1" dirty="0" smtClean="0"/>
              <a:t> </a:t>
            </a:r>
            <a:r>
              <a:rPr lang="en-US" sz="2000" dirty="0" smtClean="0"/>
              <a:t>operator in JavaScript allows you to probe the data type of its operand</a:t>
            </a:r>
            <a:endParaRPr lang="en-US" sz="20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04800" y="3124200"/>
            <a:ext cx="3200400" cy="236220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&lt;script&gt;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x=8;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y=</a:t>
            </a:r>
            <a:r>
              <a:rPr lang="en-US" sz="2000" dirty="0" smtClean="0"/>
              <a:t>"</a:t>
            </a:r>
            <a:r>
              <a:rPr lang="en-US" sz="2000" dirty="0" err="1" smtClean="0"/>
              <a:t>str</a:t>
            </a:r>
            <a:r>
              <a:rPr lang="en-US" sz="2000" dirty="0" smtClean="0"/>
              <a:t>";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alert(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typeof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x);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alert(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typeof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y);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&lt;/script&gt;</a:t>
            </a:r>
            <a:endParaRPr lang="ru-RU"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027" name="Picture 3" descr="C:\Users\Comp\Desktop\OPTIMUM\Javascript\JS_11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3124201"/>
            <a:ext cx="4676775" cy="2362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214290"/>
            <a:ext cx="8424834" cy="77631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 Global Properties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ru-RU" i="1" dirty="0"/>
          </a:p>
        </p:txBody>
      </p:sp>
      <p:pic>
        <p:nvPicPr>
          <p:cNvPr id="2050" name="Picture 2" descr="C:\Users\Comp\Desktop\OPTIMUM\Javascript\JS_11\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667000"/>
            <a:ext cx="8534400" cy="1828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214290"/>
            <a:ext cx="8424834" cy="77631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encodeURI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 Function</a:t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ru-RU" i="1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65169" y="1714498"/>
            <a:ext cx="8429684" cy="4191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000" b="1" dirty="0" err="1" smtClean="0"/>
              <a:t>encodeURI</a:t>
            </a:r>
            <a:r>
              <a:rPr lang="en-US" sz="2000" b="1" dirty="0" smtClean="0"/>
              <a:t>()</a:t>
            </a:r>
            <a:r>
              <a:rPr lang="en-US" sz="2000" dirty="0" smtClean="0"/>
              <a:t> function encode a URI:</a:t>
            </a:r>
            <a:endParaRPr lang="en-US" sz="2000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289011" y="2362200"/>
            <a:ext cx="8382000" cy="381000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/>
              <a:t>&lt;p id="demo"&gt;Click the button to encode a URI.&lt;/p&gt;</a:t>
            </a:r>
          </a:p>
          <a:p>
            <a:pPr>
              <a:buNone/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()"&gt;Try it&lt;/button&gt;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&lt;script&gt;</a:t>
            </a:r>
          </a:p>
          <a:p>
            <a:pPr>
              <a:buNone/>
            </a:pP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{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uri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= "my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test.asp?name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ståle&amp;car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saab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";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res = </a:t>
            </a:r>
            <a:r>
              <a:rPr lang="en-US" sz="2000" b="1" dirty="0" err="1" smtClean="0">
                <a:solidFill>
                  <a:srgbClr val="FF0000"/>
                </a:solidFill>
              </a:rPr>
              <a:t>encodeURI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uri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);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("demo").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=res;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}</a:t>
            </a:r>
          </a:p>
          <a:p>
            <a:pPr>
              <a:buNone/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&lt;/script&gt;</a:t>
            </a:r>
            <a:endParaRPr lang="ru-RU" sz="2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428596" y="142852"/>
            <a:ext cx="8229600" cy="10763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decodeURI</a:t>
            </a:r>
            <a:r>
              <a:rPr lang="en-US" sz="4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() Function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1295400"/>
            <a:ext cx="822960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000" b="1" dirty="0" err="1" smtClean="0"/>
              <a:t>decodeURI</a:t>
            </a:r>
            <a:r>
              <a:rPr lang="en-US" sz="2000" b="1" dirty="0" smtClean="0"/>
              <a:t>()</a:t>
            </a:r>
            <a:r>
              <a:rPr lang="en-US" sz="2000" dirty="0" smtClean="0"/>
              <a:t> function decode a URI after encoding it:</a:t>
            </a:r>
            <a:endParaRPr lang="en-US" sz="20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7200" y="1752600"/>
            <a:ext cx="8229600" cy="4419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id="demo"&gt;Click the button to decode a URI after encoding it.&lt;/p&gt;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uri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= "my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test.asp?name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ståle&amp;car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saab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enc = "Encoded URI: " +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encodeURI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uri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dec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= "Decoded URI: " + </a:t>
            </a:r>
            <a:r>
              <a:rPr lang="en-US" sz="2000" b="1" dirty="0" err="1" smtClean="0">
                <a:solidFill>
                  <a:srgbClr val="FF0000"/>
                </a:solidFill>
              </a:rPr>
              <a:t>decodeURI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uri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res = enc + "&lt;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&gt;" +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dec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("demo").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=res;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&lt;/script&gt;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428596" y="142852"/>
            <a:ext cx="8229600" cy="1152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algn="ctr">
              <a:spcBef>
                <a:spcPct val="0"/>
              </a:spcBef>
              <a:defRPr/>
            </a:pPr>
            <a:endParaRPr lang="en-US" sz="44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defRPr/>
            </a:pPr>
            <a:r>
              <a:rPr lang="en-US" sz="44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eval</a:t>
            </a:r>
            <a:r>
              <a:rPr lang="en-US" sz="4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() Function</a:t>
            </a:r>
          </a:p>
          <a:p>
            <a:pPr algn="ctr">
              <a:spcBef>
                <a:spcPct val="0"/>
              </a:spcBef>
              <a:defRPr/>
            </a:pPr>
            <a:endParaRPr lang="ru-RU" sz="40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000" b="1" dirty="0" err="1" smtClean="0"/>
              <a:t>eval</a:t>
            </a:r>
            <a:r>
              <a:rPr lang="en-US" sz="2000" b="1" dirty="0" smtClean="0"/>
              <a:t>()</a:t>
            </a:r>
            <a:r>
              <a:rPr lang="en-US" sz="2000" dirty="0" smtClean="0"/>
              <a:t> function Evaluate/Execute JavaScript code/expressions:</a:t>
            </a:r>
            <a:endParaRPr lang="en-US" sz="20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1752600"/>
            <a:ext cx="8229600" cy="4419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&lt;p id="demo"&gt;Click the button.&lt;/p&gt;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&lt;button </a:t>
            </a:r>
            <a:r>
              <a:rPr lang="en-US" sz="2000" dirty="0" err="1" smtClean="0">
                <a:solidFill>
                  <a:srgbClr val="FF0000"/>
                </a:solidFill>
              </a:rPr>
              <a:t>onclick</a:t>
            </a:r>
            <a:r>
              <a:rPr lang="en-US" sz="2000" dirty="0" smtClean="0"/>
              <a:t>="</a:t>
            </a:r>
            <a:r>
              <a:rPr lang="en-US" sz="2000" dirty="0" err="1" smtClean="0"/>
              <a:t>myFunction</a:t>
            </a:r>
            <a:r>
              <a:rPr lang="en-US" sz="2000" dirty="0" smtClean="0"/>
              <a:t>()"&gt;Try it&lt;/button&gt;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myFunction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x = 10;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y = 20;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a = </a:t>
            </a:r>
            <a:r>
              <a:rPr lang="en-US" sz="2000" b="1" dirty="0" err="1" smtClean="0">
                <a:solidFill>
                  <a:srgbClr val="FF0000"/>
                </a:solidFill>
              </a:rPr>
              <a:t>eval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("x*y") + "&lt;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b = </a:t>
            </a:r>
            <a:r>
              <a:rPr lang="en-US" sz="2000" b="1" dirty="0" err="1" smtClean="0">
                <a:solidFill>
                  <a:srgbClr val="FF0000"/>
                </a:solidFill>
              </a:rPr>
              <a:t>eval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("2+2-1") + "&lt;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("demo").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innerHTML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=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a+b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&lt;/script&gt;</a:t>
            </a:r>
          </a:p>
          <a:p>
            <a:pPr marL="342900" lvl="0" indent="-342900">
              <a:spcBef>
                <a:spcPct val="20000"/>
              </a:spcBef>
            </a:pPr>
            <a:endParaRPr lang="en-US" sz="2000" dirty="0"/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428596" y="142852"/>
            <a:ext cx="8229600" cy="1152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algn="ctr">
              <a:spcBef>
                <a:spcPct val="0"/>
              </a:spcBef>
              <a:defRPr/>
            </a:pPr>
            <a:endParaRPr lang="en-US" sz="43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defRPr/>
            </a:pPr>
            <a:r>
              <a:rPr lang="en-US" sz="43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isFinite</a:t>
            </a:r>
            <a:r>
              <a:rPr lang="en-US" sz="43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() Function</a:t>
            </a:r>
          </a:p>
          <a:p>
            <a:pPr algn="ctr">
              <a:spcBef>
                <a:spcPct val="0"/>
              </a:spcBef>
              <a:defRPr/>
            </a:pPr>
            <a:endParaRPr lang="ru-RU" sz="40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1447800"/>
            <a:ext cx="8229600" cy="990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000" b="1" dirty="0" err="1" smtClean="0"/>
              <a:t>isFinite</a:t>
            </a:r>
            <a:r>
              <a:rPr lang="en-US" sz="2000" b="1" dirty="0" smtClean="0"/>
              <a:t>()</a:t>
            </a:r>
            <a:r>
              <a:rPr lang="en-US" sz="2000" dirty="0" smtClean="0"/>
              <a:t> function check whether a number is a finite, legal number:</a:t>
            </a:r>
          </a:p>
          <a:p>
            <a:r>
              <a:rPr lang="en-US" sz="2000" dirty="0" smtClean="0"/>
              <a:t>The </a:t>
            </a:r>
            <a:r>
              <a:rPr lang="en-US" sz="2000" b="1" dirty="0" err="1" smtClean="0"/>
              <a:t>isFinite</a:t>
            </a:r>
            <a:r>
              <a:rPr lang="en-US" sz="2000" b="1" dirty="0" smtClean="0"/>
              <a:t>() </a:t>
            </a:r>
            <a:r>
              <a:rPr lang="en-US" sz="2000" dirty="0" smtClean="0"/>
              <a:t>function returns false if the value is +infinity, -infinity, or </a:t>
            </a:r>
            <a:r>
              <a:rPr lang="en-US" sz="2000" dirty="0" err="1" smtClean="0"/>
              <a:t>NaN</a:t>
            </a:r>
            <a:r>
              <a:rPr lang="en-US" sz="2000" dirty="0" smtClean="0"/>
              <a:t>, otherwise it returns true.</a:t>
            </a:r>
            <a:endParaRPr lang="en-US" sz="2000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57200" y="2667000"/>
            <a:ext cx="8229600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a = </a:t>
            </a:r>
            <a:r>
              <a:rPr lang="en-US" sz="2000" b="1" dirty="0" err="1" smtClean="0">
                <a:solidFill>
                  <a:srgbClr val="FF0000"/>
                </a:solidFill>
              </a:rPr>
              <a:t>isFinite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(123) + "&lt;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b = </a:t>
            </a:r>
            <a:r>
              <a:rPr lang="en-US" sz="2000" b="1" dirty="0" err="1" smtClean="0">
                <a:solidFill>
                  <a:srgbClr val="FF0000"/>
                </a:solidFill>
              </a:rPr>
              <a:t>isFinite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(-1.23) + "&lt;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d = </a:t>
            </a:r>
            <a:r>
              <a:rPr lang="en-US" sz="2000" b="1" dirty="0" err="1" smtClean="0">
                <a:solidFill>
                  <a:srgbClr val="FF0000"/>
                </a:solidFill>
              </a:rPr>
              <a:t>isFinite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(0) + "&lt;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e = </a:t>
            </a:r>
            <a:r>
              <a:rPr lang="en-US" sz="2000" b="1" dirty="0" err="1" smtClean="0">
                <a:solidFill>
                  <a:srgbClr val="FF0000"/>
                </a:solidFill>
              </a:rPr>
              <a:t>isFinite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("Hello") + "&lt;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f  = </a:t>
            </a:r>
            <a:r>
              <a:rPr lang="en-US" sz="2000" b="1" dirty="0" err="1" smtClean="0">
                <a:solidFill>
                  <a:srgbClr val="FF0000"/>
                </a:solidFill>
              </a:rPr>
              <a:t>isFinite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("2005/12/12") + "&lt;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res = a + b + d + e + f;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document.write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(res);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&lt;/script&gt;</a:t>
            </a:r>
            <a:endParaRPr lang="en-US" sz="2000" dirty="0">
              <a:solidFill>
                <a:schemeClr val="tx2">
                  <a:lumMod val="50000"/>
                </a:schemeClr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428596" y="142852"/>
            <a:ext cx="8229600" cy="10763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algn="ctr">
              <a:spcBef>
                <a:spcPct val="0"/>
              </a:spcBef>
              <a:defRPr/>
            </a:pPr>
            <a:endParaRPr lang="en-US" sz="44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defRPr/>
            </a:pPr>
            <a:r>
              <a:rPr lang="en-US" sz="44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isNaN</a:t>
            </a:r>
            <a:r>
              <a:rPr lang="en-US" sz="4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j-lt"/>
                <a:ea typeface="+mj-ea"/>
                <a:cs typeface="+mj-cs"/>
              </a:rPr>
              <a:t>() Function</a:t>
            </a:r>
          </a:p>
          <a:p>
            <a:pPr algn="ctr">
              <a:spcBef>
                <a:spcPct val="0"/>
              </a:spcBef>
              <a:defRPr/>
            </a:pPr>
            <a:endParaRPr lang="en-US" sz="43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1447800"/>
            <a:ext cx="8229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000" b="1" dirty="0" err="1" smtClean="0"/>
              <a:t>isNaN</a:t>
            </a:r>
            <a:r>
              <a:rPr lang="en-US" sz="2000" b="1" dirty="0" smtClean="0"/>
              <a:t>()</a:t>
            </a:r>
            <a:r>
              <a:rPr lang="en-US" sz="2000" dirty="0" smtClean="0"/>
              <a:t> function  check whether a number is an illegal number:</a:t>
            </a:r>
            <a:endParaRPr lang="en-US" sz="20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57200" y="2438400"/>
            <a:ext cx="8229600" cy="3505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a = </a:t>
            </a:r>
            <a:r>
              <a:rPr lang="en-US" sz="2000" b="1" dirty="0" err="1" smtClean="0">
                <a:solidFill>
                  <a:srgbClr val="FF0000"/>
                </a:solidFill>
              </a:rPr>
              <a:t>isNaN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(123) + "&lt;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b =</a:t>
            </a:r>
            <a:r>
              <a:rPr lang="en-US" sz="20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</a:rPr>
              <a:t>isNaN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(-1.23) + "&lt;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c = </a:t>
            </a:r>
            <a:r>
              <a:rPr lang="en-US" sz="2000" b="1" dirty="0" err="1" smtClean="0">
                <a:solidFill>
                  <a:srgbClr val="FF0000"/>
                </a:solidFill>
              </a:rPr>
              <a:t>isNaN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(5-2) + "&lt;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d = </a:t>
            </a:r>
            <a:r>
              <a:rPr lang="en-US" sz="2000" b="1" dirty="0" err="1" smtClean="0">
                <a:solidFill>
                  <a:srgbClr val="FF0000"/>
                </a:solidFill>
              </a:rPr>
              <a:t>isNaN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(0) + "&lt;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e =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</a:rPr>
              <a:t>isNaN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("Hello") + "&lt;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f  = </a:t>
            </a:r>
            <a:r>
              <a:rPr lang="en-US" sz="2000" b="1" dirty="0" err="1" smtClean="0">
                <a:solidFill>
                  <a:srgbClr val="FF0000"/>
                </a:solidFill>
              </a:rPr>
              <a:t>isNaN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("2005/12/12") + "&lt;</a:t>
            </a: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endParaRPr lang="en-US" sz="2000" dirty="0" smtClean="0"/>
          </a:p>
          <a:p>
            <a:pPr marL="342900" lvl="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res = a + b + c + d + e + f;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dirty="0" err="1" smtClean="0">
                <a:solidFill>
                  <a:schemeClr val="tx2">
                    <a:lumMod val="50000"/>
                  </a:schemeClr>
                </a:solidFill>
              </a:rPr>
              <a:t>document.write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(res);</a:t>
            </a:r>
          </a:p>
          <a:p>
            <a:pPr marL="342900" lvl="0" indent="-342900">
              <a:spcBef>
                <a:spcPct val="20000"/>
              </a:spcBef>
            </a:pPr>
            <a:endParaRPr lang="en-US" sz="2000" dirty="0"/>
          </a:p>
          <a:p>
            <a:pPr marL="342900" lvl="0" indent="-342900">
              <a:spcBef>
                <a:spcPct val="20000"/>
              </a:spcBef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85251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 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Number() Function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0" y="1752600"/>
            <a:ext cx="821537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000" b="1" dirty="0" smtClean="0"/>
              <a:t>Number()</a:t>
            </a:r>
            <a:r>
              <a:rPr lang="en-US" sz="2000" dirty="0" smtClean="0"/>
              <a:t> function convert different object values to their numbers:</a:t>
            </a:r>
            <a:endParaRPr lang="en-US" sz="20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1000" y="2590800"/>
            <a:ext cx="8177242" cy="3352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a= new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Boolean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(true);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b= new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Boolean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(false);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c= new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Date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d= new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String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("999");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e= new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String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("999  888");</a:t>
            </a:r>
          </a:p>
          <a:p>
            <a:pPr marL="342900" lvl="0" indent="-342900">
              <a:spcBef>
                <a:spcPct val="20000"/>
              </a:spcBef>
            </a:pPr>
            <a:endParaRPr lang="en-US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res= </a:t>
            </a:r>
            <a:r>
              <a:rPr lang="en-US" b="1" dirty="0" smtClean="0">
                <a:solidFill>
                  <a:srgbClr val="FF0000"/>
                </a:solidFill>
              </a:rPr>
              <a:t>Number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(a)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 + </a:t>
            </a:r>
            <a:r>
              <a:rPr lang="en-US" b="1" dirty="0" smtClean="0">
                <a:solidFill>
                  <a:srgbClr val="FF0000"/>
                </a:solidFill>
              </a:rPr>
              <a:t>Number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(b)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 + </a:t>
            </a:r>
            <a:r>
              <a:rPr lang="en-US" b="1" dirty="0" smtClean="0">
                <a:solidFill>
                  <a:srgbClr val="FF0000"/>
                </a:solidFill>
              </a:rPr>
              <a:t>Number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(c)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 +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Number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(d)+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 + </a:t>
            </a:r>
            <a:r>
              <a:rPr lang="en-US" b="1" dirty="0" smtClean="0">
                <a:solidFill>
                  <a:srgbClr val="FF0000"/>
                </a:solidFill>
              </a:rPr>
              <a:t>Number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(e);</a:t>
            </a:r>
          </a:p>
          <a:p>
            <a:pPr marL="342900" lvl="0" indent="-342900">
              <a:spcBef>
                <a:spcPct val="20000"/>
              </a:spcBef>
            </a:pPr>
            <a:endParaRPr lang="en-US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document.write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(res);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85251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parseFloat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 Function</a:t>
            </a:r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61936" y="1560394"/>
            <a:ext cx="821537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The </a:t>
            </a:r>
            <a:r>
              <a:rPr lang="en-US" b="1" dirty="0" err="1" smtClean="0"/>
              <a:t>parseFloat</a:t>
            </a:r>
            <a:r>
              <a:rPr lang="en-US" b="1" dirty="0" smtClean="0"/>
              <a:t>() </a:t>
            </a:r>
            <a:r>
              <a:rPr lang="en-US" dirty="0" smtClean="0"/>
              <a:t>function parses a string and returns a floating point number.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1000" y="2362200"/>
            <a:ext cx="8177242" cy="3581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a = </a:t>
            </a:r>
            <a:r>
              <a:rPr lang="en-US" b="1" dirty="0" err="1" smtClean="0">
                <a:solidFill>
                  <a:srgbClr val="FF0000"/>
                </a:solidFill>
              </a:rPr>
              <a:t>parseFloat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("10")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b = </a:t>
            </a:r>
            <a:r>
              <a:rPr lang="en-US" b="1" dirty="0" err="1" smtClean="0">
                <a:solidFill>
                  <a:srgbClr val="FF0000"/>
                </a:solidFill>
              </a:rPr>
              <a:t>parseFloat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("10.00")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c = </a:t>
            </a:r>
            <a:r>
              <a:rPr lang="en-US" b="1" dirty="0" err="1" smtClean="0">
                <a:solidFill>
                  <a:srgbClr val="FF0000"/>
                </a:solidFill>
              </a:rPr>
              <a:t>parseFloat</a:t>
            </a:r>
            <a:r>
              <a:rPr lang="en-US" smtClean="0">
                <a:solidFill>
                  <a:schemeClr val="tx2">
                    <a:lumMod val="50000"/>
                  </a:schemeClr>
                </a:solidFill>
              </a:rPr>
              <a:t>("10.33abc") 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d</a:t>
            </a:r>
            <a:r>
              <a:rPr lang="en-US" dirty="0" smtClean="0"/>
              <a:t> = </a:t>
            </a:r>
            <a:r>
              <a:rPr lang="en-US" b="1" dirty="0" err="1" smtClean="0">
                <a:solidFill>
                  <a:srgbClr val="FF0000"/>
                </a:solidFill>
              </a:rPr>
              <a:t>parseFloat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("34 45 66")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e </a:t>
            </a:r>
            <a:r>
              <a:rPr lang="en-US" dirty="0" smtClean="0"/>
              <a:t>=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parseFloat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   60   ")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f  </a:t>
            </a:r>
            <a:r>
              <a:rPr lang="en-US" dirty="0" smtClean="0"/>
              <a:t>=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parseFloat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("40 years")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g </a:t>
            </a:r>
            <a:r>
              <a:rPr lang="en-US" dirty="0" smtClean="0"/>
              <a:t>= </a:t>
            </a:r>
            <a:r>
              <a:rPr lang="en-US" b="1" dirty="0" err="1" smtClean="0">
                <a:solidFill>
                  <a:srgbClr val="FF0000"/>
                </a:solidFill>
              </a:rPr>
              <a:t>parseFloat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("He was 40")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endParaRPr lang="en-US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res = a + b + c + d + e + f + g;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document.write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(res);</a:t>
            </a:r>
          </a:p>
        </p:txBody>
      </p:sp>
    </p:spTree>
    <p:extLst>
      <p:ext uri="{BB962C8B-B14F-4D97-AF65-F5344CB8AC3E}">
        <p14:creationId xmlns:p14="http://schemas.microsoft.com/office/powerpoint/2010/main" val="2758513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85251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 </a:t>
            </a:r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parseInt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() Function</a:t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04800" y="1828800"/>
            <a:ext cx="821537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 smtClean="0"/>
              <a:t>The </a:t>
            </a:r>
            <a:r>
              <a:rPr lang="en-US" b="1" dirty="0" err="1" smtClean="0"/>
              <a:t>parseInt</a:t>
            </a:r>
            <a:r>
              <a:rPr lang="en-US" b="1" dirty="0" smtClean="0"/>
              <a:t>() </a:t>
            </a:r>
            <a:r>
              <a:rPr lang="en-US" dirty="0" smtClean="0"/>
              <a:t>function parses a string and returns an integer.</a:t>
            </a:r>
            <a:endParaRPr lang="en-US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81000" y="2590800"/>
            <a:ext cx="8177242" cy="3352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a = </a:t>
            </a:r>
            <a:r>
              <a:rPr lang="en-US" b="1" dirty="0" err="1" smtClean="0">
                <a:solidFill>
                  <a:srgbClr val="FF0000"/>
                </a:solidFill>
              </a:rPr>
              <a:t>parseInt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("10")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b = </a:t>
            </a:r>
            <a:r>
              <a:rPr lang="en-US" b="1" dirty="0" err="1" smtClean="0">
                <a:solidFill>
                  <a:srgbClr val="FF0000"/>
                </a:solidFill>
              </a:rPr>
              <a:t>parseInt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("10.00")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c = </a:t>
            </a:r>
            <a:r>
              <a:rPr lang="en-US" b="1" dirty="0" err="1" smtClean="0">
                <a:solidFill>
                  <a:srgbClr val="FF0000"/>
                </a:solidFill>
              </a:rPr>
              <a:t>parseInt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("10.33")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d </a:t>
            </a:r>
            <a:r>
              <a:rPr lang="en-US" dirty="0" smtClean="0"/>
              <a:t>=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parseInt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("34 45 66")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e = </a:t>
            </a:r>
            <a:r>
              <a:rPr lang="en-US" b="1" dirty="0" err="1" smtClean="0">
                <a:solidFill>
                  <a:srgbClr val="FF0000"/>
                </a:solidFill>
              </a:rPr>
              <a:t>parseInt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 60 ")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f </a:t>
            </a:r>
            <a:r>
              <a:rPr lang="en-US" dirty="0" smtClean="0"/>
              <a:t>=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parseInt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("40 years")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g = </a:t>
            </a:r>
            <a:r>
              <a:rPr lang="en-US" b="1" dirty="0" err="1" smtClean="0">
                <a:solidFill>
                  <a:srgbClr val="FF0000"/>
                </a:solidFill>
              </a:rPr>
              <a:t>parseInt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("He was 40")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&gt;";</a:t>
            </a:r>
          </a:p>
          <a:p>
            <a:pPr marL="342900" lvl="0" indent="-342900">
              <a:spcBef>
                <a:spcPct val="20000"/>
              </a:spcBef>
            </a:pPr>
            <a:endParaRPr lang="en-US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342900" lvl="0" indent="-342900">
              <a:spcBef>
                <a:spcPct val="20000"/>
              </a:spcBef>
            </a:pPr>
            <a:r>
              <a:rPr lang="pt-BR" dirty="0" smtClean="0">
                <a:solidFill>
                  <a:schemeClr val="tx2">
                    <a:lumMod val="50000"/>
                  </a:schemeClr>
                </a:solidFill>
              </a:rPr>
              <a:t>var res = a + b + c + d + e + f + g;</a:t>
            </a:r>
          </a:p>
          <a:p>
            <a:pPr marL="342900" lvl="0" indent="-342900">
              <a:spcBef>
                <a:spcPct val="20000"/>
              </a:spcBef>
            </a:pPr>
            <a:r>
              <a:rPr lang="pt-BR" dirty="0" smtClean="0">
                <a:solidFill>
                  <a:schemeClr val="tx2">
                    <a:lumMod val="50000"/>
                  </a:schemeClr>
                </a:solidFill>
              </a:rPr>
              <a:t>document.write(res);</a:t>
            </a:r>
            <a:endParaRPr lang="en-US" dirty="0" smtClean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85251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String() Function</a:t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42872" y="1676400"/>
            <a:ext cx="8215370" cy="4071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000" dirty="0" smtClean="0"/>
              <a:t>The </a:t>
            </a:r>
            <a:r>
              <a:rPr lang="en-US" sz="2000" b="1" dirty="0" smtClean="0"/>
              <a:t>String() </a:t>
            </a:r>
            <a:r>
              <a:rPr lang="en-US" sz="2000" dirty="0" smtClean="0"/>
              <a:t>function converts the value of an object to a string.</a:t>
            </a:r>
            <a:endParaRPr lang="en-US" sz="20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1000" y="2590800"/>
            <a:ext cx="8177242" cy="3352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a= new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Boolean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(1);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b= new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Boolean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(0);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c= new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Boolean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(true);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d= new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Boolean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(false);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e= new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Date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f= new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String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("999 888");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g= 12345;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var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res = </a:t>
            </a:r>
            <a:r>
              <a:rPr lang="en-US" b="1" dirty="0" smtClean="0">
                <a:solidFill>
                  <a:srgbClr val="FF0000"/>
                </a:solidFill>
              </a:rPr>
              <a:t>String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(a)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 + </a:t>
            </a:r>
            <a:r>
              <a:rPr lang="en-US" b="1" dirty="0" smtClean="0">
                <a:solidFill>
                  <a:srgbClr val="FF0000"/>
                </a:solidFill>
              </a:rPr>
              <a:t>String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(b)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 + </a:t>
            </a:r>
            <a:r>
              <a:rPr lang="en-US" b="1" dirty="0" smtClean="0">
                <a:solidFill>
                  <a:srgbClr val="FF0000"/>
                </a:solidFill>
              </a:rPr>
              <a:t>String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(c)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 +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b="1" dirty="0" smtClean="0">
                <a:solidFill>
                  <a:srgbClr val="FF0000"/>
                </a:solidFill>
              </a:rPr>
              <a:t> String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(d)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 + </a:t>
            </a:r>
            <a:r>
              <a:rPr lang="en-US" b="1" dirty="0" smtClean="0">
                <a:solidFill>
                  <a:srgbClr val="FF0000"/>
                </a:solidFill>
              </a:rPr>
              <a:t>String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(e)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 + </a:t>
            </a:r>
            <a:r>
              <a:rPr lang="en-US" b="1" dirty="0" smtClean="0">
                <a:solidFill>
                  <a:srgbClr val="FF0000"/>
                </a:solidFill>
              </a:rPr>
              <a:t>String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(f) + "&lt;</a:t>
            </a: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br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&gt;" + </a:t>
            </a:r>
            <a:r>
              <a:rPr lang="en-US" b="1" dirty="0" smtClean="0">
                <a:solidFill>
                  <a:srgbClr val="FF0000"/>
                </a:solidFill>
              </a:rPr>
              <a:t>String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(g);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>
                <a:solidFill>
                  <a:schemeClr val="tx2">
                    <a:lumMod val="50000"/>
                  </a:schemeClr>
                </a:solidFill>
              </a:rPr>
              <a:t>document.write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(res);</a:t>
            </a:r>
          </a:p>
        </p:txBody>
      </p:sp>
    </p:spTree>
    <p:extLst>
      <p:ext uri="{BB962C8B-B14F-4D97-AF65-F5344CB8AC3E}">
        <p14:creationId xmlns:p14="http://schemas.microsoft.com/office/powerpoint/2010/main" val="257328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2400" y="2133600"/>
            <a:ext cx="8686800" cy="2819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ru-RU" sz="3200" dirty="0" smtClean="0"/>
              <a:t>   Ունենք նկար և մեկ կոճակ: Առաջին անգամ կոճակի վրա սեղմելիս նկարը պետք է անհետանա աստիճանաբար: Երկրորդ անգամ  սեղմելիս հայտնվի աստիճանաբար: Եվ այդպես շարունակ: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92871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1: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2400" y="2133600"/>
            <a:ext cx="8686800" cy="2819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ru-RU" sz="3200" dirty="0" smtClean="0"/>
              <a:t>    Ունենք երկու կոճակ և մի </a:t>
            </a:r>
            <a:r>
              <a:rPr lang="en-US" sz="3200" dirty="0" smtClean="0"/>
              <a:t>div</a:t>
            </a:r>
            <a:r>
              <a:rPr lang="ru-RU" sz="3200" dirty="0" smtClean="0"/>
              <a:t>,որի մեջ կա տեքստ: Առաջին կոճակի վրա սեղմած </a:t>
            </a:r>
            <a:r>
              <a:rPr lang="ru-RU" sz="3200" smtClean="0"/>
              <a:t>պահելիս տեքստը </a:t>
            </a:r>
            <a:r>
              <a:rPr lang="ru-RU" sz="3200" dirty="0" smtClean="0"/>
              <a:t>աստիճանաբար իջնի,բայց երևա միայն </a:t>
            </a:r>
            <a:r>
              <a:rPr lang="en-US" sz="3200" dirty="0" smtClean="0"/>
              <a:t>div</a:t>
            </a:r>
            <a:r>
              <a:rPr lang="ru-RU" sz="3200" dirty="0" smtClean="0"/>
              <a:t>-ի սահմաններում:Երկրորդ կոճակի դեպքում բարձրանա: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92871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</a:t>
            </a:r>
            <a:r>
              <a:rPr lang="ru-RU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</a:t>
            </a: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3029</TotalTime>
  <Words>884</Words>
  <Application>Microsoft Office PowerPoint</Application>
  <PresentationFormat>Экран (4:3)</PresentationFormat>
  <Paragraphs>135</Paragraphs>
  <Slides>14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Office Theme</vt:lpstr>
      <vt:lpstr>JavaScript Lesson 10</vt:lpstr>
      <vt:lpstr>  typeof  operator   </vt:lpstr>
      <vt:lpstr>     JavaScript Global Properties     </vt:lpstr>
      <vt:lpstr>   encodeURI() Function   </vt:lpstr>
      <vt:lpstr>Презентация PowerPoint</vt:lpstr>
      <vt:lpstr>Презентация PowerPoint</vt:lpstr>
      <vt:lpstr>Презентация PowerPoint</vt:lpstr>
      <vt:lpstr>Презентация PowerPoint</vt:lpstr>
      <vt:lpstr>       Number() Function     </vt:lpstr>
      <vt:lpstr>       parseFloat() Function     </vt:lpstr>
      <vt:lpstr>       parseInt() Function     </vt:lpstr>
      <vt:lpstr>      String() Function      </vt:lpstr>
      <vt:lpstr> Task 1: </vt:lpstr>
      <vt:lpstr> Task 2: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Lesson 1</dc:title>
  <dc:creator>Comp</dc:creator>
  <cp:lastModifiedBy>home</cp:lastModifiedBy>
  <cp:revision>198</cp:revision>
  <dcterms:created xsi:type="dcterms:W3CDTF">2014-01-30T13:16:31Z</dcterms:created>
  <dcterms:modified xsi:type="dcterms:W3CDTF">2016-09-14T07:01:05Z</dcterms:modified>
</cp:coreProperties>
</file>