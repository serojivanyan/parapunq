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9" r:id="rId4"/>
    <p:sldId id="261" r:id="rId5"/>
    <p:sldId id="262" r:id="rId6"/>
    <p:sldId id="267" r:id="rId7"/>
    <p:sldId id="271" r:id="rId8"/>
    <p:sldId id="270" r:id="rId9"/>
    <p:sldId id="266" r:id="rId10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624" autoAdjust="0"/>
  </p:normalViewPr>
  <p:slideViewPr>
    <p:cSldViewPr>
      <p:cViewPr>
        <p:scale>
          <a:sx n="70" d="100"/>
          <a:sy n="70" d="100"/>
        </p:scale>
        <p:origin x="-1386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79D068-B525-4CAC-8186-CDB407C1BD77}" type="datetimeFigureOut">
              <a:rPr lang="en-US" smtClean="0"/>
              <a:pPr/>
              <a:t>8/29/2016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DA0895-8F15-4486-A1A9-47776EBBA27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885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DA0895-8F15-4486-A1A9-47776EBBA275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FBCB7-3EBB-4567-84DF-F14E0EA17694}" type="datetime1">
              <a:rPr lang="ru-RU" smtClean="0"/>
              <a:pPr/>
              <a:t>29.08.2016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9D08-B3F5-468D-A764-5312BCE8B05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EBCD2-D2C4-43C3-AF04-952BCE295136}" type="datetime1">
              <a:rPr lang="ru-RU" smtClean="0"/>
              <a:pPr/>
              <a:t>29.08.2016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9D08-B3F5-468D-A764-5312BCE8B05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30A9C-A938-48B9-99FF-784D2C142E09}" type="datetime1">
              <a:rPr lang="ru-RU" smtClean="0"/>
              <a:pPr/>
              <a:t>29.08.2016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9D08-B3F5-468D-A764-5312BCE8B05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6412C-B91E-49D1-B80B-E41D09A3AEB7}" type="datetime1">
              <a:rPr lang="ru-RU" smtClean="0"/>
              <a:pPr/>
              <a:t>29.08.2016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9D08-B3F5-468D-A764-5312BCE8B05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6A638-819C-46E6-8EF1-24E3CE9A4AD1}" type="datetime1">
              <a:rPr lang="ru-RU" smtClean="0"/>
              <a:pPr/>
              <a:t>29.08.2016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9D08-B3F5-468D-A764-5312BCE8B05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937E0-F595-4781-B2FF-9706D5AF69B4}" type="datetime1">
              <a:rPr lang="ru-RU" smtClean="0"/>
              <a:pPr/>
              <a:t>29.08.2016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9D08-B3F5-468D-A764-5312BCE8B05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AF1D4-220E-4E01-A264-CBD45BB1D1F2}" type="datetime1">
              <a:rPr lang="ru-RU" smtClean="0"/>
              <a:pPr/>
              <a:t>29.08.2016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9D08-B3F5-468D-A764-5312BCE8B05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2584A-06BD-4400-9D4B-FC611A6A15B0}" type="datetime1">
              <a:rPr lang="ru-RU" smtClean="0"/>
              <a:pPr/>
              <a:t>29.08.2016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9D08-B3F5-468D-A764-5312BCE8B05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E48DF-5963-4AEC-906A-AD3F848A733A}" type="datetime1">
              <a:rPr lang="ru-RU" smtClean="0"/>
              <a:pPr/>
              <a:t>29.08.2016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9D08-B3F5-468D-A764-5312BCE8B05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04732-3364-452E-9031-DCA7F1BB99E5}" type="datetime1">
              <a:rPr lang="ru-RU" smtClean="0"/>
              <a:pPr/>
              <a:t>29.08.2016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9D08-B3F5-468D-A764-5312BCE8B05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1C2B1-E678-452A-A809-58A55B2525C8}" type="datetime1">
              <a:rPr lang="ru-RU" smtClean="0"/>
              <a:pPr/>
              <a:t>29.08.2016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9D08-B3F5-468D-A764-5312BCE8B05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52D634-C2FB-4C55-AA0E-3890484A9E7F}" type="datetime1">
              <a:rPr lang="ru-RU" smtClean="0"/>
              <a:pPr/>
              <a:t>29.08.2016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A09D08-B3F5-468D-A764-5312BCE8B055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javascri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085" y="0"/>
            <a:ext cx="835783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5720" y="500042"/>
            <a:ext cx="3143272" cy="1470025"/>
          </a:xfrm>
        </p:spPr>
        <p:txBody>
          <a:bodyPr>
            <a:normAutofit/>
          </a:bodyPr>
          <a:lstStyle/>
          <a:p>
            <a:r>
              <a:rPr lang="en-US" sz="40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JavaScript</a:t>
            </a:r>
            <a:r>
              <a:rPr lang="hy-AM" sz="40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hy-AM" sz="40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hy-AM" sz="40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Lesson</a:t>
            </a:r>
            <a:r>
              <a:rPr lang="en-US" sz="40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4</a:t>
            </a:r>
            <a:endParaRPr lang="en-US" sz="40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accent2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214290"/>
            <a:ext cx="8229600" cy="785818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Objects</a:t>
            </a:r>
            <a:r>
              <a:rPr lang="en-US" dirty="0" smtClean="0"/>
              <a:t/>
            </a:r>
            <a:br>
              <a:rPr lang="en-US" dirty="0" smtClean="0"/>
            </a:br>
            <a:endParaRPr lang="ru-RU" i="1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381000" y="5486400"/>
            <a:ext cx="8458200" cy="6858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r>
              <a:rPr lang="en-US" dirty="0" smtClean="0"/>
              <a:t>The </a:t>
            </a:r>
            <a:r>
              <a:rPr lang="en-US" b="1" dirty="0" smtClean="0"/>
              <a:t>properties</a:t>
            </a:r>
            <a:r>
              <a:rPr lang="en-US" dirty="0" smtClean="0"/>
              <a:t> of the car include name, model, weight, color, etc.</a:t>
            </a:r>
          </a:p>
          <a:p>
            <a:r>
              <a:rPr lang="en-US" dirty="0" smtClean="0"/>
              <a:t>The </a:t>
            </a:r>
            <a:r>
              <a:rPr lang="en-US" b="1" dirty="0" smtClean="0"/>
              <a:t>methods</a:t>
            </a:r>
            <a:r>
              <a:rPr lang="en-US" dirty="0" smtClean="0"/>
              <a:t> of the car could be start(), drive(), brake(), etc.</a:t>
            </a:r>
            <a:endParaRPr lang="en-US" dirty="0"/>
          </a:p>
        </p:txBody>
      </p:sp>
      <p:pic>
        <p:nvPicPr>
          <p:cNvPr id="1026" name="Picture 2" descr="C:\Users\Comp\Desktop\OPTIMUM\Javascript\JS_4\object real life example car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1981200"/>
            <a:ext cx="8305800" cy="3505200"/>
          </a:xfrm>
          <a:prstGeom prst="rect">
            <a:avLst/>
          </a:prstGeom>
          <a:noFill/>
        </p:spPr>
      </p:pic>
      <p:sp>
        <p:nvSpPr>
          <p:cNvPr id="10" name="Content Placeholder 2"/>
          <p:cNvSpPr txBox="1">
            <a:spLocks/>
          </p:cNvSpPr>
          <p:nvPr/>
        </p:nvSpPr>
        <p:spPr>
          <a:xfrm>
            <a:off x="304800" y="1371600"/>
            <a:ext cx="8429684" cy="6096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r>
              <a:rPr lang="en-US" dirty="0" smtClean="0"/>
              <a:t>Almost everything in JavaScript can be an Object: Strings, Functions, Arrays, Dates....</a:t>
            </a:r>
          </a:p>
          <a:p>
            <a:r>
              <a:rPr lang="en-US" dirty="0" smtClean="0"/>
              <a:t>Objects are just data, with properties and methods.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214290"/>
            <a:ext cx="8229600" cy="72547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Objects in JavaScript: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i="1" dirty="0" smtClean="0"/>
              <a:t/>
            </a:r>
            <a:br>
              <a:rPr lang="en-US" i="1" dirty="0" smtClean="0"/>
            </a:br>
            <a:endParaRPr lang="ru-RU" i="1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57200" y="15240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04800" y="1447800"/>
            <a:ext cx="8458200" cy="381000"/>
          </a:xfrm>
          <a:solidFill>
            <a:schemeClr val="bg1">
              <a:lumMod val="85000"/>
            </a:schemeClr>
          </a:solidFill>
        </p:spPr>
        <p:txBody>
          <a:bodyPr>
            <a:noAutofit/>
          </a:bodyPr>
          <a:lstStyle/>
          <a:p>
            <a:pPr>
              <a:buNone/>
            </a:pPr>
            <a:r>
              <a:rPr lang="en-US" sz="2000" dirty="0" err="1" smtClean="0">
                <a:solidFill>
                  <a:schemeClr val="tx2">
                    <a:lumMod val="75000"/>
                  </a:schemeClr>
                </a:solidFill>
              </a:rPr>
              <a:t>var</a:t>
            </a:r>
            <a:r>
              <a:rPr lang="en-US" sz="2000" dirty="0" smtClean="0"/>
              <a:t> txt = 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</a:rPr>
              <a:t>new</a:t>
            </a:r>
            <a:r>
              <a:rPr lang="en-US" sz="2000" dirty="0" smtClean="0"/>
              <a:t> String("Hello World");</a:t>
            </a:r>
            <a:endParaRPr lang="ru-RU" sz="2000" dirty="0"/>
          </a:p>
        </p:txBody>
      </p:sp>
      <p:pic>
        <p:nvPicPr>
          <p:cNvPr id="2050" name="Picture 2" descr="C:\Users\Comp\Desktop\OPTIMUM\Javascript\JS_4\object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981200"/>
            <a:ext cx="8458200" cy="762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 txBox="1">
            <a:spLocks/>
          </p:cNvSpPr>
          <p:nvPr/>
        </p:nvSpPr>
        <p:spPr>
          <a:xfrm>
            <a:off x="428596" y="142852"/>
            <a:ext cx="8229600" cy="7858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44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latin typeface="+mj-lt"/>
                <a:ea typeface="+mj-ea"/>
                <a:cs typeface="+mj-cs"/>
              </a:rPr>
              <a:t>S</a:t>
            </a:r>
            <a:r>
              <a:rPr lang="en-US" sz="4400" b="1" dirty="0" err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latin typeface="+mj-lt"/>
                <a:ea typeface="+mj-ea"/>
                <a:cs typeface="+mj-cs"/>
              </a:rPr>
              <a:t>trings</a:t>
            </a:r>
            <a:r>
              <a:rPr lang="en-US" sz="44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latin typeface="+mj-lt"/>
                <a:ea typeface="+mj-ea"/>
                <a:cs typeface="+mj-cs"/>
              </a:rPr>
              <a:t>(quotes, index) </a:t>
            </a:r>
            <a:endParaRPr lang="ru-RU" sz="44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rgbClr val="C00000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457200" y="2057400"/>
            <a:ext cx="3733800" cy="762000"/>
          </a:xfrm>
          <a:solidFill>
            <a:schemeClr val="bg1">
              <a:lumMod val="85000"/>
            </a:schemeClr>
          </a:solidFill>
        </p:spPr>
        <p:txBody>
          <a:bodyPr>
            <a:noAutofit/>
          </a:bodyPr>
          <a:lstStyle/>
          <a:p>
            <a:pPr>
              <a:buNone/>
            </a:pPr>
            <a:r>
              <a:rPr lang="pt-BR" sz="2000" dirty="0" smtClean="0">
                <a:solidFill>
                  <a:schemeClr val="tx2">
                    <a:lumMod val="50000"/>
                  </a:schemeClr>
                </a:solidFill>
              </a:rPr>
              <a:t>var </a:t>
            </a:r>
            <a:r>
              <a:rPr lang="pt-BR" sz="2000" dirty="0" smtClean="0"/>
              <a:t>carname="mercedes";</a:t>
            </a:r>
          </a:p>
          <a:p>
            <a:pPr>
              <a:buNone/>
            </a:pPr>
            <a:r>
              <a:rPr lang="pt-BR" sz="2000" dirty="0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pt-BR" sz="2000" dirty="0" smtClean="0"/>
              <a:t> carname= 'mercedes';</a:t>
            </a:r>
            <a:r>
              <a:rPr lang="en-US" sz="2000" dirty="0" smtClean="0"/>
              <a:t/>
            </a:r>
            <a:br>
              <a:rPr lang="en-US" sz="2000" dirty="0" smtClean="0"/>
            </a:br>
            <a:endParaRPr lang="ru-RU" sz="2000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57200" y="1524000"/>
            <a:ext cx="82296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r>
              <a:rPr lang="en-US" dirty="0" smtClean="0"/>
              <a:t>A string can be any text inside quotes. You can use single or double quotes:</a:t>
            </a:r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57200" y="2895600"/>
            <a:ext cx="82296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r>
              <a:rPr lang="en-US" dirty="0" smtClean="0"/>
              <a:t>You can access each character in a string with its position (index):</a:t>
            </a:r>
            <a:endParaRPr lang="en-US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457200" y="3429000"/>
            <a:ext cx="3810000" cy="4572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sz="2000" dirty="0" smtClean="0"/>
              <a:t> character=</a:t>
            </a:r>
            <a:r>
              <a:rPr lang="en-US" sz="2000" dirty="0" err="1" smtClean="0"/>
              <a:t>carname</a:t>
            </a:r>
            <a:r>
              <a:rPr lang="en-US" sz="2000" dirty="0" smtClean="0"/>
              <a:t>[5];   </a:t>
            </a:r>
            <a:r>
              <a:rPr lang="en-US" sz="2000" dirty="0" smtClean="0">
                <a:solidFill>
                  <a:schemeClr val="accent3">
                    <a:lumMod val="50000"/>
                  </a:schemeClr>
                </a:solidFill>
              </a:rPr>
              <a:t>//d</a:t>
            </a:r>
            <a:r>
              <a:rPr lang="en-US" sz="2000" dirty="0" smtClean="0"/>
              <a:t>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/>
            </a:r>
            <a:b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457200" y="3962400"/>
            <a:ext cx="8229600" cy="6858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r>
              <a:rPr lang="en-US" dirty="0" smtClean="0"/>
              <a:t>You can use quotes inside a string, as long as they don't match the quotes surrounding the string:</a:t>
            </a:r>
            <a:endParaRPr lang="en-US" dirty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457200" y="4800600"/>
            <a:ext cx="5791200" cy="76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sz="2000" dirty="0" smtClean="0"/>
              <a:t>answer="He is called 'Johnny'";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sz="2000" dirty="0" smtClean="0"/>
              <a:t> answer='He is called "Johnny"';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214290"/>
            <a:ext cx="8229600" cy="71438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Strings(length, </a:t>
            </a:r>
            <a:r>
              <a:rPr lang="en-US" b="1" dirty="0" err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indexof</a:t>
            </a: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) </a:t>
            </a:r>
            <a:r>
              <a:rPr lang="ru-RU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ru-RU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ru-RU" dirty="0" smtClean="0"/>
              <a:t/>
            </a:r>
            <a:br>
              <a:rPr lang="ru-RU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i="1" dirty="0" smtClean="0"/>
              <a:t/>
            </a:r>
            <a:br>
              <a:rPr lang="en-US" i="1" dirty="0" smtClean="0"/>
            </a:br>
            <a:endParaRPr lang="ru-RU" i="1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381000" y="1524000"/>
            <a:ext cx="8215370" cy="44769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dirty="0" smtClean="0"/>
              <a:t>The length of a string (a string object) is found in the built in property </a:t>
            </a:r>
            <a:r>
              <a:rPr lang="en-US" b="1" dirty="0" smtClean="0"/>
              <a:t>length</a:t>
            </a:r>
            <a:r>
              <a:rPr lang="en-US" dirty="0" smtClean="0"/>
              <a:t>:</a:t>
            </a:r>
            <a:endParaRPr kumimoji="0" lang="ru-RU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381000" y="2362200"/>
            <a:ext cx="8177242" cy="71915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dirty="0" smtClean="0"/>
              <a:t> txt="Hello World!";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err="1" smtClean="0"/>
              <a:t>document.write</a:t>
            </a:r>
            <a:r>
              <a:rPr lang="en-US" dirty="0" smtClean="0"/>
              <a:t>(</a:t>
            </a:r>
            <a:r>
              <a:rPr lang="en-US" dirty="0" err="1" smtClean="0"/>
              <a:t>txt.</a:t>
            </a:r>
            <a:r>
              <a:rPr lang="en-US" dirty="0" err="1" smtClean="0">
                <a:solidFill>
                  <a:srgbClr val="FF0000"/>
                </a:solidFill>
              </a:rPr>
              <a:t>length</a:t>
            </a:r>
            <a:r>
              <a:rPr lang="en-US" dirty="0" smtClean="0"/>
              <a:t>);</a:t>
            </a:r>
            <a:endParaRPr lang="en-US" dirty="0" smtClean="0">
              <a:solidFill>
                <a:srgbClr val="FF0000"/>
              </a:solidFill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381000" y="4724400"/>
            <a:ext cx="8153400" cy="10668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dirty="0" smtClean="0"/>
              <a:t> </a:t>
            </a:r>
            <a:r>
              <a:rPr lang="en-US" dirty="0" err="1" smtClean="0"/>
              <a:t>str</a:t>
            </a:r>
            <a:r>
              <a:rPr lang="en-US" dirty="0" smtClean="0"/>
              <a:t>="Hello world, welcome to the World.";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dirty="0" smtClean="0"/>
              <a:t> n=</a:t>
            </a:r>
            <a:r>
              <a:rPr lang="en-US" dirty="0" err="1" smtClean="0"/>
              <a:t>str.</a:t>
            </a:r>
            <a:r>
              <a:rPr lang="en-US" dirty="0" err="1" smtClean="0">
                <a:solidFill>
                  <a:srgbClr val="FF0000"/>
                </a:solidFill>
              </a:rPr>
              <a:t>indexOf</a:t>
            </a:r>
            <a:r>
              <a:rPr lang="en-US" dirty="0" smtClean="0"/>
              <a:t>("welcome"); 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>
                <a:solidFill>
                  <a:srgbClr val="00B0F0"/>
                </a:solidFill>
              </a:rPr>
              <a:t>alert</a:t>
            </a: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(n);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381000" y="3581400"/>
            <a:ext cx="8215370" cy="762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dirty="0" smtClean="0"/>
              <a:t>The </a:t>
            </a:r>
            <a:r>
              <a:rPr lang="en-US" b="1" dirty="0" err="1" smtClean="0"/>
              <a:t>indexOf</a:t>
            </a:r>
            <a:r>
              <a:rPr lang="en-US" b="1" dirty="0" smtClean="0"/>
              <a:t>()</a:t>
            </a:r>
            <a:r>
              <a:rPr lang="en-US" dirty="0" smtClean="0"/>
              <a:t> method returns the position (as a number) of the first found occurrence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/>
              <a:t>of a specified text inside a string:</a:t>
            </a:r>
            <a:endParaRPr kumimoji="0" lang="ru-RU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28596" y="214290"/>
            <a:ext cx="8229600" cy="714380"/>
          </a:xfrm>
        </p:spPr>
        <p:txBody>
          <a:bodyPr>
            <a:normAutofit fontScale="90000"/>
          </a:bodyPr>
          <a:lstStyle/>
          <a:p>
            <a:pPr lvl="0"/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Strings(replace, upper/lower) </a:t>
            </a:r>
            <a:r>
              <a:rPr lang="ru-RU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ru-RU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i="1" dirty="0" smtClean="0"/>
              <a:t/>
            </a:r>
            <a:br>
              <a:rPr lang="en-US" i="1" dirty="0" smtClean="0"/>
            </a:br>
            <a:endParaRPr lang="ru-RU" i="1" dirty="0"/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381000" y="1524000"/>
            <a:ext cx="8215370" cy="44769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dirty="0" smtClean="0"/>
              <a:t>The </a:t>
            </a:r>
            <a:r>
              <a:rPr lang="en-US" b="1" dirty="0" smtClean="0"/>
              <a:t>replace()</a:t>
            </a:r>
            <a:r>
              <a:rPr lang="en-US" dirty="0" smtClean="0"/>
              <a:t> method replaces a specified value with another value in a string.</a:t>
            </a:r>
            <a:endParaRPr kumimoji="0" lang="ru-RU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381000" y="2362200"/>
            <a:ext cx="8177242" cy="9906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dirty="0" smtClean="0"/>
              <a:t>message="Please visit Microsoft!";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dirty="0" smtClean="0"/>
              <a:t> n= </a:t>
            </a:r>
            <a:r>
              <a:rPr lang="en-US" dirty="0" err="1" smtClean="0"/>
              <a:t>message.</a:t>
            </a:r>
            <a:r>
              <a:rPr lang="en-US" dirty="0" err="1" smtClean="0">
                <a:solidFill>
                  <a:srgbClr val="FF0000"/>
                </a:solidFill>
              </a:rPr>
              <a:t>replace</a:t>
            </a:r>
            <a:r>
              <a:rPr lang="en-US" dirty="0" smtClean="0"/>
              <a:t>("Microsoft","W3Schools");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// n="Please visit W3Schools!";</a:t>
            </a:r>
          </a:p>
          <a:p>
            <a:pPr marL="342900" lvl="0" indent="-342900">
              <a:spcBef>
                <a:spcPct val="20000"/>
              </a:spcBef>
            </a:pPr>
            <a:endParaRPr lang="en-US" dirty="0" smtClean="0">
              <a:solidFill>
                <a:srgbClr val="FF0000"/>
              </a:solidFill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381000" y="4572000"/>
            <a:ext cx="8153400" cy="10668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dirty="0" smtClean="0"/>
              <a:t> norm="Hello World!";      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dirty="0" smtClean="0"/>
              <a:t> </a:t>
            </a:r>
            <a:r>
              <a:rPr lang="en-US" dirty="0" err="1" smtClean="0"/>
              <a:t>up_norm</a:t>
            </a:r>
            <a:r>
              <a:rPr lang="en-US" dirty="0" smtClean="0"/>
              <a:t>= </a:t>
            </a:r>
            <a:r>
              <a:rPr lang="en-US" dirty="0" err="1" smtClean="0"/>
              <a:t>norm.</a:t>
            </a:r>
            <a:r>
              <a:rPr lang="en-US" dirty="0" err="1" smtClean="0">
                <a:solidFill>
                  <a:srgbClr val="FF0000"/>
                </a:solidFill>
              </a:rPr>
              <a:t>toUpperCase</a:t>
            </a:r>
            <a:r>
              <a:rPr lang="en-US" dirty="0" smtClean="0">
                <a:solidFill>
                  <a:srgbClr val="FF0000"/>
                </a:solidFill>
              </a:rPr>
              <a:t>()</a:t>
            </a:r>
            <a:r>
              <a:rPr lang="en-US" dirty="0" smtClean="0"/>
              <a:t>;       </a:t>
            </a:r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//HELLO WORLD! </a:t>
            </a:r>
            <a:r>
              <a:rPr lang="en-US" dirty="0" smtClean="0"/>
              <a:t> 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dirty="0" smtClean="0"/>
              <a:t> </a:t>
            </a:r>
            <a:r>
              <a:rPr lang="en-US" dirty="0" err="1" smtClean="0"/>
              <a:t>low_norm</a:t>
            </a:r>
            <a:r>
              <a:rPr lang="en-US" dirty="0" smtClean="0"/>
              <a:t>= </a:t>
            </a:r>
            <a:r>
              <a:rPr lang="en-US" dirty="0" err="1" smtClean="0"/>
              <a:t>norm.</a:t>
            </a:r>
            <a:r>
              <a:rPr lang="en-US" dirty="0" err="1" smtClean="0">
                <a:solidFill>
                  <a:srgbClr val="FF0000"/>
                </a:solidFill>
              </a:rPr>
              <a:t>toLowerCase</a:t>
            </a:r>
            <a:r>
              <a:rPr lang="en-US" dirty="0" smtClean="0">
                <a:solidFill>
                  <a:srgbClr val="FF0000"/>
                </a:solidFill>
              </a:rPr>
              <a:t>()</a:t>
            </a:r>
            <a:r>
              <a:rPr lang="en-US" dirty="0" smtClean="0"/>
              <a:t>;     </a:t>
            </a:r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//hello world!</a:t>
            </a:r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381000" y="3581400"/>
            <a:ext cx="8215370" cy="762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dirty="0" smtClean="0"/>
              <a:t>A string is converted to upper/lower case with the methods </a:t>
            </a:r>
            <a:r>
              <a:rPr lang="en-US" b="1" dirty="0" err="1" smtClean="0"/>
              <a:t>toUpperCase</a:t>
            </a:r>
            <a:r>
              <a:rPr lang="en-US" b="1" dirty="0" smtClean="0"/>
              <a:t>() /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b="1" dirty="0" err="1" smtClean="0"/>
              <a:t>toLowerCase</a:t>
            </a:r>
            <a:r>
              <a:rPr lang="en-US" b="1" dirty="0" smtClean="0"/>
              <a:t>():</a:t>
            </a:r>
            <a:endParaRPr lang="ru-RU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28596" y="214290"/>
            <a:ext cx="8229600" cy="714380"/>
          </a:xfrm>
        </p:spPr>
        <p:txBody>
          <a:bodyPr>
            <a:normAutofit fontScale="90000"/>
          </a:bodyPr>
          <a:lstStyle/>
          <a:p>
            <a:pPr lvl="0"/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Strings(</a:t>
            </a:r>
            <a:r>
              <a:rPr lang="en-US" b="1" dirty="0" err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split,substr</a:t>
            </a: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)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i="1" dirty="0" smtClean="0"/>
              <a:t/>
            </a:r>
            <a:br>
              <a:rPr lang="en-US" i="1" dirty="0" smtClean="0"/>
            </a:br>
            <a:endParaRPr lang="ru-RU" i="1" dirty="0"/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457200" y="1600200"/>
            <a:ext cx="8215370" cy="44769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dirty="0" smtClean="0"/>
              <a:t>A string is converted to an array with the built in method </a:t>
            </a:r>
            <a:r>
              <a:rPr lang="en-US" dirty="0" err="1" smtClean="0"/>
              <a:t>string.</a:t>
            </a:r>
            <a:r>
              <a:rPr lang="en-US" b="1" dirty="0" err="1" smtClean="0"/>
              <a:t>split</a:t>
            </a:r>
            <a:r>
              <a:rPr lang="en-US" b="1" dirty="0" smtClean="0"/>
              <a:t>()</a:t>
            </a:r>
            <a:r>
              <a:rPr lang="en-US" dirty="0" smtClean="0"/>
              <a:t>:.</a:t>
            </a:r>
            <a:endParaRPr kumimoji="0" lang="ru-RU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457200" y="2438400"/>
            <a:ext cx="8177242" cy="9906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dirty="0" err="1" smtClean="0"/>
              <a:t>alph</a:t>
            </a:r>
            <a:r>
              <a:rPr lang="en-US" dirty="0" smtClean="0"/>
              <a:t>="a*b*c*d*e*f";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dirty="0" smtClean="0"/>
              <a:t> n= </a:t>
            </a:r>
            <a:r>
              <a:rPr lang="en-US" dirty="0" err="1" smtClean="0"/>
              <a:t>alph.</a:t>
            </a:r>
            <a:r>
              <a:rPr lang="en-US" dirty="0" err="1" smtClean="0">
                <a:solidFill>
                  <a:srgbClr val="FF0000"/>
                </a:solidFill>
              </a:rPr>
              <a:t>split</a:t>
            </a:r>
            <a:r>
              <a:rPr lang="en-US" dirty="0" smtClean="0"/>
              <a:t>("*");  </a:t>
            </a:r>
            <a:r>
              <a:rPr lang="en-US" dirty="0" smtClean="0">
                <a:solidFill>
                  <a:schemeClr val="accent3">
                    <a:lumMod val="50000"/>
                  </a:schemeClr>
                </a:solidFill>
              </a:rPr>
              <a:t>// ("a", "b", "c", "d", "f")</a:t>
            </a:r>
          </a:p>
          <a:p>
            <a:pPr marL="342900" lvl="0" indent="-342900">
              <a:spcBef>
                <a:spcPct val="20000"/>
              </a:spcBef>
            </a:pPr>
            <a:endParaRPr lang="en-US" dirty="0" smtClean="0">
              <a:solidFill>
                <a:srgbClr val="FF0000"/>
              </a:solidFill>
            </a:endParaRPr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457200" y="3657600"/>
            <a:ext cx="8215370" cy="6858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dirty="0" smtClean="0"/>
              <a:t>The </a:t>
            </a:r>
            <a:r>
              <a:rPr lang="en-US" dirty="0" err="1" smtClean="0">
                <a:solidFill>
                  <a:srgbClr val="FF0000"/>
                </a:solidFill>
              </a:rPr>
              <a:t>substr</a:t>
            </a:r>
            <a:r>
              <a:rPr lang="en-US" dirty="0" smtClean="0">
                <a:solidFill>
                  <a:srgbClr val="FF0000"/>
                </a:solidFill>
              </a:rPr>
              <a:t>()</a:t>
            </a:r>
            <a:r>
              <a:rPr lang="en-US" dirty="0" smtClean="0"/>
              <a:t> method extracts parts of a string, beginning at the character at the specified position, and returns the specified number of characters.</a:t>
            </a:r>
            <a:endParaRPr kumimoji="0" lang="ru-RU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" name="Content Placeholder 2"/>
          <p:cNvSpPr txBox="1">
            <a:spLocks/>
          </p:cNvSpPr>
          <p:nvPr/>
        </p:nvSpPr>
        <p:spPr>
          <a:xfrm>
            <a:off x="457200" y="4495800"/>
            <a:ext cx="8177242" cy="1524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dirty="0" smtClean="0"/>
              <a:t> x= "Hello world!";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dirty="0" smtClean="0"/>
              <a:t> res = </a:t>
            </a:r>
            <a:r>
              <a:rPr lang="en-US" dirty="0" err="1" smtClean="0"/>
              <a:t>x.</a:t>
            </a:r>
            <a:r>
              <a:rPr lang="en-US" dirty="0" err="1" smtClean="0">
                <a:solidFill>
                  <a:srgbClr val="FF0000"/>
                </a:solidFill>
              </a:rPr>
              <a:t>substr</a:t>
            </a:r>
            <a:r>
              <a:rPr lang="en-US" dirty="0" smtClean="0"/>
              <a:t>(1,4)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;</a:t>
            </a:r>
            <a:r>
              <a:rPr lang="en-US" dirty="0" smtClean="0">
                <a:solidFill>
                  <a:srgbClr val="FF0000"/>
                </a:solidFill>
              </a:rPr>
              <a:t>   </a:t>
            </a:r>
            <a:r>
              <a:rPr lang="en-US" dirty="0" smtClean="0">
                <a:solidFill>
                  <a:schemeClr val="accent3">
                    <a:lumMod val="50000"/>
                  </a:schemeClr>
                </a:solidFill>
              </a:rPr>
              <a:t>// </a:t>
            </a:r>
            <a:r>
              <a:rPr lang="en-US" dirty="0" err="1" smtClean="0">
                <a:solidFill>
                  <a:schemeClr val="accent3">
                    <a:lumMod val="50000"/>
                  </a:schemeClr>
                </a:solidFill>
              </a:rPr>
              <a:t>ello</a:t>
            </a:r>
            <a:endParaRPr lang="en-US" dirty="0" smtClean="0">
              <a:solidFill>
                <a:schemeClr val="accent3">
                  <a:lumMod val="50000"/>
                </a:schemeClr>
              </a:solidFill>
            </a:endParaRPr>
          </a:p>
          <a:p>
            <a:pPr marL="342900" lvl="0" indent="-342900">
              <a:spcBef>
                <a:spcPct val="20000"/>
              </a:spcBef>
            </a:pP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dirty="0" smtClean="0"/>
              <a:t> y= </a:t>
            </a:r>
            <a:r>
              <a:rPr lang="en-US" dirty="0" err="1" smtClean="0"/>
              <a:t>x.</a:t>
            </a:r>
            <a:r>
              <a:rPr lang="en-US" dirty="0" err="1" smtClean="0">
                <a:solidFill>
                  <a:srgbClr val="FF0000"/>
                </a:solidFill>
              </a:rPr>
              <a:t>substr</a:t>
            </a:r>
            <a:r>
              <a:rPr lang="en-US" dirty="0" smtClean="0"/>
              <a:t>(2);    </a:t>
            </a:r>
            <a:r>
              <a:rPr lang="en-US" dirty="0" smtClean="0">
                <a:solidFill>
                  <a:schemeClr val="accent3">
                    <a:lumMod val="50000"/>
                  </a:schemeClr>
                </a:solidFill>
              </a:rPr>
              <a:t>// </a:t>
            </a:r>
            <a:r>
              <a:rPr lang="en-US" dirty="0" err="1" smtClean="0">
                <a:solidFill>
                  <a:schemeClr val="accent3">
                    <a:lumMod val="50000"/>
                  </a:schemeClr>
                </a:solidFill>
              </a:rPr>
              <a:t>llo</a:t>
            </a:r>
            <a:r>
              <a:rPr lang="en-US" dirty="0" smtClean="0">
                <a:solidFill>
                  <a:schemeClr val="accent3">
                    <a:lumMod val="50000"/>
                  </a:schemeClr>
                </a:solidFill>
              </a:rPr>
              <a:t> world!</a:t>
            </a:r>
          </a:p>
          <a:p>
            <a:pPr marL="342900" lvl="0" indent="-342900">
              <a:spcBef>
                <a:spcPct val="20000"/>
              </a:spcBef>
            </a:pPr>
            <a:endParaRPr lang="en-US" dirty="0" smtClean="0">
              <a:solidFill>
                <a:schemeClr val="accent3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228600" y="2133600"/>
            <a:ext cx="8715436" cy="2438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/>
          <a:p>
            <a:pPr marL="342900" lvl="0" indent="-342900">
              <a:spcBef>
                <a:spcPct val="20000"/>
              </a:spcBef>
              <a:defRPr/>
            </a:pPr>
            <a:r>
              <a:rPr lang="en-US" sz="3200" dirty="0" smtClean="0"/>
              <a:t>   "</a:t>
            </a:r>
            <a:r>
              <a:rPr lang="en-US" sz="3200" dirty="0" err="1" smtClean="0"/>
              <a:t>javascript</a:t>
            </a:r>
            <a:r>
              <a:rPr lang="en-US" sz="3200" dirty="0" smtClean="0"/>
              <a:t>" </a:t>
            </a:r>
            <a:r>
              <a:rPr lang="hy-AM" sz="3200" dirty="0" smtClean="0"/>
              <a:t>տողը գրված է տառերի անհայտ հերթականությամբ:Անհրաժեշտ է բոլոր տառերը փոխարինել համապատասխան հայերեն տառով:</a:t>
            </a:r>
            <a:endParaRPr kumimoji="0" lang="ru-RU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5" name="Picture 4" descr="optimum-Logo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51521" y="7380890"/>
            <a:ext cx="1332562" cy="360040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28596" y="214290"/>
            <a:ext cx="8229600" cy="107157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Task </a:t>
            </a:r>
            <a:r>
              <a:rPr lang="ru-RU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1</a:t>
            </a:r>
            <a:r>
              <a:rPr lang="en-US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:</a:t>
            </a:r>
            <a:r>
              <a:rPr lang="en-US" i="1" dirty="0" smtClean="0"/>
              <a:t/>
            </a:r>
            <a:br>
              <a:rPr lang="en-US" i="1" dirty="0" smtClean="0"/>
            </a:br>
            <a:endParaRPr lang="ru-RU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1714488"/>
            <a:ext cx="8715436" cy="3314712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>
              <a:buNone/>
            </a:pPr>
            <a:r>
              <a:rPr lang="en-US" dirty="0" smtClean="0"/>
              <a:t>    </a:t>
            </a:r>
          </a:p>
          <a:p>
            <a:pPr>
              <a:buNone/>
            </a:pPr>
            <a:r>
              <a:rPr lang="en-US" dirty="0" smtClean="0"/>
              <a:t>    </a:t>
            </a:r>
            <a:r>
              <a:rPr lang="hy-AM" dirty="0" smtClean="0"/>
              <a:t>Սահմանել մեկ պարամետրանի ֆունկցիա,որը վերադարձնում է տրված բառը՝ գրված տառերի հակառակ հերթականությամբ:</a:t>
            </a:r>
            <a:endParaRPr lang="en-US" dirty="0" smtClean="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28596" y="214290"/>
            <a:ext cx="8229600" cy="107157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Task </a:t>
            </a:r>
            <a:r>
              <a:rPr lang="ru-RU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2</a:t>
            </a:r>
            <a:r>
              <a:rPr lang="en-US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:</a:t>
            </a:r>
            <a:r>
              <a:rPr lang="en-US" i="1" dirty="0" smtClean="0"/>
              <a:t/>
            </a:r>
            <a:br>
              <a:rPr lang="en-US" i="1" dirty="0" smtClean="0"/>
            </a:br>
            <a:endParaRPr lang="ru-RU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2453</TotalTime>
  <Words>338</Words>
  <Application>Microsoft Office PowerPoint</Application>
  <PresentationFormat>Экран (4:3)</PresentationFormat>
  <Paragraphs>50</Paragraphs>
  <Slides>9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0" baseType="lpstr">
      <vt:lpstr>Office Theme</vt:lpstr>
      <vt:lpstr>JavaScript Lesson 4</vt:lpstr>
      <vt:lpstr> Objects </vt:lpstr>
      <vt:lpstr>   Objects in JavaScript:    </vt:lpstr>
      <vt:lpstr>Презентация PowerPoint</vt:lpstr>
      <vt:lpstr>     Strings(length, indexof)     </vt:lpstr>
      <vt:lpstr>    Strings(replace, upper/lower)    </vt:lpstr>
      <vt:lpstr>  Strings(split,substr)   </vt:lpstr>
      <vt:lpstr> Task 1: </vt:lpstr>
      <vt:lpstr> Task 2: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JavaScript Lesson 1</dc:title>
  <dc:creator>Comp</dc:creator>
  <cp:lastModifiedBy>home</cp:lastModifiedBy>
  <cp:revision>112</cp:revision>
  <dcterms:created xsi:type="dcterms:W3CDTF">2014-01-30T13:16:31Z</dcterms:created>
  <dcterms:modified xsi:type="dcterms:W3CDTF">2016-08-29T07:09:58Z</dcterms:modified>
</cp:coreProperties>
</file>